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8 segundos. Duración total prevista: 5 minutos.</a:t>
            </a:r>
          </a:p>
          <a:p>
            <a:endParaRPr/>
          </a:p>
          <a:p>
            <a:r>
              <a:t>GUION ORAL</a:t>
            </a:r>
          </a:p>
          <a:p>
            <a:r>
              <a:t>Presentamos una prueba de concepto de percepción visual para advertir aproximaciones en un entorno robótico.</a:t>
            </a:r>
          </a:p>
          <a:p>
            <a:endParaRPr/>
          </a:p>
          <a:p>
            <a:r>
              <a:t>RESPALDO PARA PREGUNTAS</a:t>
            </a:r>
          </a:p>
          <a:p>
            <a:r>
              <a:t>Presentar el problema del trabajo: un AGV comparte un almacén con personas y obstáculos. La aplicación detecta objetos, estudia su evolución y muestra una alerta. La explicación sigue el recorrido de una imagen por el programa. Fuente principal: Sistemas de percepción UA5(1).docx.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22 segundos. Duración total prevista: 5 minutos.</a:t>
            </a:r>
          </a:p>
          <a:p>
            <a:endParaRPr/>
          </a:p>
          <a:p>
            <a:r>
              <a:t>GUION ORAL</a:t>
            </a:r>
          </a:p>
          <a:p>
            <a:r>
              <a:t>El escenario es un AGV que comparte pasillos con personas. Una cámara frontal aporta imágenes. Buscamos reconocer objetos y estudiar cómo cambian su posición y tamaño, para producir una advertencia visual que pueda informar al control robótico.</a:t>
            </a:r>
          </a:p>
          <a:p>
            <a:endParaRPr/>
          </a:p>
          <a:p>
            <a:r>
              <a:t>RESPALDO PARA PREGUNTAS</a:t>
            </a:r>
          </a:p>
          <a:p>
            <a:r>
              <a:t>GUION ORAL</a:t>
            </a:r>
          </a:p>
          <a:p>
            <a:r>
              <a:t>Nuestro proyecto aborda un problema de los robots que circulan por almacenes: compartir pasillos con personas y obstáculos. Usamos una cámara frontal para detectar objetos y analizar cómo cambia su imagen. El objetivo es advertir una posible aproximación. La demostración termina en una alerta visual y no ejecuta el frenado de un robot físico.</a:t>
            </a:r>
          </a:p>
          <a:p>
            <a:endParaRPr/>
          </a:p>
          <a:p>
            <a:r>
              <a:t>RESPALDO PARA PREGUNTAS</a:t>
            </a:r>
          </a:p>
          <a:p>
            <a:r>
              <a:t>AGV significa vehículo de guiado automático. El escenario y el objetivo proceden del trabajo escrito. La cámara observa movimiento relativo, por lo que un objeto estático también puede moverse en la imagen si la cámara avanza.</a:t>
            </a:r>
          </a:p>
          <a:p>
            <a:endParaRPr/>
          </a:p>
          <a:p>
            <a:r>
              <a:t>FUENTES</a:t>
            </a:r>
          </a:p>
          <a:p>
            <a:r>
              <a:t>Sistemas de percepción UA5 (1).docx. seguimiento_yolo_final (1).py. Fotogramas originales de almacen procesado.mp4. Documentación de Ultralytics: https://docs.ultralytics.com/modes/track/ y https://docs.ultralytics.com/models/.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15 segundos. Duración total prevista: 5 minutos.</a:t>
            </a:r>
          </a:p>
          <a:p>
            <a:endParaRPr/>
          </a:p>
          <a:p>
            <a:r>
              <a:t>GUION ORAL</a:t>
            </a:r>
          </a:p>
          <a:p>
            <a:r>
              <a:t>Utilizamos YOLO nano con pesos preentrenados en COCO. Las imágenes de entrenamiento y validación pertenecen a ese dataset. Nosotros no entrenamos una red propia ni etiquetamos un nuevo conjunto.</a:t>
            </a:r>
          </a:p>
          <a:p>
            <a:endParaRPr/>
          </a:p>
          <a:p>
            <a:r>
              <a:t>RESPALDO PARA PREGUNTAS</a:t>
            </a:r>
          </a:p>
          <a:p>
            <a:r>
              <a:t>Sección Dataset y metodología de validación. Las cantidades y las pruebas con modelos mayores proceden del trabajo escrito. El proyecto utiliza los pesos de COCO y no realiza un entrenamiento propio. Aunque el informe usa el término transfer learning, la ejecución presentada es inferencia con pesos preentrenados, sin fine tuning. Las categorías fuera del vocabulario pueden quedar sin detectar o recibir una etiqueta incorrecta.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18 segundos. Duración total prevista: 5 minutos.</a:t>
            </a:r>
          </a:p>
          <a:p>
            <a:endParaRPr/>
          </a:p>
          <a:p>
            <a:r>
              <a:t>GUION ORAL</a:t>
            </a:r>
          </a:p>
          <a:p>
            <a:r>
              <a:t>La validación fue experimental: observamos personas en el almacén y aproximaciones con cámara web. También comparamos resoluciones. El trabajo reporta alrededor de 22 FPS en el ensayo ONLINE con captura de 640 por 480. No medimos precisión global ni recall de alertas.</a:t>
            </a:r>
          </a:p>
          <a:p>
            <a:endParaRPr/>
          </a:p>
          <a:p>
            <a:r>
              <a:t>RESPALDO PARA PREGUNTAS</a:t>
            </a:r>
          </a:p>
          <a:p>
            <a:r>
              <a:t>El trabajo describe pruebas de funcionamiento con video de almacén y cámara web. Distinguir esas observaciones de una evaluación con anotaciones y métricas de precisión. El informe menciona un celular en la metodología y documenta un mando en resultados, por lo que se conserva la descripción general de objetos de mano. No se inventan mAP ni porcentajes de acierto. Fuente: Sistemas de percepción UA5 (1).docx. Código: seguimiento_yolo_final(1).py.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12 segundos. Duración total prevista: 5 minutos.</a:t>
            </a:r>
          </a:p>
          <a:p>
            <a:endParaRPr/>
          </a:p>
          <a:p>
            <a:r>
              <a:t>GUION ORAL</a:t>
            </a:r>
          </a:p>
          <a:p>
            <a:r>
              <a:t>Ultralytics realiza detección y seguimiento. NumPy procesa las medidas geométricas y OpenCV representa las imágenes y anotaciones. Python organiza el historial de cada objeto.</a:t>
            </a:r>
          </a:p>
          <a:p>
            <a:endParaRPr/>
          </a:p>
          <a:p>
            <a:r>
              <a:t>RESPALDO PARA PREGUNTAS</a:t>
            </a:r>
          </a:p>
          <a:p>
            <a:r>
              <a:t>Sección Implementación. Ultralytics ejecuta detección y seguimiento. NumPy realiza cálculos geométricos. OpenCV dibuja anotaciones y maneja la presentación. En el script también se consulta el FPS del video mediante VideoCapture. lap apoya la asociación del tracker. El bloque main coordina las funciones que se explican a continuación. Fuente: Sistemas de percepción UA5 (1).docx. Código: seguimiento_yolo_final(1).py.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15 segundos. Duración total prevista: 5 minutos.</a:t>
            </a:r>
          </a:p>
          <a:p>
            <a:endParaRPr/>
          </a:p>
          <a:p>
            <a:r>
              <a:t>GUION ORAL</a:t>
            </a:r>
          </a:p>
          <a:p>
            <a:r>
              <a:t>De cada objeto conservamos clase, identificador y caja. El centro permite representar su trayectoria. Una imagen aporta posición; necesitamos varias imágenes con tiempo asociado para estudiar movimiento.</a:t>
            </a:r>
          </a:p>
          <a:p>
            <a:endParaRPr/>
          </a:p>
          <a:p>
            <a:r>
              <a:t>RESPALDO PARA PREGUNTAS</a:t>
            </a:r>
          </a:p>
          <a:p>
            <a:r>
              <a:t>Explicar que una caja delimita una región rectangular. Sus esquinas están en píxeles respecto al fotograma. El ID permite distinguir observaciones de objetos diferentes. Las cifras de esta diapositiva son un ejemplo didáctico, no un resultado medido.</a:t>
            </a:r>
          </a:p>
          <a:p>
            <a:r>
              <a:t>Fuentes: Sistemas de percepción UA5(1).docx y seguimiento_yolo_final(1).py. Las capturas y los valores de rendimiento proceden del documento actualizado.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30 segundos. Duración total prevista: 5 minutos.</a:t>
            </a:r>
          </a:p>
          <a:p>
            <a:endParaRPr/>
          </a:p>
          <a:p>
            <a:r>
              <a:t>GUION ORAL</a:t>
            </a:r>
          </a:p>
          <a:p>
            <a:r>
              <a:t>La arquitectura conecta imagen, detección, identidad e historial. El ID relaciona las observaciones del objeto. estimar_movimiento analiza una ventana temporal de hasta medio segundo. A partir de ella obtenemos movimiento lateral y crecimiento aparente. La histéresis estabiliza los estados y la condición de TTC determina la alerta. El ciclo se repite en cada fotograma.</a:t>
            </a:r>
          </a:p>
          <a:p>
            <a:endParaRPr/>
          </a:p>
          <a:p>
            <a:r>
              <a:t>RESPALDO PARA PREGUNTAS</a:t>
            </a:r>
          </a:p>
          <a:p>
            <a:r>
              <a:t>GUION ORAL</a:t>
            </a:r>
          </a:p>
          <a:p>
            <a:r>
              <a:t>La infografía resume el recorrido de un fotograma. YOLO localiza y clasifica objetos, y ByteTrack relaciona las detecciones mediante un identificador. Guardamos un historial de cada objeto para comparar su posición y tamaño a lo largo del tiempo. Con ese historial, NumPy permite estimar el desplazamiento lateral y la expansión aparente. Después evaluamos la aproximación y OpenCV representa los resultados. Si el tiempo estimado hasta el contacto baja de dos segundos, aparece una caja roja con un aspa. El ciclo vuelve a ejecutarse con cada fotograma.</a:t>
            </a:r>
          </a:p>
          <a:p>
            <a:endParaRPr/>
          </a:p>
          <a:p>
            <a:r>
              <a:t>RESPALDO PARA PREGUNTAS</a:t>
            </a:r>
          </a:p>
          <a:p>
            <a:r>
              <a:t>No leer cada frase de la infografía. Seguir las flechas de izquierda a derecha en la fila superior y de derecha a izquierda en la inferior. La ventana temporal es de hasta 0,5 s. El script conserva un máximo de 30 muestras y exige al menos tres muestras que abarquen 0,3 s. Fuente visual: Infografia_Secuencia_Programa.png creada con fotogramas reales.</a:t>
            </a:r>
          </a:p>
          <a:p>
            <a:endParaRPr/>
          </a:p>
          <a:p>
            <a:r>
              <a:t>FUENTES</a:t>
            </a:r>
          </a:p>
          <a:p>
            <a:r>
              <a:t>Sistemas de percepción UA5 (1).docx. seguimiento_yolo_final (1).py. Fotogramas originales de almacen procesado.mp4. Documentación de Ultralytics: https://docs.ultralytics.com/modes/track/ y https://docs.ultralytics.com/models/.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25 segundos. Duración total prevista: 5 minutos.</a:t>
            </a:r>
          </a:p>
          <a:p>
            <a:endParaRPr/>
          </a:p>
          <a:p>
            <a:r>
              <a:t>GUION ORAL</a:t>
            </a:r>
          </a:p>
          <a:p>
            <a:r>
              <a:t>YOLO indica qué objeto aparece y dónde está. ByteTrack intenta mantener su identidad entre fotogramas. La llamada track integra ambas tareas. OpenCV resize adapta la vista y imshow muestra la ventana. Estas funciones permiten observar la salida, mientras nuestro cálculo temporal interpreta las cajas.</a:t>
            </a:r>
          </a:p>
          <a:p>
            <a:endParaRPr/>
          </a:p>
          <a:p>
            <a:r>
              <a:t>RESPALDO PARA PREGUNTAS</a:t>
            </a:r>
          </a:p>
          <a:p>
            <a:r>
              <a:t>GUION ORAL</a:t>
            </a:r>
          </a:p>
          <a:p>
            <a:r>
              <a:t>Detectar y seguir cumplen funciones diferentes. YOLO responde qué categoría aparece y dónde está su caja. ByteTrack intenta reconocer qué detección corresponde al mismo objeto en el siguiente fotograma. Por eso necesitamos el ID para estudiar movimiento. Utilizamos YOLO nano con pesos preentrenados en COCO, sin entrenar una red propia. La llamada track integra la detección con el seguimiento, pero las medidas cinemáticas las calcula nuestro procesamiento temporal.</a:t>
            </a:r>
          </a:p>
          <a:p>
            <a:endParaRPr/>
          </a:p>
          <a:p>
            <a:r>
              <a:t>RESPALDO PARA PREGUNTAS</a:t>
            </a:r>
          </a:p>
          <a:p>
            <a:r>
              <a:t>El modelo final es yolo26n.pt y ByteTrack se selecciona con bytetrack.yaml. COCO aporta 80 categorías de detección. No afirmar que un ID sea infalible: puede cambiar con cruces u oclusiones. La línea de código muestra argumentos relevantes de la llamada, omitiendo otros por brevedad. OpenCV: cv2.VideoCapture() consulta la fuente y sus FPS en modo video; cv2.resize() escala la imagen de salida; cv2.imshow() muestra la ventana y cv2.waitKey() recoge las teclas. etiqueta() usa getTextSize(), rectangle() y putText() para calcular el espacio y escribir rótulos. flecha() usa arrowedLine(); flechas_esquinas() representa expansión o contracción. Matplotlib no se importa ni se usa.</a:t>
            </a:r>
          </a:p>
          <a:p>
            <a:endParaRPr/>
          </a:p>
          <a:p>
            <a:r>
              <a:t>FUENTES</a:t>
            </a:r>
          </a:p>
          <a:p>
            <a:r>
              <a:t>Sistemas de percepción UA5 (1).docx. seguimiento_yolo_final (1).py. Fotogramas originales de almacen procesado.mp4. Documentación de Ultralytics: https://docs.ultralytics.com/modes/track/ y https://docs.ultralytics.com/models/.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55 segundos. Duración total prevista: 5 minutos.</a:t>
            </a:r>
          </a:p>
          <a:p>
            <a:endParaRPr/>
          </a:p>
          <a:p>
            <a:r>
              <a:t>GUION ORAL</a:t>
            </a:r>
          </a:p>
          <a:p>
            <a:r>
              <a:t>El punto central es comparar las cajas en el tiempo. pendiente calcula tendencias mediante mínimos cuadrados. estimar_movimiento interpreta los cambios de sus bordes para estimar velocidad lateral y variación de tamaño. NumPy log permite estudiar crecimiento proporcional y mean obtiene el tiempo medio de las muestras. Llamamos r al ritmo relativo de crecimiento. Cuando hay expansión activa, su inverso aproxima el tiempo hasta el contacto y restamos el desfase temporal de la medida. Si ese TTC existe y baja de dos segundos aparece la alerta. Son estimaciones basadas en la imagen: un giro o una oclusión pueden afectar el resultado.</a:t>
            </a:r>
          </a:p>
          <a:p>
            <a:endParaRPr/>
          </a:p>
          <a:p>
            <a:r>
              <a:t>RESPALDO PARA PREGUNTAS</a:t>
            </a:r>
          </a:p>
          <a:p>
            <a:r>
              <a:t>GUION ORAL</a:t>
            </a:r>
          </a:p>
          <a:p>
            <a:r>
              <a:t>Nuestro aporte está en interpretar las detecciones a lo largo del tiempo. Cuando cambia la posición de la caja, estimamos velocidad y dirección en la imagen, normalmente en píxeles por segundo. Cuando ancho y alto aumentan de forma coherente, obtenemos un indicador de aproximación. Usamos varias observaciones y mínimos cuadrados para reducir el efecto de las fluctuaciones. La histéresis evita que pequeños cambios alternen continuamente entre quieto y móvil. Si la expansión está activa, calculamos el TTC con su inverso y corregimos el desfase temporal de la medida. Finalmente lo comparamos con el umbral de dos segundos. Este cálculo supone que el cambio de tamaño es compatible con una aproximación, de modo que un giro o una oclusión pueden producir errores. NumPy realiza estos cálculos y OpenCV dibuja lo que vemos.</a:t>
            </a:r>
          </a:p>
          <a:p>
            <a:endParaRPr/>
          </a:p>
          <a:p>
            <a:r>
              <a:t>RESPALDO PARA PREGUNTAS</a:t>
            </a:r>
          </a:p>
          <a:p>
            <a:r>
              <a:t>El fragmento muestra la rama del cálculo con profundidad activa y r positivo. El programa completo asigna None al TTC fuera de esa condición. r es la pendiente del logaritmo de las dimensiones y tiene unidad s^-1. retraso es el instante actual menos el tiempo medio de las muestras. Ejemplo didáctico: r=0,5 s^-1 implica 1/r=2 s antes de descontar el retraso. FUNCIONES: estimar_movimiento() selecciona las muestras válidas, comprueba duración, estima tendencias de posición y dimensiones y devuelve movimiento y retraso. pendiente() calcula una pendiente de mínimos cuadrados con tiempos centrados. np.array() convierte observaciones en matrices; np.ptp() comprueba el intervalo temporal; np.maximum() evita dimensiones menores de un píxel; np.stack() une ancho y alto; np.log() convierte crecimiento proporcional en una tendencia que se estima con pendiente(); np.mean() ayuda a corregir el desfase temporal. Umbrales laterales: 20 px/s para activar y 10 px/s para mantener. Profundidad: 0,20 y 0,12 s^-1. Un TTC reducido no prueba una colisión con la trayectoria.</a:t>
            </a:r>
          </a:p>
          <a:p>
            <a:endParaRPr/>
          </a:p>
          <a:p>
            <a:r>
              <a:t>FUENTES</a:t>
            </a:r>
          </a:p>
          <a:p>
            <a:r>
              <a:t>Sistemas de percepción UA5 (1).docx. seguimiento_yolo_final (1).py. Fotogramas originales de almacen procesado.mp4. Documentación de Ultralytics: https://docs.ultralytics.com/modes/track/ y https://docs.ultralytics.com/models/.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18 segundos. Duración total prevista: 5 minutos.</a:t>
            </a:r>
          </a:p>
          <a:p>
            <a:endParaRPr/>
          </a:p>
          <a:p>
            <a:r>
              <a:t>GUION ORAL</a:t>
            </a:r>
          </a:p>
          <a:p>
            <a:r>
              <a:t>En este fotograma el ID 1 identifica a la persona. La estela representa posiciones recientes del centro de su caja. La pantalla muestra velocidad de 146 píxeles por segundo y dirección de 356 grados.</a:t>
            </a:r>
          </a:p>
          <a:p>
            <a:endParaRPr/>
          </a:p>
          <a:p>
            <a:r>
              <a:t>RESPALDO PARA PREGUNTAS</a:t>
            </a:r>
          </a:p>
          <a:p>
            <a:r>
              <a:t>Fotograma extraído directamente de almacen procesado.mp4 en t = 5,0 s. No se han añadido ni modificado las anotaciones. La captura muestra 22,8 FPS, vista de 100 % e inferencia de proceso de 640 px. La velocidad lateral es relativa a la cámara. Fuente visual: almacen procesado.mp4. Contexto técnico: Sistemas de percepción UA5(1).docx y seguimiento_yolo_final(1).py.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15 segundos. Duración total prevista: 5 minutos.</a:t>
            </a:r>
          </a:p>
          <a:p>
            <a:endParaRPr/>
          </a:p>
          <a:p>
            <a:r>
              <a:t>GUION ORAL</a:t>
            </a:r>
          </a:p>
          <a:p>
            <a:r>
              <a:t>Aquí la caja se contrae y el sistema interpreta alejamiento aparente. La anotación muestra 31 por ciento por segundo y las flechas apuntan hacia dentro. Esto describe el cambio de tamaño observado.</a:t>
            </a:r>
          </a:p>
          <a:p>
            <a:endParaRPr/>
          </a:p>
          <a:p>
            <a:r>
              <a:t>RESPALDO PARA PREGUNTAS</a:t>
            </a:r>
          </a:p>
          <a:p>
            <a:r>
              <a:t>Fotograma original del video procesado, t = 15,0 s. La captura muestra se aleja 31 %/s, 119 px/s y 348 grados. Son medidas del fotograma, no promedios de toda la secuencia. Una contracción aparente se interpreta como alejamiento bajo las hipótesis del método. Fuente visual: almacen procesado.mp4. Contexto técnico: Sistemas de percepción UA5(1).docx y seguimiento_yolo_final(1).py.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18 segundos. Duración total prevista: 5 minutos.</a:t>
            </a:r>
          </a:p>
          <a:p>
            <a:endParaRPr/>
          </a:p>
          <a:p>
            <a:r>
              <a:t>GUION ORAL</a:t>
            </a:r>
          </a:p>
          <a:p>
            <a:r>
              <a:t>En esta captura el TTC estimado es de 1,7 segundos. Como está por debajo del umbral de dos segundos, aparecen la caja roja y el aspa. Esta es la salida de alerta que comprobamos en el video.</a:t>
            </a:r>
          </a:p>
          <a:p>
            <a:endParaRPr/>
          </a:p>
          <a:p>
            <a:r>
              <a:t>RESPALDO PARA PREGUNTAS</a:t>
            </a:r>
          </a:p>
          <a:p>
            <a:r>
              <a:t>Fotograma directo del video procesado en t = 4,5 s, fotograma 135 a 30 FPS. La anotación muestra ID 1 person, 130 px/s, 0 grados, expansión de 53 %/s y contacto en 1,7 s. El valor de TTC ya incorpora la corrección temporal del estimador. La salida describe una condición de aproximación, sin demostrar frenado físico ni una colisión real. Fuente visual: almacen procesado.mp4. Contexto técnico: Sistemas de percepción UA5(1).docx y seguimiento_yolo_final(1).py.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13 segundos. Duración total prevista: 5 minutos.</a:t>
            </a:r>
          </a:p>
          <a:p>
            <a:endParaRPr/>
          </a:p>
          <a:p>
            <a:r>
              <a:t>GUION ORAL</a:t>
            </a:r>
          </a:p>
          <a:p>
            <a:r>
              <a:t>Aunque hay estanterías y cajas físicas, no aparecen detecciones. Cero objetos en movimiento no significa que el recorrido esté libre. Esta escena muestra una limitación relevante del detector.</a:t>
            </a:r>
          </a:p>
          <a:p>
            <a:endParaRPr/>
          </a:p>
          <a:p>
            <a:r>
              <a:t>RESPALDO PARA PREGUNTAS</a:t>
            </a:r>
          </a:p>
          <a:p>
            <a:r>
              <a:t>Fotograma directo de almacen procesado.mp4, t = 25,0 s. El modo visible es Mostrando todos y el contador de objetos en movimiento es cero. El fotograma contiene elementos físicos del almacén sin cajas de detección. No inferir de esta imagen que no existen obstáculos. La captura muestra 28,8 FPS, un valor instantáneo del procesamiento grabado. Fuente visual: almacen procesado.mp4. Contexto técnico: Sistemas de percepción UA5(1).docx y seguimiento_yolo_final(1).py.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10 segundos. Duración total prevista: 5 minutos.</a:t>
            </a:r>
          </a:p>
          <a:p>
            <a:endParaRPr/>
          </a:p>
          <a:p>
            <a:r>
              <a:t>GUION ORAL</a:t>
            </a:r>
          </a:p>
          <a:p>
            <a:r>
              <a:t>La implementación termina en la alerta visual. Conectarla al control permitiría decidir frenado o ceder el paso. Esa actuación física todavía requiere integración.</a:t>
            </a:r>
          </a:p>
          <a:p>
            <a:endParaRPr/>
          </a:p>
          <a:p>
            <a:r>
              <a:t>RESPALDO PARA PREGUNTAS</a:t>
            </a:r>
          </a:p>
          <a:p>
            <a:r>
              <a:t>Sección Conexión entre la percepción visual y la acción robótica. La implementación produce caja roja con aspa cuando se cumple el umbral. La actuación física queda fuera de la demostración. El informe contempla avisos y desplazamiento lateral condicionado a sensores y comprobación de espacio libre. El umbral temporal no garantiza por sí solo que una maniobra de frenado sea suficiente.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8 segundos. Duración total prevista: 5 minutos.</a:t>
            </a:r>
          </a:p>
          <a:p>
            <a:endParaRPr/>
          </a:p>
          <a:p>
            <a:r>
              <a:t>GUION ORAL</a:t>
            </a:r>
          </a:p>
          <a:p>
            <a:r>
              <a:t>Las medidas dependen de la cámara. Los FPS cambian con el hardware y las oclusiones o giros pueden alterar las cajas y el TTC.</a:t>
            </a:r>
          </a:p>
          <a:p>
            <a:endParaRPr/>
          </a:p>
          <a:p>
            <a:r>
              <a:t>RESPALDO PARA PREGUNTAS</a:t>
            </a:r>
          </a:p>
          <a:p>
            <a:r>
              <a:t>Las limitaciones proceden de la nueva versión del trabajo: rendimiento, escala métrica manual, cambio de identidades y variabilidad de cajas. El movimiento de la cámara también contribuye al movimiento relativo. Describir límites permite interpretar una alerta sin sobreafirmar fiabilidad.</a:t>
            </a:r>
          </a:p>
          <a:p>
            <a:r>
              <a:t>Fuentes: Sistemas de percepción UA5(1).docx y seguimiento_yolo_final(1).py. Las capturas y los valores de rendimiento proceden del documento actualizado. Sección Limitaciones y líneas de mejora futuras. La variabilidad del tamaño de las cajas afecta de manera directa al ritmo de expansión y al TTC. Estas limitaciones se mantienen incluso cuando la clase del objeto es correcta.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8 segundos. Duración total prevista: 5 minutos.</a:t>
            </a:r>
          </a:p>
          <a:p>
            <a:endParaRPr/>
          </a:p>
          <a:p>
            <a:r>
              <a:t>GUION ORAL</a:t>
            </a:r>
          </a:p>
          <a:p>
            <a:r>
              <a:t>El trabajo plantea calibración, más ensayos y varias cámaras. Son líneas futuras y no funciones implementadas en el código actual.</a:t>
            </a:r>
          </a:p>
          <a:p>
            <a:endParaRPr/>
          </a:p>
          <a:p>
            <a:r>
              <a:t>RESPALDO PARA PREGUNTAS</a:t>
            </a:r>
          </a:p>
          <a:p>
            <a:r>
              <a:t>Esta diapositiva reproduce las proyecciones del apartado Limitaciones y líneas de mejora futuras. Son desarrollos futuros descritos por los autores, no funciones ya implementadas ni una solicitud de modificar el código final. Landmarks significa puntos visuales localizables dentro de la región del objeto. Su seguimiento permitiría estudiar escala y rotación con menor dependencia de los bordes de la caja, aunque el beneficio no se ha demostrado en este proyecto. Fuente: Sistemas de percepción UA5 (1).docx. Código: seguimiento_yolo_final(1).py.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OBJETIVO: 10 segundos. Duración total prevista: 5 minutos.</a:t>
            </a:r>
          </a:p>
          <a:p>
            <a:endParaRPr/>
          </a:p>
          <a:p>
            <a:r>
              <a:t>GUION ORAL</a:t>
            </a:r>
          </a:p>
          <a:p>
            <a:r>
              <a:t>Aprendimos a conectar detección con seguimiento y geometría temporal, y a interpretar los resultados junto con sus límites. El resultado es una prueba de concepto de percepción y alerta visual.</a:t>
            </a:r>
          </a:p>
          <a:p>
            <a:endParaRPr/>
          </a:p>
          <a:p>
            <a:r>
              <a:t>RESPALDO PARA PREGUNTAS</a:t>
            </a:r>
          </a:p>
          <a:p>
            <a:r>
              <a:t>Sección Conclusiones. Recapitular la combinación de técnicas, el aprovechamiento de pesos existentes y la señal de advertencia. El informe presenta una prueba de concepto, sin afirmar preparación para producción ni validación de seguridad industrial. No hubo reentrenamiento propio ni ejecución de frenado físico. Sección y orden alineados con Sistemas de percepción UA5 (1).docx.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9A8C1AE-6F6A-44AB-B7D7-4C8E4A2410D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7374AAA-6339-40A5-AFA3-86D0534409A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4B91C14-1ED9-4378-B58C-CE357B3C3E9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04FB570-9581-420C-B572-CBC9B550540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61E1BBCB-9D9D-4C5A-AB1B-EA4F42BFD05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275D531-6291-4952-A61D-4C9DEF9192D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832C848-275F-4F7C-BC6B-638EA1D3F7A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A1518CE-F70C-4C56-9626-A7BA73C8685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732A20E-228E-4A69-9D9B-34C403DC14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8BBE0E2-D4FF-454B-8E24-BCCC67356C5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2" name="01">
            <a:extLst>
              <a:ext uri="{FF2B5EF4-FFF2-40B4-BE49-F238E27FC236}">
                <a16:creationId xmlns:a16="http://schemas.microsoft.com/office/drawing/2014/main" id="{34A6E5CB-4208-4D85-9A54-C6BA8B5B600C}"/>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DejaVu Sans"/>
                <a:ea typeface="DejaVu Sans"/>
                <a:cs typeface="DejaVu Sans"/>
              </a:rPr>
              <a:t>01</a:t>
            </a:r>
          </a:p>
        </p:txBody>
      </p:sp>
      <p:sp>
        <p:nvSpPr>
          <p:cNvPr id="3" name="Percepción visual&#10;para preve">
            <a:extLst>
              <a:ext uri="{FF2B5EF4-FFF2-40B4-BE49-F238E27FC236}">
                <a16:creationId xmlns:a16="http://schemas.microsoft.com/office/drawing/2014/main" id="{A1C547D5-CC08-451C-9263-097DE9D1B0B3}"/>
              </a:ext>
            </a:extLst>
          </p:cNvPr>
          <p:cNvSpPr>
            <a:spLocks noGrp="1"/>
          </p:cNvSpPr>
          <p:nvPr/>
        </p:nvSpPr>
        <p:spPr>
          <a:xfrm>
            <a:off x="619125" y="381000"/>
            <a:ext cx="8572500" cy="809625"/>
          </a:xfrm>
          <a:prstGeom prst="rect">
            <a:avLst/>
          </a:prstGeom>
          <a:noFill/>
          <a:ln w="0">
            <a:noFill/>
            <a:prstDash val="solid"/>
          </a:ln>
        </p:spPr>
        <p:txBody>
          <a:bodyPr lIns="0" tIns="0" rIns="0" bIns="0" anchor="t">
            <a:noAutofit/>
          </a:bodyPr>
          <a:lstStyle>
            <a:defPPr>
              <a:defRPr sz="3900" b="1">
                <a:solidFill>
                  <a:srgbClr val="FFFFFF"/>
                </a:solidFill>
                <a:latin typeface="DejaVu Sans"/>
                <a:ea typeface="DejaVu Sans"/>
                <a:cs typeface="DejaVu Sans"/>
              </a:defRPr>
            </a:defPPr>
            <a:lvl1pPr>
              <a:buNone/>
              <a:defRPr sz="4500" b="1">
                <a:solidFill>
                  <a:srgbClr val="FFFFFF"/>
                </a:solidFill>
                <a:latin typeface="DejaVu Sans"/>
                <a:ea typeface="DejaVu Sans"/>
                <a:cs typeface="DejaVu Sans"/>
              </a:defRPr>
            </a:lvl1pPr>
            <a:lvl2pPr>
              <a:buNone/>
              <a:defRPr sz="4500" b="1">
                <a:solidFill>
                  <a:srgbClr val="FFFFFF"/>
                </a:solidFill>
                <a:latin typeface="DejaVu Sans"/>
                <a:ea typeface="DejaVu Sans"/>
                <a:cs typeface="DejaVu Sans"/>
              </a:defRPr>
            </a:lvl2pPr>
            <a:lvl3pPr>
              <a:buNone/>
              <a:defRPr sz="4500" b="1">
                <a:solidFill>
                  <a:srgbClr val="FFFFFF"/>
                </a:solidFill>
                <a:latin typeface="DejaVu Sans"/>
                <a:ea typeface="DejaVu Sans"/>
                <a:cs typeface="DejaVu Sans"/>
              </a:defRPr>
            </a:lvl3pPr>
            <a:lvl4pPr>
              <a:buNone/>
              <a:defRPr sz="4500" b="1">
                <a:solidFill>
                  <a:srgbClr val="FFFFFF"/>
                </a:solidFill>
                <a:latin typeface="DejaVu Sans"/>
                <a:ea typeface="DejaVu Sans"/>
                <a:cs typeface="DejaVu Sans"/>
              </a:defRPr>
            </a:lvl4pPr>
            <a:lvl5pPr>
              <a:buNone/>
              <a:defRPr sz="4500" b="1">
                <a:solidFill>
                  <a:srgbClr val="FFFFFF"/>
                </a:solidFill>
                <a:latin typeface="DejaVu Sans"/>
                <a:ea typeface="DejaVu Sans"/>
                <a:cs typeface="DejaVu Sans"/>
              </a:defRPr>
            </a:lvl5pPr>
            <a:lvl6pPr>
              <a:buNone/>
              <a:defRPr sz="4500" b="1">
                <a:solidFill>
                  <a:srgbClr val="FFFFFF"/>
                </a:solidFill>
                <a:latin typeface="DejaVu Sans"/>
                <a:ea typeface="DejaVu Sans"/>
                <a:cs typeface="DejaVu Sans"/>
              </a:defRPr>
            </a:lvl6pPr>
            <a:lvl7pPr>
              <a:buNone/>
              <a:defRPr sz="4500" b="1">
                <a:solidFill>
                  <a:srgbClr val="FFFFFF"/>
                </a:solidFill>
                <a:latin typeface="DejaVu Sans"/>
                <a:ea typeface="DejaVu Sans"/>
                <a:cs typeface="DejaVu Sans"/>
              </a:defRPr>
            </a:lvl7pPr>
            <a:lvl8pPr>
              <a:buNone/>
              <a:defRPr sz="4500" b="1">
                <a:solidFill>
                  <a:srgbClr val="FFFFFF"/>
                </a:solidFill>
                <a:latin typeface="DejaVu Sans"/>
                <a:ea typeface="DejaVu Sans"/>
                <a:cs typeface="DejaVu Sans"/>
              </a:defRPr>
            </a:lvl8pPr>
            <a:lvl9pPr>
              <a:buNone/>
              <a:defRPr sz="4500" b="1">
                <a:solidFill>
                  <a:srgbClr val="FFFFFF"/>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4500" b="1">
                <a:solidFill>
                  <a:srgbClr val="FFFFFF"/>
                </a:solidFill>
                <a:latin typeface="DejaVu Sans"/>
                <a:ea typeface="DejaVu Sans"/>
                <a:cs typeface="DejaVu Sans"/>
              </a:defRPr>
            </a:pPr>
            <a:r>
              <a:rPr sz="3900" b="1" i="0" u="none" strike="noStrike" cap="none" spc="0" baseline="0">
                <a:ln>
                  <a:noFill/>
                </a:ln>
                <a:solidFill>
                  <a:srgbClr val="FFFFFF"/>
                </a:solidFill>
                <a:latin typeface="Arial" panose="020B0604020202020204" pitchFamily="34" charset="0"/>
                <a:cs typeface="Arial" panose="020B0604020202020204" pitchFamily="34" charset="0"/>
              </a:rPr>
              <a:t>Sistemas de percepción UA5</a:t>
            </a:r>
          </a:p>
        </p:txBody>
      </p:sp>
      <p:sp>
        <p:nvSpPr>
          <p:cNvPr id="4" name="Cómo funciona el código, pas">
            <a:extLst>
              <a:ext uri="{FF2B5EF4-FFF2-40B4-BE49-F238E27FC236}">
                <a16:creationId xmlns:a16="http://schemas.microsoft.com/office/drawing/2014/main" id="{81B464CF-D569-43FB-B321-73C6EBB05CCF}"/>
              </a:ext>
            </a:extLst>
          </p:cNvPr>
          <p:cNvSpPr>
            <a:spLocks noGrp="1"/>
          </p:cNvSpPr>
          <p:nvPr/>
        </p:nvSpPr>
        <p:spPr>
          <a:xfrm>
            <a:off x="666750" y="1473992"/>
            <a:ext cx="10477500" cy="1238250"/>
          </a:xfrm>
          <a:prstGeom prst="rect">
            <a:avLst/>
          </a:prstGeom>
          <a:noFill/>
          <a:ln w="0">
            <a:noFill/>
            <a:prstDash val="solid"/>
          </a:ln>
        </p:spPr>
        <p:txBody>
          <a:bodyPr lIns="0" tIns="0" rIns="0" bIns="0" anchor="t">
            <a:noAutofit/>
          </a:bodyPr>
          <a:lstStyle>
            <a:defPPr>
              <a:defRPr sz="2550" b="0">
                <a:solidFill>
                  <a:srgbClr val="B8E6E5"/>
                </a:solidFill>
                <a:latin typeface="DejaVu Sans"/>
                <a:ea typeface="DejaVu Sans"/>
                <a:cs typeface="DejaVu Sans"/>
              </a:defRPr>
            </a:defPPr>
            <a:lvl1pPr>
              <a:buNone/>
              <a:defRPr sz="2550" b="0">
                <a:solidFill>
                  <a:srgbClr val="B8E6E5"/>
                </a:solidFill>
                <a:latin typeface="DejaVu Sans"/>
                <a:ea typeface="DejaVu Sans"/>
                <a:cs typeface="DejaVu Sans"/>
              </a:defRPr>
            </a:lvl1pPr>
            <a:lvl2pPr>
              <a:buNone/>
              <a:defRPr sz="2550" b="0">
                <a:solidFill>
                  <a:srgbClr val="B8E6E5"/>
                </a:solidFill>
                <a:latin typeface="DejaVu Sans"/>
                <a:ea typeface="DejaVu Sans"/>
                <a:cs typeface="DejaVu Sans"/>
              </a:defRPr>
            </a:lvl2pPr>
            <a:lvl3pPr>
              <a:buNone/>
              <a:defRPr sz="2550" b="0">
                <a:solidFill>
                  <a:srgbClr val="B8E6E5"/>
                </a:solidFill>
                <a:latin typeface="DejaVu Sans"/>
                <a:ea typeface="DejaVu Sans"/>
                <a:cs typeface="DejaVu Sans"/>
              </a:defRPr>
            </a:lvl3pPr>
            <a:lvl4pPr>
              <a:buNone/>
              <a:defRPr sz="2550" b="0">
                <a:solidFill>
                  <a:srgbClr val="B8E6E5"/>
                </a:solidFill>
                <a:latin typeface="DejaVu Sans"/>
                <a:ea typeface="DejaVu Sans"/>
                <a:cs typeface="DejaVu Sans"/>
              </a:defRPr>
            </a:lvl4pPr>
            <a:lvl5pPr>
              <a:buNone/>
              <a:defRPr sz="2550" b="0">
                <a:solidFill>
                  <a:srgbClr val="B8E6E5"/>
                </a:solidFill>
                <a:latin typeface="DejaVu Sans"/>
                <a:ea typeface="DejaVu Sans"/>
                <a:cs typeface="DejaVu Sans"/>
              </a:defRPr>
            </a:lvl5pPr>
            <a:lvl6pPr>
              <a:buNone/>
              <a:defRPr sz="2550" b="0">
                <a:solidFill>
                  <a:srgbClr val="B8E6E5"/>
                </a:solidFill>
                <a:latin typeface="DejaVu Sans"/>
                <a:ea typeface="DejaVu Sans"/>
                <a:cs typeface="DejaVu Sans"/>
              </a:defRPr>
            </a:lvl6pPr>
            <a:lvl7pPr>
              <a:buNone/>
              <a:defRPr sz="2550" b="0">
                <a:solidFill>
                  <a:srgbClr val="B8E6E5"/>
                </a:solidFill>
                <a:latin typeface="DejaVu Sans"/>
                <a:ea typeface="DejaVu Sans"/>
                <a:cs typeface="DejaVu Sans"/>
              </a:defRPr>
            </a:lvl7pPr>
            <a:lvl8pPr>
              <a:buNone/>
              <a:defRPr sz="2550" b="0">
                <a:solidFill>
                  <a:srgbClr val="B8E6E5"/>
                </a:solidFill>
                <a:latin typeface="DejaVu Sans"/>
                <a:ea typeface="DejaVu Sans"/>
                <a:cs typeface="DejaVu Sans"/>
              </a:defRPr>
            </a:lvl8pPr>
            <a:lvl9pPr>
              <a:buNone/>
              <a:defRPr sz="2550" b="0">
                <a:solidFill>
                  <a:srgbClr val="B8E6E5"/>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550" b="0">
                <a:solidFill>
                  <a:srgbClr val="B8E6E5"/>
                </a:solidFill>
                <a:latin typeface="DejaVu Sans"/>
                <a:ea typeface="DejaVu Sans"/>
                <a:cs typeface="DejaVu Sans"/>
              </a:defRPr>
            </a:pPr>
            <a:r>
              <a:rPr sz="2550" b="0" i="0" u="none" strike="noStrike" cap="none" spc="0" baseline="0" dirty="0" err="1">
                <a:ln>
                  <a:noFill/>
                </a:ln>
                <a:solidFill>
                  <a:srgbClr val="B8E6E5"/>
                </a:solidFill>
                <a:latin typeface="Arial" panose="020B0604020202020204" pitchFamily="34" charset="0"/>
                <a:cs typeface="Arial" panose="020B0604020202020204" pitchFamily="34" charset="0"/>
              </a:rPr>
              <a:t>Prevención</a:t>
            </a:r>
            <a:r>
              <a:rPr sz="2550" b="0" i="0" u="none" strike="noStrike" cap="none" spc="0" baseline="0" dirty="0">
                <a:ln>
                  <a:noFill/>
                </a:ln>
                <a:solidFill>
                  <a:srgbClr val="B8E6E5"/>
                </a:solidFill>
                <a:latin typeface="Arial" panose="020B0604020202020204" pitchFamily="34" charset="0"/>
                <a:cs typeface="Arial" panose="020B0604020202020204" pitchFamily="34" charset="0"/>
              </a:rPr>
              <a:t> de </a:t>
            </a:r>
            <a:r>
              <a:rPr sz="2550" b="0" i="0" u="none" strike="noStrike" cap="none" spc="0" baseline="0" dirty="0" err="1">
                <a:ln>
                  <a:noFill/>
                </a:ln>
                <a:solidFill>
                  <a:srgbClr val="B8E6E5"/>
                </a:solidFill>
                <a:latin typeface="Arial" panose="020B0604020202020204" pitchFamily="34" charset="0"/>
                <a:cs typeface="Arial" panose="020B0604020202020204" pitchFamily="34" charset="0"/>
              </a:rPr>
              <a:t>colisiones</a:t>
            </a:r>
            <a:r>
              <a:rPr sz="2550" b="0" i="0" u="none" strike="noStrike" cap="none" spc="0" baseline="0" dirty="0">
                <a:ln>
                  <a:noFill/>
                </a:ln>
                <a:solidFill>
                  <a:srgbClr val="B8E6E5"/>
                </a:solidFill>
                <a:latin typeface="Arial" panose="020B0604020202020204" pitchFamily="34" charset="0"/>
                <a:cs typeface="Arial" panose="020B0604020202020204" pitchFamily="34" charset="0"/>
              </a:rPr>
              <a:t> </a:t>
            </a:r>
            <a:r>
              <a:rPr sz="2550" b="0" i="0" u="none" strike="noStrike" cap="none" spc="0" baseline="0" dirty="0" err="1">
                <a:ln>
                  <a:noFill/>
                </a:ln>
                <a:solidFill>
                  <a:srgbClr val="B8E6E5"/>
                </a:solidFill>
                <a:latin typeface="Arial" panose="020B0604020202020204" pitchFamily="34" charset="0"/>
                <a:cs typeface="Arial" panose="020B0604020202020204" pitchFamily="34" charset="0"/>
              </a:rPr>
              <a:t>en</a:t>
            </a:r>
            <a:r>
              <a:rPr sz="2550" b="0" i="0" u="none" strike="noStrike" cap="none" spc="0" baseline="0" dirty="0">
                <a:ln>
                  <a:noFill/>
                </a:ln>
                <a:solidFill>
                  <a:srgbClr val="B8E6E5"/>
                </a:solidFill>
                <a:latin typeface="Arial" panose="020B0604020202020204" pitchFamily="34" charset="0"/>
                <a:cs typeface="Arial" panose="020B0604020202020204" pitchFamily="34" charset="0"/>
              </a:rPr>
              <a:t> robots </a:t>
            </a:r>
            <a:r>
              <a:rPr sz="2550" b="0" i="0" u="none" strike="noStrike" cap="none" spc="0" baseline="0" dirty="0" err="1">
                <a:ln>
                  <a:noFill/>
                </a:ln>
                <a:solidFill>
                  <a:srgbClr val="B8E6E5"/>
                </a:solidFill>
                <a:latin typeface="Arial" panose="020B0604020202020204" pitchFamily="34" charset="0"/>
                <a:cs typeface="Arial" panose="020B0604020202020204" pitchFamily="34" charset="0"/>
              </a:rPr>
              <a:t>autónomos</a:t>
            </a:r>
            <a:endParaRPr sz="2550" b="0" i="0" u="none" strike="noStrike" kern="1200" cap="none" spc="0" baseline="0" dirty="0">
              <a:ln>
                <a:noFill/>
              </a:ln>
              <a:solidFill>
                <a:srgbClr val="B8E6E5"/>
              </a:solidFill>
              <a:latin typeface="Arial" panose="020B0604020202020204" pitchFamily="34" charset="0"/>
              <a:cs typeface="Arial" panose="020B0604020202020204" pitchFamily="34" charset="0"/>
            </a:endParaRPr>
          </a:p>
          <a:p>
            <a:pPr marL="0" marR="0" lvl="0" indent="0" algn="l" defTabSz="914400">
              <a:lnSpc>
                <a:spcPct val="100000"/>
              </a:lnSpc>
              <a:spcBef>
                <a:spcPts val="0"/>
              </a:spcBef>
              <a:spcAft>
                <a:spcPts val="0"/>
              </a:spcAft>
              <a:buClrTx/>
              <a:buSzTx/>
              <a:buFontTx/>
              <a:buNone/>
              <a:defRPr sz="2550" b="0">
                <a:solidFill>
                  <a:srgbClr val="B8E6E5"/>
                </a:solidFill>
                <a:latin typeface="DejaVu Sans"/>
                <a:ea typeface="DejaVu Sans"/>
                <a:cs typeface="DejaVu Sans"/>
              </a:defRPr>
            </a:pPr>
            <a:r>
              <a:rPr sz="2550" b="0" i="0" u="none" strike="noStrike" cap="none" spc="0" baseline="0" dirty="0">
                <a:ln>
                  <a:noFill/>
                </a:ln>
                <a:solidFill>
                  <a:srgbClr val="B8E6E5"/>
                </a:solidFill>
                <a:latin typeface="Arial" panose="020B0604020202020204" pitchFamily="34" charset="0"/>
                <a:cs typeface="Arial" panose="020B0604020202020204" pitchFamily="34" charset="0"/>
              </a:rPr>
              <a:t>con </a:t>
            </a:r>
            <a:r>
              <a:rPr sz="2550" b="0" i="0" u="none" strike="noStrike" cap="none" spc="0" baseline="0" dirty="0" err="1">
                <a:ln>
                  <a:noFill/>
                </a:ln>
                <a:solidFill>
                  <a:srgbClr val="B8E6E5"/>
                </a:solidFill>
                <a:latin typeface="Arial" panose="020B0604020202020204" pitchFamily="34" charset="0"/>
                <a:cs typeface="Arial" panose="020B0604020202020204" pitchFamily="34" charset="0"/>
              </a:rPr>
              <a:t>visión</a:t>
            </a:r>
            <a:r>
              <a:rPr sz="2550" b="0" i="0" u="none" strike="noStrike" cap="none" spc="0" baseline="0" dirty="0">
                <a:ln>
                  <a:noFill/>
                </a:ln>
                <a:solidFill>
                  <a:srgbClr val="B8E6E5"/>
                </a:solidFill>
                <a:latin typeface="Arial" panose="020B0604020202020204" pitchFamily="34" charset="0"/>
                <a:cs typeface="Arial" panose="020B0604020202020204" pitchFamily="34" charset="0"/>
              </a:rPr>
              <a:t> y </a:t>
            </a:r>
            <a:r>
              <a:rPr sz="2550" b="0" i="0" u="none" strike="noStrike" cap="none" spc="0" baseline="0" dirty="0" err="1">
                <a:ln>
                  <a:noFill/>
                </a:ln>
                <a:solidFill>
                  <a:srgbClr val="B8E6E5"/>
                </a:solidFill>
                <a:latin typeface="Arial" panose="020B0604020202020204" pitchFamily="34" charset="0"/>
                <a:cs typeface="Arial" panose="020B0604020202020204" pitchFamily="34" charset="0"/>
              </a:rPr>
              <a:t>seguimiento</a:t>
            </a:r>
            <a:r>
              <a:rPr sz="2550" b="0" i="0" u="none" strike="noStrike" cap="none" spc="0" baseline="0" dirty="0">
                <a:ln>
                  <a:noFill/>
                </a:ln>
                <a:solidFill>
                  <a:srgbClr val="B8E6E5"/>
                </a:solidFill>
                <a:latin typeface="Arial" panose="020B0604020202020204" pitchFamily="34" charset="0"/>
                <a:cs typeface="Arial" panose="020B0604020202020204" pitchFamily="34" charset="0"/>
              </a:rPr>
              <a:t> de </a:t>
            </a:r>
            <a:r>
              <a:rPr sz="2550" b="0" i="0" u="none" strike="noStrike" cap="none" spc="0" baseline="0" dirty="0" err="1">
                <a:ln>
                  <a:noFill/>
                </a:ln>
                <a:solidFill>
                  <a:srgbClr val="B8E6E5"/>
                </a:solidFill>
                <a:latin typeface="Arial" panose="020B0604020202020204" pitchFamily="34" charset="0"/>
                <a:cs typeface="Arial" panose="020B0604020202020204" pitchFamily="34" charset="0"/>
              </a:rPr>
              <a:t>objetos</a:t>
            </a:r>
            <a:endParaRPr sz="2550" b="0" i="0" u="none" strike="noStrike" kern="1200" cap="none" spc="0" baseline="0" dirty="0">
              <a:ln>
                <a:noFill/>
              </a:ln>
              <a:solidFill>
                <a:srgbClr val="B8E6E5"/>
              </a:solidFill>
              <a:latin typeface="Arial" panose="020B0604020202020204" pitchFamily="34" charset="0"/>
              <a:cs typeface="Arial" panose="020B0604020202020204" pitchFamily="34" charset="0"/>
            </a:endParaRPr>
          </a:p>
        </p:txBody>
      </p:sp>
      <p:sp>
        <p:nvSpPr>
          <p:cNvPr id="5" name="Sistemas de percepción UA5">
            <a:extLst>
              <a:ext uri="{FF2B5EF4-FFF2-40B4-BE49-F238E27FC236}">
                <a16:creationId xmlns:a16="http://schemas.microsoft.com/office/drawing/2014/main" id="{4D73935E-1447-4CE3-9942-0DD481C1FFFD}"/>
              </a:ext>
            </a:extLst>
          </p:cNvPr>
          <p:cNvSpPr>
            <a:spLocks noGrp="1"/>
          </p:cNvSpPr>
          <p:nvPr/>
        </p:nvSpPr>
        <p:spPr>
          <a:xfrm>
            <a:off x="781050" y="2639615"/>
            <a:ext cx="10477500" cy="571500"/>
          </a:xfrm>
          <a:prstGeom prst="rect">
            <a:avLst/>
          </a:prstGeom>
          <a:noFill/>
          <a:ln w="0">
            <a:noFill/>
            <a:prstDash val="solid"/>
          </a:ln>
        </p:spPr>
        <p:txBody>
          <a:bodyPr lIns="0" tIns="0" rIns="0" bIns="0" anchor="t">
            <a:noAutofit/>
          </a:bodyPr>
          <a:lstStyle>
            <a:defPPr>
              <a:defRPr sz="2025" b="0">
                <a:solidFill>
                  <a:srgbClr val="FFFFFF"/>
                </a:solidFill>
                <a:latin typeface="DejaVu Sans"/>
                <a:ea typeface="DejaVu Sans"/>
                <a:cs typeface="DejaVu Sans"/>
              </a:defRPr>
            </a:defPPr>
            <a:lvl1pPr>
              <a:buNone/>
              <a:defRPr sz="2025" b="0">
                <a:solidFill>
                  <a:srgbClr val="FFFFFF"/>
                </a:solidFill>
                <a:latin typeface="DejaVu Sans"/>
                <a:ea typeface="DejaVu Sans"/>
                <a:cs typeface="DejaVu Sans"/>
              </a:defRPr>
            </a:lvl1pPr>
            <a:lvl2pPr>
              <a:buNone/>
              <a:defRPr sz="2025" b="0">
                <a:solidFill>
                  <a:srgbClr val="FFFFFF"/>
                </a:solidFill>
                <a:latin typeface="DejaVu Sans"/>
                <a:ea typeface="DejaVu Sans"/>
                <a:cs typeface="DejaVu Sans"/>
              </a:defRPr>
            </a:lvl2pPr>
            <a:lvl3pPr>
              <a:buNone/>
              <a:defRPr sz="2025" b="0">
                <a:solidFill>
                  <a:srgbClr val="FFFFFF"/>
                </a:solidFill>
                <a:latin typeface="DejaVu Sans"/>
                <a:ea typeface="DejaVu Sans"/>
                <a:cs typeface="DejaVu Sans"/>
              </a:defRPr>
            </a:lvl3pPr>
            <a:lvl4pPr>
              <a:buNone/>
              <a:defRPr sz="2025" b="0">
                <a:solidFill>
                  <a:srgbClr val="FFFFFF"/>
                </a:solidFill>
                <a:latin typeface="DejaVu Sans"/>
                <a:ea typeface="DejaVu Sans"/>
                <a:cs typeface="DejaVu Sans"/>
              </a:defRPr>
            </a:lvl4pPr>
            <a:lvl5pPr>
              <a:buNone/>
              <a:defRPr sz="2025" b="0">
                <a:solidFill>
                  <a:srgbClr val="FFFFFF"/>
                </a:solidFill>
                <a:latin typeface="DejaVu Sans"/>
                <a:ea typeface="DejaVu Sans"/>
                <a:cs typeface="DejaVu Sans"/>
              </a:defRPr>
            </a:lvl5pPr>
            <a:lvl6pPr>
              <a:buNone/>
              <a:defRPr sz="2025" b="0">
                <a:solidFill>
                  <a:srgbClr val="FFFFFF"/>
                </a:solidFill>
                <a:latin typeface="DejaVu Sans"/>
                <a:ea typeface="DejaVu Sans"/>
                <a:cs typeface="DejaVu Sans"/>
              </a:defRPr>
            </a:lvl6pPr>
            <a:lvl7pPr>
              <a:buNone/>
              <a:defRPr sz="2025" b="0">
                <a:solidFill>
                  <a:srgbClr val="FFFFFF"/>
                </a:solidFill>
                <a:latin typeface="DejaVu Sans"/>
                <a:ea typeface="DejaVu Sans"/>
                <a:cs typeface="DejaVu Sans"/>
              </a:defRPr>
            </a:lvl7pPr>
            <a:lvl8pPr>
              <a:buNone/>
              <a:defRPr sz="2025" b="0">
                <a:solidFill>
                  <a:srgbClr val="FFFFFF"/>
                </a:solidFill>
                <a:latin typeface="DejaVu Sans"/>
                <a:ea typeface="DejaVu Sans"/>
                <a:cs typeface="DejaVu Sans"/>
              </a:defRPr>
            </a:lvl8pPr>
            <a:lvl9pPr>
              <a:buNone/>
              <a:defRPr sz="2025" b="0">
                <a:solidFill>
                  <a:srgbClr val="FFFFFF"/>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FFFFFF"/>
                </a:solidFill>
                <a:latin typeface="DejaVu Sans"/>
                <a:ea typeface="DejaVu Sans"/>
                <a:cs typeface="DejaVu Sans"/>
              </a:defRPr>
            </a:pPr>
            <a:r>
              <a:rPr sz="2025" b="0" i="0" u="none" strike="noStrike" cap="none" spc="0" baseline="0" dirty="0" err="1">
                <a:ln>
                  <a:noFill/>
                </a:ln>
                <a:solidFill>
                  <a:srgbClr val="FFFFFF"/>
                </a:solidFill>
                <a:latin typeface="Arial" panose="020B0604020202020204" pitchFamily="34" charset="0"/>
                <a:cs typeface="Arial" panose="020B0604020202020204" pitchFamily="34" charset="0"/>
              </a:rPr>
              <a:t>Arquitectura</a:t>
            </a:r>
            <a:r>
              <a:rPr sz="2025" b="0" i="0" u="none" strike="noStrike" cap="none" spc="0" baseline="0" dirty="0">
                <a:ln>
                  <a:noFill/>
                </a:ln>
                <a:solidFill>
                  <a:srgbClr val="FFFFFF"/>
                </a:solidFill>
                <a:latin typeface="Arial" panose="020B0604020202020204" pitchFamily="34" charset="0"/>
                <a:cs typeface="Arial" panose="020B0604020202020204" pitchFamily="34" charset="0"/>
              </a:rPr>
              <a:t>, </a:t>
            </a:r>
            <a:r>
              <a:rPr sz="2025" b="0" i="0" u="none" strike="noStrike" cap="none" spc="0" baseline="0" dirty="0" err="1">
                <a:ln>
                  <a:noFill/>
                </a:ln>
                <a:solidFill>
                  <a:srgbClr val="FFFFFF"/>
                </a:solidFill>
                <a:latin typeface="Arial" panose="020B0604020202020204" pitchFamily="34" charset="0"/>
                <a:cs typeface="Arial" panose="020B0604020202020204" pitchFamily="34" charset="0"/>
              </a:rPr>
              <a:t>implementación</a:t>
            </a:r>
            <a:r>
              <a:rPr sz="2025" b="0" i="0" u="none" strike="noStrike" cap="none" spc="0" baseline="0" dirty="0">
                <a:ln>
                  <a:noFill/>
                </a:ln>
                <a:solidFill>
                  <a:srgbClr val="FFFFFF"/>
                </a:solidFill>
                <a:latin typeface="Arial" panose="020B0604020202020204" pitchFamily="34" charset="0"/>
                <a:cs typeface="Arial" panose="020B0604020202020204" pitchFamily="34" charset="0"/>
              </a:rPr>
              <a:t> y </a:t>
            </a:r>
            <a:r>
              <a:rPr sz="2025" b="0" i="0" u="none" strike="noStrike" cap="none" spc="0" baseline="0" dirty="0" err="1">
                <a:ln>
                  <a:noFill/>
                </a:ln>
                <a:solidFill>
                  <a:srgbClr val="FFFFFF"/>
                </a:solidFill>
                <a:latin typeface="Arial" panose="020B0604020202020204" pitchFamily="34" charset="0"/>
                <a:cs typeface="Arial" panose="020B0604020202020204" pitchFamily="34" charset="0"/>
              </a:rPr>
              <a:t>resultados</a:t>
            </a:r>
            <a:r>
              <a:rPr sz="2025" b="0" i="0" u="none" strike="noStrike" cap="none" spc="0" baseline="0" dirty="0">
                <a:ln>
                  <a:noFill/>
                </a:ln>
                <a:solidFill>
                  <a:srgbClr val="FFFFFF"/>
                </a:solidFill>
                <a:latin typeface="Arial" panose="020B0604020202020204" pitchFamily="34" charset="0"/>
                <a:cs typeface="Arial" panose="020B0604020202020204" pitchFamily="34" charset="0"/>
              </a:rPr>
              <a:t> del </a:t>
            </a:r>
            <a:r>
              <a:rPr sz="2025" b="0" i="0" u="none" strike="noStrike" cap="none" spc="0" baseline="0" dirty="0" err="1">
                <a:ln>
                  <a:noFill/>
                </a:ln>
                <a:solidFill>
                  <a:srgbClr val="FFFFFF"/>
                </a:solidFill>
                <a:latin typeface="Arial" panose="020B0604020202020204" pitchFamily="34" charset="0"/>
                <a:cs typeface="Arial" panose="020B0604020202020204" pitchFamily="34" charset="0"/>
              </a:rPr>
              <a:t>trabajo</a:t>
            </a:r>
            <a:endParaRPr sz="2025" b="0" i="0" u="none" strike="noStrike" kern="1200" cap="none" spc="0" baseline="0" dirty="0">
              <a:ln>
                <a:noFill/>
              </a:ln>
              <a:solidFill>
                <a:srgbClr val="FFFFFF"/>
              </a:solidFill>
              <a:latin typeface="Arial" panose="020B0604020202020204" pitchFamily="34" charset="0"/>
              <a:cs typeface="Arial" panose="020B0604020202020204" pitchFamily="34" charset="0"/>
            </a:endParaRPr>
          </a:p>
        </p:txBody>
      </p:sp>
      <p:pic>
        <p:nvPicPr>
          <p:cNvPr id="8" name="Imagen 7">
            <a:extLst>
              <a:ext uri="{FF2B5EF4-FFF2-40B4-BE49-F238E27FC236}">
                <a16:creationId xmlns:a16="http://schemas.microsoft.com/office/drawing/2014/main" id="{F4AE31A9-5A5A-4D2E-AD6C-1C2C55AD2F34}"/>
              </a:ext>
            </a:extLst>
          </p:cNvPr>
          <p:cNvPicPr>
            <a:picLocks noChangeAspect="1"/>
          </p:cNvPicPr>
          <p:nvPr/>
        </p:nvPicPr>
        <p:blipFill rotWithShape="1">
          <a:blip r:embed="rId3"/>
          <a:srcRect t="19758" r="65958" b="23485"/>
          <a:stretch>
            <a:fillRect/>
          </a:stretch>
        </p:blipFill>
        <p:spPr>
          <a:xfrm>
            <a:off x="9307808" y="466724"/>
            <a:ext cx="1426868" cy="1190625"/>
          </a:xfrm>
          <a:prstGeom prst="rect">
            <a:avLst/>
          </a:prstGeom>
          <a:ln>
            <a:noFill/>
          </a:ln>
        </p:spPr>
      </p:pic>
      <p:sp>
        <p:nvSpPr>
          <p:cNvPr id="10" name="CuadroTexto 9">
            <a:extLst>
              <a:ext uri="{FF2B5EF4-FFF2-40B4-BE49-F238E27FC236}">
                <a16:creationId xmlns:a16="http://schemas.microsoft.com/office/drawing/2014/main" id="{1A1E2EDA-DB38-8A69-9DBE-8E8F86F1BC24}"/>
              </a:ext>
            </a:extLst>
          </p:cNvPr>
          <p:cNvSpPr>
            <a:spLocks noGrp="1"/>
          </p:cNvSpPr>
          <p:nvPr/>
        </p:nvSpPr>
        <p:spPr>
          <a:xfrm>
            <a:off x="781050" y="3435905"/>
            <a:ext cx="6096000" cy="1631216"/>
          </a:xfrm>
          <a:prstGeom prst="rect">
            <a:avLst/>
          </a:prstGeom>
          <a:noFill/>
        </p:spPr>
        <p:txBody>
          <a:bodyPr wrap="square">
            <a:spAutoFit/>
          </a:bodyPr>
          <a:lstStyle/>
          <a:p>
            <a:r>
              <a:rPr sz="2000">
                <a:solidFill>
                  <a:schemeClr val="bg1"/>
                </a:solidFill>
                <a:latin typeface="Arial" panose="020B0604020202020204" pitchFamily="34" charset="0"/>
                <a:cs typeface="Arial" panose="020B0604020202020204" pitchFamily="34" charset="0"/>
              </a:rPr>
              <a:t>Toni VAN GINKEL</a:t>
            </a:r>
          </a:p>
          <a:p>
            <a:endParaRPr sz="2000">
              <a:solidFill>
                <a:schemeClr val="bg1"/>
              </a:solidFill>
              <a:latin typeface="Arial" panose="020B0604020202020204" pitchFamily="34" charset="0"/>
              <a:cs typeface="Arial" panose="020B0604020202020204" pitchFamily="34" charset="0"/>
            </a:endParaRPr>
          </a:p>
          <a:p>
            <a:r>
              <a:rPr sz="2000">
                <a:solidFill>
                  <a:schemeClr val="bg1"/>
                </a:solidFill>
                <a:latin typeface="Arial" panose="020B0604020202020204" pitchFamily="34" charset="0"/>
                <a:cs typeface="Arial" panose="020B0604020202020204" pitchFamily="34" charset="0"/>
              </a:rPr>
              <a:t>Gerardo Antonio CEBALLOS VAN GRIEKEN</a:t>
            </a:r>
          </a:p>
          <a:p>
            <a:endParaRPr sz="2000">
              <a:solidFill>
                <a:schemeClr val="bg1"/>
              </a:solidFill>
              <a:latin typeface="Arial" panose="020B0604020202020204" pitchFamily="34" charset="0"/>
              <a:cs typeface="Arial" panose="020B0604020202020204" pitchFamily="34" charset="0"/>
            </a:endParaRPr>
          </a:p>
          <a:p>
            <a:r>
              <a:rPr sz="2000">
                <a:solidFill>
                  <a:schemeClr val="bg1"/>
                </a:solidFill>
                <a:latin typeface="Arial" panose="020B0604020202020204" pitchFamily="34" charset="0"/>
                <a:cs typeface="Arial" panose="020B0604020202020204" pitchFamily="34" charset="0"/>
              </a:rPr>
              <a:t>Juan David VELASQUEZ BRAN</a:t>
            </a:r>
          </a:p>
        </p:txBody>
      </p:sp>
      <p:sp>
        <p:nvSpPr>
          <p:cNvPr id="12" name="CuadroTexto 11">
            <a:extLst>
              <a:ext uri="{FF2B5EF4-FFF2-40B4-BE49-F238E27FC236}">
                <a16:creationId xmlns:a16="http://schemas.microsoft.com/office/drawing/2014/main" id="{40DFDD6F-710E-A290-CD11-577AF2FDF1B3}"/>
              </a:ext>
            </a:extLst>
          </p:cNvPr>
          <p:cNvSpPr>
            <a:spLocks noGrp="1"/>
          </p:cNvSpPr>
          <p:nvPr/>
        </p:nvSpPr>
        <p:spPr>
          <a:xfrm>
            <a:off x="781050" y="5730359"/>
            <a:ext cx="6096000" cy="369332"/>
          </a:xfrm>
          <a:prstGeom prst="rect">
            <a:avLst/>
          </a:prstGeom>
          <a:noFill/>
        </p:spPr>
        <p:txBody>
          <a:bodyPr wrap="square">
            <a:spAutoFit/>
          </a:bodyPr>
          <a:lstStyle/>
          <a:p>
            <a:r>
              <a:rPr>
                <a:solidFill>
                  <a:schemeClr val="bg1"/>
                </a:solidFill>
                <a:latin typeface="Arial" panose="020B0604020202020204" pitchFamily="34" charset="0"/>
                <a:cs typeface="Arial" panose="020B0604020202020204" pitchFamily="34" charset="0"/>
              </a:rPr>
              <a:t>Profesor: CHRISTIAN ALBERTO CHAVEZ VASQUEZ</a:t>
            </a:r>
          </a:p>
        </p:txBody>
      </p:sp>
    </p:spTree>
    <p:extLst>
      <p:ext uri="{BB962C8B-B14F-4D97-AF65-F5344CB8AC3E}">
        <p14:creationId xmlns:p14="http://schemas.microsoft.com/office/powerpoint/2010/main" val="900964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ercepción visual para preveni">
            <a:extLst>
              <a:ext uri="{FF2B5EF4-FFF2-40B4-BE49-F238E27FC236}">
                <a16:creationId xmlns:a16="http://schemas.microsoft.com/office/drawing/2014/main" id="{9B556F14-709A-4DAE-8E48-ED5A5145F2E9}"/>
              </a:ext>
            </a:extLst>
          </p:cNvPr>
          <p:cNvSpPr>
            <a:spLocks noGrp="1"/>
          </p:cNvSpPr>
          <p:nvPr/>
        </p:nvSpPr>
        <p:spPr>
          <a:xfrm>
            <a:off x="523875" y="381000"/>
            <a:ext cx="11144250" cy="904875"/>
          </a:xfrm>
          <a:prstGeom prst="rect">
            <a:avLst/>
          </a:prstGeom>
          <a:noFill/>
          <a:ln w="0">
            <a:noFill/>
            <a:prstDash val="solid"/>
          </a:ln>
        </p:spPr>
        <p:txBody>
          <a:bodyPr lIns="0" tIns="0" rIns="0" bIns="0">
            <a:noAutofit/>
          </a:bodyPr>
          <a:lstStyle>
            <a:defPPr>
              <a:defRPr sz="3300" b="1">
                <a:solidFill>
                  <a:srgbClr val="123C65"/>
                </a:solidFill>
                <a:latin typeface="DejaVu Sans"/>
                <a:ea typeface="DejaVu Sans"/>
                <a:cs typeface="DejaVu Sans"/>
              </a:defRPr>
            </a:defPPr>
            <a:lvl1pPr>
              <a:buNone/>
              <a:defRPr sz="3300" b="1">
                <a:solidFill>
                  <a:srgbClr val="123C65"/>
                </a:solidFill>
                <a:latin typeface="DejaVu Sans"/>
                <a:ea typeface="DejaVu Sans"/>
                <a:cs typeface="DejaVu Sans"/>
              </a:defRPr>
            </a:lvl1pPr>
            <a:lvl2pPr>
              <a:buNone/>
              <a:defRPr sz="3300" b="1">
                <a:solidFill>
                  <a:srgbClr val="123C65"/>
                </a:solidFill>
                <a:latin typeface="DejaVu Sans"/>
                <a:ea typeface="DejaVu Sans"/>
                <a:cs typeface="DejaVu Sans"/>
              </a:defRPr>
            </a:lvl2pPr>
            <a:lvl3pPr>
              <a:buNone/>
              <a:defRPr sz="3300" b="1">
                <a:solidFill>
                  <a:srgbClr val="123C65"/>
                </a:solidFill>
                <a:latin typeface="DejaVu Sans"/>
                <a:ea typeface="DejaVu Sans"/>
                <a:cs typeface="DejaVu Sans"/>
              </a:defRPr>
            </a:lvl3pPr>
            <a:lvl4pPr>
              <a:buNone/>
              <a:defRPr sz="3300" b="1">
                <a:solidFill>
                  <a:srgbClr val="123C65"/>
                </a:solidFill>
                <a:latin typeface="DejaVu Sans"/>
                <a:ea typeface="DejaVu Sans"/>
                <a:cs typeface="DejaVu Sans"/>
              </a:defRPr>
            </a:lvl4pPr>
            <a:lvl5pPr>
              <a:buNone/>
              <a:defRPr sz="3300" b="1">
                <a:solidFill>
                  <a:srgbClr val="123C65"/>
                </a:solidFill>
                <a:latin typeface="DejaVu Sans"/>
                <a:ea typeface="DejaVu Sans"/>
                <a:cs typeface="DejaVu Sans"/>
              </a:defRPr>
            </a:lvl5pPr>
            <a:lvl6pPr>
              <a:buNone/>
              <a:defRPr sz="3300" b="1">
                <a:solidFill>
                  <a:srgbClr val="123C65"/>
                </a:solidFill>
                <a:latin typeface="DejaVu Sans"/>
                <a:ea typeface="DejaVu Sans"/>
                <a:cs typeface="DejaVu Sans"/>
              </a:defRPr>
            </a:lvl6pPr>
            <a:lvl7pPr>
              <a:buNone/>
              <a:defRPr sz="3300" b="1">
                <a:solidFill>
                  <a:srgbClr val="123C65"/>
                </a:solidFill>
                <a:latin typeface="DejaVu Sans"/>
                <a:ea typeface="DejaVu Sans"/>
                <a:cs typeface="DejaVu Sans"/>
              </a:defRPr>
            </a:lvl7pPr>
            <a:lvl8pPr>
              <a:buNone/>
              <a:defRPr sz="3300" b="1">
                <a:solidFill>
                  <a:srgbClr val="123C65"/>
                </a:solidFill>
                <a:latin typeface="DejaVu Sans"/>
                <a:ea typeface="DejaVu Sans"/>
                <a:cs typeface="DejaVu Sans"/>
              </a:defRPr>
            </a:lvl8pPr>
            <a:lvl9pPr>
              <a:buNone/>
              <a:defRPr sz="3300" b="1">
                <a:solidFill>
                  <a:srgbClr val="123C65"/>
                </a:solidFill>
                <a:latin typeface="DejaVu Sans"/>
                <a:ea typeface="DejaVu Sans"/>
                <a:cs typeface="DejaVu Sans"/>
              </a:defRPr>
            </a:lvl9pPr>
          </a:lstStyle>
          <a:p>
            <a:pPr>
              <a:buNone/>
              <a:defRPr sz="3300" b="1">
                <a:solidFill>
                  <a:srgbClr val="123C65"/>
                </a:solidFill>
                <a:latin typeface="DejaVu Sans"/>
                <a:ea typeface="DejaVu Sans"/>
                <a:cs typeface="DejaVu Sans"/>
              </a:defRPr>
            </a:pPr>
            <a:r>
              <a:rPr sz="3225" dirty="0" err="1">
                <a:solidFill>
                  <a:srgbClr val="102A43"/>
                </a:solidFill>
                <a:latin typeface="Arial" panose="020B0604020202020204" pitchFamily="34" charset="0"/>
                <a:cs typeface="Arial" panose="020B0604020202020204" pitchFamily="34" charset="0"/>
              </a:rPr>
              <a:t>Percepción</a:t>
            </a:r>
            <a:r>
              <a:rPr sz="3225" dirty="0">
                <a:solidFill>
                  <a:srgbClr val="102A43"/>
                </a:solidFill>
                <a:latin typeface="Arial" panose="020B0604020202020204" pitchFamily="34" charset="0"/>
                <a:cs typeface="Arial" panose="020B0604020202020204" pitchFamily="34" charset="0"/>
              </a:rPr>
              <a:t> visual para </a:t>
            </a:r>
            <a:r>
              <a:rPr sz="3225" dirty="0" err="1">
                <a:solidFill>
                  <a:srgbClr val="102A43"/>
                </a:solidFill>
                <a:latin typeface="Arial" panose="020B0604020202020204" pitchFamily="34" charset="0"/>
                <a:cs typeface="Arial" panose="020B0604020202020204" pitchFamily="34" charset="0"/>
              </a:rPr>
              <a:t>prevenir</a:t>
            </a:r>
            <a:r>
              <a:rPr sz="3225" dirty="0">
                <a:solidFill>
                  <a:srgbClr val="102A43"/>
                </a:solidFill>
                <a:latin typeface="Arial" panose="020B0604020202020204" pitchFamily="34" charset="0"/>
                <a:cs typeface="Arial" panose="020B0604020202020204" pitchFamily="34" charset="0"/>
              </a:rPr>
              <a:t> </a:t>
            </a:r>
            <a:r>
              <a:rPr sz="3225" dirty="0" err="1">
                <a:solidFill>
                  <a:srgbClr val="102A43"/>
                </a:solidFill>
                <a:latin typeface="Arial" panose="020B0604020202020204" pitchFamily="34" charset="0"/>
                <a:cs typeface="Arial" panose="020B0604020202020204" pitchFamily="34" charset="0"/>
              </a:rPr>
              <a:t>colisiones</a:t>
            </a:r>
            <a:endParaRPr sz="3225" dirty="0">
              <a:solidFill>
                <a:srgbClr val="102A43"/>
              </a:solidFill>
              <a:latin typeface="Arial" panose="020B0604020202020204" pitchFamily="34" charset="0"/>
              <a:cs typeface="Arial" panose="020B0604020202020204" pitchFamily="34" charset="0"/>
            </a:endParaRPr>
          </a:p>
        </p:txBody>
      </p:sp>
      <p:sp>
        <p:nvSpPr>
          <p:cNvPr id="2" name="01">
            <a:extLst>
              <a:ext uri="{FF2B5EF4-FFF2-40B4-BE49-F238E27FC236}">
                <a16:creationId xmlns:a16="http://schemas.microsoft.com/office/drawing/2014/main" id="{472AB594-A6B5-40AA-BC93-8E374A8DA035}"/>
              </a:ext>
            </a:extLst>
          </p:cNvPr>
          <p:cNvSpPr>
            <a:spLocks noGrp="1"/>
          </p:cNvSpPr>
          <p:nvPr/>
        </p:nvSpPr>
        <p:spPr>
          <a:xfrm>
            <a:off x="11144250" y="6438900"/>
            <a:ext cx="476250" cy="238125"/>
          </a:xfrm>
          <a:prstGeom prst="rect">
            <a:avLst/>
          </a:prstGeom>
          <a:noFill/>
          <a:ln w="0">
            <a:noFill/>
            <a:prstDash val="solid"/>
          </a:ln>
        </p:spPr>
        <p:txBody>
          <a:bodyPr lIns="0" tIns="0" rIns="0" bIns="0">
            <a:noAutofit/>
          </a:bodyPr>
          <a:lstStyle>
            <a:defPPr>
              <a:defRPr sz="1200" b="0">
                <a:solidFill>
                  <a:srgbClr val="476880"/>
                </a:solidFill>
                <a:latin typeface="DejaVu Sans"/>
                <a:ea typeface="DejaVu Sans"/>
                <a:cs typeface="DejaVu Sans"/>
              </a:defRPr>
            </a:defPPr>
            <a:lvl1pPr>
              <a:buNone/>
              <a:defRPr sz="1200" b="0">
                <a:solidFill>
                  <a:srgbClr val="476880"/>
                </a:solidFill>
                <a:latin typeface="DejaVu Sans"/>
                <a:ea typeface="DejaVu Sans"/>
                <a:cs typeface="DejaVu Sans"/>
              </a:defRPr>
            </a:lvl1pPr>
            <a:lvl2pPr>
              <a:buNone/>
              <a:defRPr sz="1200" b="0">
                <a:solidFill>
                  <a:srgbClr val="476880"/>
                </a:solidFill>
                <a:latin typeface="DejaVu Sans"/>
                <a:ea typeface="DejaVu Sans"/>
                <a:cs typeface="DejaVu Sans"/>
              </a:defRPr>
            </a:lvl2pPr>
            <a:lvl3pPr>
              <a:buNone/>
              <a:defRPr sz="1200" b="0">
                <a:solidFill>
                  <a:srgbClr val="476880"/>
                </a:solidFill>
                <a:latin typeface="DejaVu Sans"/>
                <a:ea typeface="DejaVu Sans"/>
                <a:cs typeface="DejaVu Sans"/>
              </a:defRPr>
            </a:lvl3pPr>
            <a:lvl4pPr>
              <a:buNone/>
              <a:defRPr sz="1200" b="0">
                <a:solidFill>
                  <a:srgbClr val="476880"/>
                </a:solidFill>
                <a:latin typeface="DejaVu Sans"/>
                <a:ea typeface="DejaVu Sans"/>
                <a:cs typeface="DejaVu Sans"/>
              </a:defRPr>
            </a:lvl4pPr>
            <a:lvl5pPr>
              <a:buNone/>
              <a:defRPr sz="1200" b="0">
                <a:solidFill>
                  <a:srgbClr val="476880"/>
                </a:solidFill>
                <a:latin typeface="DejaVu Sans"/>
                <a:ea typeface="DejaVu Sans"/>
                <a:cs typeface="DejaVu Sans"/>
              </a:defRPr>
            </a:lvl5pPr>
            <a:lvl6pPr>
              <a:buNone/>
              <a:defRPr sz="1200" b="0">
                <a:solidFill>
                  <a:srgbClr val="476880"/>
                </a:solidFill>
                <a:latin typeface="DejaVu Sans"/>
                <a:ea typeface="DejaVu Sans"/>
                <a:cs typeface="DejaVu Sans"/>
              </a:defRPr>
            </a:lvl6pPr>
            <a:lvl7pPr>
              <a:buNone/>
              <a:defRPr sz="1200" b="0">
                <a:solidFill>
                  <a:srgbClr val="476880"/>
                </a:solidFill>
                <a:latin typeface="DejaVu Sans"/>
                <a:ea typeface="DejaVu Sans"/>
                <a:cs typeface="DejaVu Sans"/>
              </a:defRPr>
            </a:lvl7pPr>
            <a:lvl8pPr>
              <a:buNone/>
              <a:defRPr sz="1200" b="0">
                <a:solidFill>
                  <a:srgbClr val="476880"/>
                </a:solidFill>
                <a:latin typeface="DejaVu Sans"/>
                <a:ea typeface="DejaVu Sans"/>
                <a:cs typeface="DejaVu Sans"/>
              </a:defRPr>
            </a:lvl8pPr>
            <a:lvl9pPr>
              <a:buNone/>
              <a:defRPr sz="1200" b="0">
                <a:solidFill>
                  <a:srgbClr val="476880"/>
                </a:solidFill>
                <a:latin typeface="DejaVu Sans"/>
                <a:ea typeface="DejaVu Sans"/>
                <a:cs typeface="DejaVu Sans"/>
              </a:defRPr>
            </a:lvl9pPr>
          </a:lstStyle>
          <a:p>
            <a:pPr>
              <a:buNone/>
              <a:defRPr sz="1200" b="0">
                <a:solidFill>
                  <a:srgbClr val="476880"/>
                </a:solidFill>
                <a:latin typeface="DejaVu Sans"/>
                <a:ea typeface="DejaVu Sans"/>
                <a:cs typeface="DejaVu Sans"/>
              </a:defRPr>
            </a:pPr>
            <a:r>
              <a:rPr sz="1200" b="0">
                <a:solidFill>
                  <a:srgbClr val="476880"/>
                </a:solidFill>
                <a:latin typeface="DejaVu Sans"/>
                <a:ea typeface="DejaVu Sans"/>
                <a:cs typeface="DejaVu Sans"/>
              </a:rPr>
              <a:t>02</a:t>
            </a:r>
          </a:p>
        </p:txBody>
      </p:sp>
      <p:pic>
        <p:nvPicPr>
          <p:cNvPr id="6" name="Imagen 5">
            <a:extLst>
              <a:ext uri="{FF2B5EF4-FFF2-40B4-BE49-F238E27FC236}">
                <a16:creationId xmlns:a16="http://schemas.microsoft.com/office/drawing/2014/main" id="{7BAB4AF4-2F04-4838-96F5-919B258267B6}"/>
              </a:ext>
            </a:extLst>
          </p:cNvPr>
          <p:cNvPicPr>
            <a:picLocks noChangeAspect="1"/>
          </p:cNvPicPr>
          <p:nvPr/>
        </p:nvPicPr>
        <p:blipFill>
          <a:blip r:embed="rId3"/>
          <a:stretch/>
        </p:blipFill>
        <p:spPr>
          <a:xfrm>
            <a:off x="8572500" y="1477536"/>
            <a:ext cx="2457450" cy="4369653"/>
          </a:xfrm>
          <a:prstGeom prst="rect">
            <a:avLst/>
          </a:prstGeom>
        </p:spPr>
      </p:pic>
      <p:sp>
        <p:nvSpPr>
          <p:cNvPr id="9" name="context">
            <a:extLst>
              <a:ext uri="{FF2B5EF4-FFF2-40B4-BE49-F238E27FC236}">
                <a16:creationId xmlns:a16="http://schemas.microsoft.com/office/drawing/2014/main" id="{FE6FB565-D5B0-E494-EF9D-9FE4B7017E25}"/>
              </a:ext>
            </a:extLst>
          </p:cNvPr>
          <p:cNvSpPr>
            <a:spLocks noGrp="1"/>
          </p:cNvSpPr>
          <p:nvPr/>
        </p:nvSpPr>
        <p:spPr>
          <a:xfrm>
            <a:off x="495300" y="1362075"/>
            <a:ext cx="7477125" cy="904875"/>
          </a:xfrm>
          <a:prstGeom prst="rect">
            <a:avLst/>
          </a:prstGeom>
          <a:noFill/>
          <a:ln w="0">
            <a:noFill/>
            <a:prstDash val="solid"/>
          </a:ln>
        </p:spPr>
        <p:txBody>
          <a:bodyPr lIns="0" tIns="0" rIns="0" bIns="0"/>
          <a:lstStyle>
            <a:defPPr>
              <a:defRPr sz="2625" b="1">
                <a:solidFill>
                  <a:srgbClr val="173D63"/>
                </a:solidFill>
                <a:latin typeface="Arial"/>
                <a:ea typeface="Arial"/>
                <a:cs typeface="Arial"/>
              </a:defRPr>
            </a:defPPr>
            <a:lvl1pPr>
              <a:buNone/>
              <a:defRPr sz="2625" b="1">
                <a:solidFill>
                  <a:srgbClr val="173D63"/>
                </a:solidFill>
                <a:latin typeface="Arial"/>
                <a:ea typeface="Arial"/>
                <a:cs typeface="Arial"/>
              </a:defRPr>
            </a:lvl1pPr>
            <a:lvl2pPr>
              <a:buNone/>
              <a:defRPr sz="2625" b="1">
                <a:solidFill>
                  <a:srgbClr val="173D63"/>
                </a:solidFill>
                <a:latin typeface="Arial"/>
                <a:ea typeface="Arial"/>
                <a:cs typeface="Arial"/>
              </a:defRPr>
            </a:lvl2pPr>
            <a:lvl3pPr>
              <a:buNone/>
              <a:defRPr sz="2625" b="1">
                <a:solidFill>
                  <a:srgbClr val="173D63"/>
                </a:solidFill>
                <a:latin typeface="Arial"/>
                <a:ea typeface="Arial"/>
                <a:cs typeface="Arial"/>
              </a:defRPr>
            </a:lvl3pPr>
            <a:lvl4pPr>
              <a:buNone/>
              <a:defRPr sz="2625" b="1">
                <a:solidFill>
                  <a:srgbClr val="173D63"/>
                </a:solidFill>
                <a:latin typeface="Arial"/>
                <a:ea typeface="Arial"/>
                <a:cs typeface="Arial"/>
              </a:defRPr>
            </a:lvl4pPr>
            <a:lvl5pPr>
              <a:buNone/>
              <a:defRPr sz="2625" b="1">
                <a:solidFill>
                  <a:srgbClr val="173D63"/>
                </a:solidFill>
                <a:latin typeface="Arial"/>
                <a:ea typeface="Arial"/>
                <a:cs typeface="Arial"/>
              </a:defRPr>
            </a:lvl5pPr>
            <a:lvl6pPr>
              <a:buNone/>
              <a:defRPr sz="2625" b="1">
                <a:solidFill>
                  <a:srgbClr val="173D63"/>
                </a:solidFill>
                <a:latin typeface="Arial"/>
                <a:ea typeface="Arial"/>
                <a:cs typeface="Arial"/>
              </a:defRPr>
            </a:lvl6pPr>
            <a:lvl7pPr>
              <a:buNone/>
              <a:defRPr sz="2625" b="1">
                <a:solidFill>
                  <a:srgbClr val="173D63"/>
                </a:solidFill>
                <a:latin typeface="Arial"/>
                <a:ea typeface="Arial"/>
                <a:cs typeface="Arial"/>
              </a:defRPr>
            </a:lvl7pPr>
            <a:lvl8pPr>
              <a:buNone/>
              <a:defRPr sz="2625" b="1">
                <a:solidFill>
                  <a:srgbClr val="173D63"/>
                </a:solidFill>
                <a:latin typeface="Arial"/>
                <a:ea typeface="Arial"/>
                <a:cs typeface="Arial"/>
              </a:defRPr>
            </a:lvl8pPr>
            <a:lvl9pPr>
              <a:buNone/>
              <a:defRPr sz="2625" b="1">
                <a:solidFill>
                  <a:srgbClr val="173D63"/>
                </a:solidFill>
                <a:latin typeface="Arial"/>
                <a:ea typeface="Arial"/>
                <a:cs typeface="Arial"/>
              </a:defRPr>
            </a:lvl9pPr>
          </a:lstStyle>
          <a:p>
            <a:pPr>
              <a:buNone/>
              <a:defRPr sz="2625" b="1">
                <a:solidFill>
                  <a:srgbClr val="173D63"/>
                </a:solidFill>
                <a:latin typeface="Arial"/>
                <a:ea typeface="Arial"/>
                <a:cs typeface="Arial"/>
              </a:defRPr>
            </a:pPr>
            <a:r>
              <a:rPr sz="2625" b="1">
                <a:solidFill>
                  <a:srgbClr val="173D63"/>
                </a:solidFill>
                <a:latin typeface="Arial" panose="020B0604020202020204" pitchFamily="34" charset="0"/>
                <a:cs typeface="Arial" panose="020B0604020202020204" pitchFamily="34" charset="0"/>
              </a:rPr>
              <a:t>Un AGV comparte el pasillo</a:t>
            </a:r>
          </a:p>
          <a:p>
            <a:pPr>
              <a:buNone/>
              <a:defRPr sz="2625" b="1">
                <a:solidFill>
                  <a:srgbClr val="173D63"/>
                </a:solidFill>
                <a:latin typeface="Arial"/>
                <a:ea typeface="Arial"/>
                <a:cs typeface="Arial"/>
              </a:defRPr>
            </a:pPr>
            <a:r>
              <a:rPr sz="2625" b="1">
                <a:solidFill>
                  <a:srgbClr val="173D63"/>
                </a:solidFill>
                <a:latin typeface="Arial" panose="020B0604020202020204" pitchFamily="34" charset="0"/>
                <a:cs typeface="Arial" panose="020B0604020202020204" pitchFamily="34" charset="0"/>
              </a:rPr>
              <a:t>con personas y obstáculos.</a:t>
            </a:r>
          </a:p>
        </p:txBody>
      </p:sp>
      <p:sp>
        <p:nvSpPr>
          <p:cNvPr id="11" name="camera">
            <a:extLst>
              <a:ext uri="{FF2B5EF4-FFF2-40B4-BE49-F238E27FC236}">
                <a16:creationId xmlns:a16="http://schemas.microsoft.com/office/drawing/2014/main" id="{CF539F0E-7FCE-9556-A874-AF639AE27525}"/>
              </a:ext>
            </a:extLst>
          </p:cNvPr>
          <p:cNvSpPr>
            <a:spLocks noGrp="1"/>
          </p:cNvSpPr>
          <p:nvPr/>
        </p:nvSpPr>
        <p:spPr>
          <a:xfrm>
            <a:off x="495300" y="2505075"/>
            <a:ext cx="7286625" cy="733425"/>
          </a:xfrm>
          <a:prstGeom prst="rect">
            <a:avLst/>
          </a:prstGeom>
          <a:noFill/>
          <a:ln w="0">
            <a:noFill/>
            <a:prstDash val="solid"/>
          </a:ln>
        </p:spPr>
        <p:txBody>
          <a:bodyPr lIns="0" tIns="0" rIns="0" bIns="0"/>
          <a:lstStyle>
            <a:defPPr>
              <a:defRPr sz="2100" b="0">
                <a:solidFill>
                  <a:srgbClr val="173D63"/>
                </a:solidFill>
                <a:latin typeface="Arial"/>
                <a:ea typeface="Arial"/>
                <a:cs typeface="Arial"/>
              </a:defRPr>
            </a:defPPr>
            <a:lvl1pPr>
              <a:buNone/>
              <a:defRPr sz="2100" b="0">
                <a:solidFill>
                  <a:srgbClr val="173D63"/>
                </a:solidFill>
                <a:latin typeface="Arial"/>
                <a:ea typeface="Arial"/>
                <a:cs typeface="Arial"/>
              </a:defRPr>
            </a:lvl1pPr>
            <a:lvl2pPr>
              <a:buNone/>
              <a:defRPr sz="2100" b="0">
                <a:solidFill>
                  <a:srgbClr val="173D63"/>
                </a:solidFill>
                <a:latin typeface="Arial"/>
                <a:ea typeface="Arial"/>
                <a:cs typeface="Arial"/>
              </a:defRPr>
            </a:lvl2pPr>
            <a:lvl3pPr>
              <a:buNone/>
              <a:defRPr sz="2100" b="0">
                <a:solidFill>
                  <a:srgbClr val="173D63"/>
                </a:solidFill>
                <a:latin typeface="Arial"/>
                <a:ea typeface="Arial"/>
                <a:cs typeface="Arial"/>
              </a:defRPr>
            </a:lvl3pPr>
            <a:lvl4pPr>
              <a:buNone/>
              <a:defRPr sz="2100" b="0">
                <a:solidFill>
                  <a:srgbClr val="173D63"/>
                </a:solidFill>
                <a:latin typeface="Arial"/>
                <a:ea typeface="Arial"/>
                <a:cs typeface="Arial"/>
              </a:defRPr>
            </a:lvl4pPr>
            <a:lvl5pPr>
              <a:buNone/>
              <a:defRPr sz="2100" b="0">
                <a:solidFill>
                  <a:srgbClr val="173D63"/>
                </a:solidFill>
                <a:latin typeface="Arial"/>
                <a:ea typeface="Arial"/>
                <a:cs typeface="Arial"/>
              </a:defRPr>
            </a:lvl5pPr>
            <a:lvl6pPr>
              <a:buNone/>
              <a:defRPr sz="2100" b="0">
                <a:solidFill>
                  <a:srgbClr val="173D63"/>
                </a:solidFill>
                <a:latin typeface="Arial"/>
                <a:ea typeface="Arial"/>
                <a:cs typeface="Arial"/>
              </a:defRPr>
            </a:lvl6pPr>
            <a:lvl7pPr>
              <a:buNone/>
              <a:defRPr sz="2100" b="0">
                <a:solidFill>
                  <a:srgbClr val="173D63"/>
                </a:solidFill>
                <a:latin typeface="Arial"/>
                <a:ea typeface="Arial"/>
                <a:cs typeface="Arial"/>
              </a:defRPr>
            </a:lvl7pPr>
            <a:lvl8pPr>
              <a:buNone/>
              <a:defRPr sz="2100" b="0">
                <a:solidFill>
                  <a:srgbClr val="173D63"/>
                </a:solidFill>
                <a:latin typeface="Arial"/>
                <a:ea typeface="Arial"/>
                <a:cs typeface="Arial"/>
              </a:defRPr>
            </a:lvl8pPr>
            <a:lvl9pPr>
              <a:buNone/>
              <a:defRPr sz="2100" b="0">
                <a:solidFill>
                  <a:srgbClr val="173D63"/>
                </a:solidFill>
                <a:latin typeface="Arial"/>
                <a:ea typeface="Arial"/>
                <a:cs typeface="Arial"/>
              </a:defRPr>
            </a:lvl9pPr>
          </a:lstStyle>
          <a:p>
            <a:pPr>
              <a:buNone/>
              <a:defRPr sz="2100" b="0">
                <a:solidFill>
                  <a:srgbClr val="173D63"/>
                </a:solidFill>
                <a:latin typeface="Arial"/>
                <a:ea typeface="Arial"/>
                <a:cs typeface="Arial"/>
              </a:defRPr>
            </a:pPr>
            <a:r>
              <a:rPr sz="2100" b="0">
                <a:solidFill>
                  <a:srgbClr val="173D63"/>
                </a:solidFill>
                <a:latin typeface="Arial" panose="020B0604020202020204" pitchFamily="34" charset="0"/>
                <a:cs typeface="Arial" panose="020B0604020202020204" pitchFamily="34" charset="0"/>
              </a:rPr>
              <a:t>Una cámara frontal aporta imágenes para</a:t>
            </a:r>
          </a:p>
          <a:p>
            <a:pPr>
              <a:buNone/>
              <a:defRPr sz="2100" b="0">
                <a:solidFill>
                  <a:srgbClr val="173D63"/>
                </a:solidFill>
                <a:latin typeface="Arial"/>
                <a:ea typeface="Arial"/>
                <a:cs typeface="Arial"/>
              </a:defRPr>
            </a:pPr>
            <a:r>
              <a:rPr sz="2100" b="0">
                <a:solidFill>
                  <a:srgbClr val="173D63"/>
                </a:solidFill>
                <a:latin typeface="Arial" panose="020B0604020202020204" pitchFamily="34" charset="0"/>
                <a:cs typeface="Arial" panose="020B0604020202020204" pitchFamily="34" charset="0"/>
              </a:rPr>
              <a:t>analizar cómo evoluciona la escena.</a:t>
            </a:r>
          </a:p>
        </p:txBody>
      </p:sp>
      <p:sp>
        <p:nvSpPr>
          <p:cNvPr id="13" name="detection">
            <a:extLst>
              <a:ext uri="{FF2B5EF4-FFF2-40B4-BE49-F238E27FC236}">
                <a16:creationId xmlns:a16="http://schemas.microsoft.com/office/drawing/2014/main" id="{BB2CD7BC-6DFD-0C4B-B71E-D9C4361E81F9}"/>
              </a:ext>
            </a:extLst>
          </p:cNvPr>
          <p:cNvSpPr>
            <a:spLocks noGrp="1"/>
          </p:cNvSpPr>
          <p:nvPr/>
        </p:nvSpPr>
        <p:spPr>
          <a:xfrm>
            <a:off x="495300" y="3524250"/>
            <a:ext cx="7286625" cy="733425"/>
          </a:xfrm>
          <a:prstGeom prst="rect">
            <a:avLst/>
          </a:prstGeom>
          <a:noFill/>
          <a:ln w="0">
            <a:noFill/>
            <a:prstDash val="solid"/>
          </a:ln>
        </p:spPr>
        <p:txBody>
          <a:bodyPr lIns="0" tIns="0" rIns="0" bIns="0"/>
          <a:lstStyle>
            <a:defPPr>
              <a:defRPr sz="2100" b="0">
                <a:solidFill>
                  <a:srgbClr val="173D63"/>
                </a:solidFill>
                <a:latin typeface="Arial"/>
                <a:ea typeface="Arial"/>
                <a:cs typeface="Arial"/>
              </a:defRPr>
            </a:defPPr>
            <a:lvl1pPr>
              <a:buNone/>
              <a:defRPr sz="2100" b="0">
                <a:solidFill>
                  <a:srgbClr val="173D63"/>
                </a:solidFill>
                <a:latin typeface="Arial"/>
                <a:ea typeface="Arial"/>
                <a:cs typeface="Arial"/>
              </a:defRPr>
            </a:lvl1pPr>
            <a:lvl2pPr>
              <a:buNone/>
              <a:defRPr sz="2100" b="0">
                <a:solidFill>
                  <a:srgbClr val="173D63"/>
                </a:solidFill>
                <a:latin typeface="Arial"/>
                <a:ea typeface="Arial"/>
                <a:cs typeface="Arial"/>
              </a:defRPr>
            </a:lvl2pPr>
            <a:lvl3pPr>
              <a:buNone/>
              <a:defRPr sz="2100" b="0">
                <a:solidFill>
                  <a:srgbClr val="173D63"/>
                </a:solidFill>
                <a:latin typeface="Arial"/>
                <a:ea typeface="Arial"/>
                <a:cs typeface="Arial"/>
              </a:defRPr>
            </a:lvl3pPr>
            <a:lvl4pPr>
              <a:buNone/>
              <a:defRPr sz="2100" b="0">
                <a:solidFill>
                  <a:srgbClr val="173D63"/>
                </a:solidFill>
                <a:latin typeface="Arial"/>
                <a:ea typeface="Arial"/>
                <a:cs typeface="Arial"/>
              </a:defRPr>
            </a:lvl4pPr>
            <a:lvl5pPr>
              <a:buNone/>
              <a:defRPr sz="2100" b="0">
                <a:solidFill>
                  <a:srgbClr val="173D63"/>
                </a:solidFill>
                <a:latin typeface="Arial"/>
                <a:ea typeface="Arial"/>
                <a:cs typeface="Arial"/>
              </a:defRPr>
            </a:lvl5pPr>
            <a:lvl6pPr>
              <a:buNone/>
              <a:defRPr sz="2100" b="0">
                <a:solidFill>
                  <a:srgbClr val="173D63"/>
                </a:solidFill>
                <a:latin typeface="Arial"/>
                <a:ea typeface="Arial"/>
                <a:cs typeface="Arial"/>
              </a:defRPr>
            </a:lvl6pPr>
            <a:lvl7pPr>
              <a:buNone/>
              <a:defRPr sz="2100" b="0">
                <a:solidFill>
                  <a:srgbClr val="173D63"/>
                </a:solidFill>
                <a:latin typeface="Arial"/>
                <a:ea typeface="Arial"/>
                <a:cs typeface="Arial"/>
              </a:defRPr>
            </a:lvl7pPr>
            <a:lvl8pPr>
              <a:buNone/>
              <a:defRPr sz="2100" b="0">
                <a:solidFill>
                  <a:srgbClr val="173D63"/>
                </a:solidFill>
                <a:latin typeface="Arial"/>
                <a:ea typeface="Arial"/>
                <a:cs typeface="Arial"/>
              </a:defRPr>
            </a:lvl8pPr>
            <a:lvl9pPr>
              <a:buNone/>
              <a:defRPr sz="2100" b="0">
                <a:solidFill>
                  <a:srgbClr val="173D63"/>
                </a:solidFill>
                <a:latin typeface="Arial"/>
                <a:ea typeface="Arial"/>
                <a:cs typeface="Arial"/>
              </a:defRPr>
            </a:lvl9pPr>
          </a:lstStyle>
          <a:p>
            <a:pPr>
              <a:buNone/>
              <a:defRPr sz="2100" b="0">
                <a:solidFill>
                  <a:srgbClr val="173D63"/>
                </a:solidFill>
                <a:latin typeface="Arial"/>
                <a:ea typeface="Arial"/>
                <a:cs typeface="Arial"/>
              </a:defRPr>
            </a:pPr>
            <a:r>
              <a:rPr sz="2100" b="0">
                <a:solidFill>
                  <a:srgbClr val="173D63"/>
                </a:solidFill>
                <a:latin typeface="Arial" panose="020B0604020202020204" pitchFamily="34" charset="0"/>
                <a:cs typeface="Arial" panose="020B0604020202020204" pitchFamily="34" charset="0"/>
              </a:rPr>
              <a:t>YOLO identifica los objetos y ByteTrack</a:t>
            </a:r>
          </a:p>
          <a:p>
            <a:pPr>
              <a:buNone/>
              <a:defRPr sz="2100" b="0">
                <a:solidFill>
                  <a:srgbClr val="173D63"/>
                </a:solidFill>
                <a:latin typeface="Arial"/>
                <a:ea typeface="Arial"/>
                <a:cs typeface="Arial"/>
              </a:defRPr>
            </a:pPr>
            <a:r>
              <a:rPr sz="2100" b="0">
                <a:solidFill>
                  <a:srgbClr val="173D63"/>
                </a:solidFill>
                <a:latin typeface="Arial" panose="020B0604020202020204" pitchFamily="34" charset="0"/>
                <a:cs typeface="Arial" panose="020B0604020202020204" pitchFamily="34" charset="0"/>
              </a:rPr>
              <a:t>relaciona sus detecciones en el tiempo.</a:t>
            </a:r>
          </a:p>
        </p:txBody>
      </p:sp>
      <p:sp>
        <p:nvSpPr>
          <p:cNvPr id="15" name="motion">
            <a:extLst>
              <a:ext uri="{FF2B5EF4-FFF2-40B4-BE49-F238E27FC236}">
                <a16:creationId xmlns:a16="http://schemas.microsoft.com/office/drawing/2014/main" id="{856EE787-394E-8E72-1AC8-97860CB86A4C}"/>
              </a:ext>
            </a:extLst>
          </p:cNvPr>
          <p:cNvSpPr>
            <a:spLocks noGrp="1"/>
          </p:cNvSpPr>
          <p:nvPr/>
        </p:nvSpPr>
        <p:spPr>
          <a:xfrm>
            <a:off x="495300" y="4543425"/>
            <a:ext cx="7286625" cy="733425"/>
          </a:xfrm>
          <a:prstGeom prst="rect">
            <a:avLst/>
          </a:prstGeom>
          <a:noFill/>
          <a:ln w="0">
            <a:noFill/>
            <a:prstDash val="solid"/>
          </a:ln>
        </p:spPr>
        <p:txBody>
          <a:bodyPr lIns="0" tIns="0" rIns="0" bIns="0"/>
          <a:lstStyle>
            <a:defPPr>
              <a:defRPr sz="2100" b="0">
                <a:solidFill>
                  <a:srgbClr val="173D63"/>
                </a:solidFill>
                <a:latin typeface="Arial"/>
                <a:ea typeface="Arial"/>
                <a:cs typeface="Arial"/>
              </a:defRPr>
            </a:defPPr>
            <a:lvl1pPr>
              <a:buNone/>
              <a:defRPr sz="2100" b="0">
                <a:solidFill>
                  <a:srgbClr val="173D63"/>
                </a:solidFill>
                <a:latin typeface="Arial"/>
                <a:ea typeface="Arial"/>
                <a:cs typeface="Arial"/>
              </a:defRPr>
            </a:lvl1pPr>
            <a:lvl2pPr>
              <a:buNone/>
              <a:defRPr sz="2100" b="0">
                <a:solidFill>
                  <a:srgbClr val="173D63"/>
                </a:solidFill>
                <a:latin typeface="Arial"/>
                <a:ea typeface="Arial"/>
                <a:cs typeface="Arial"/>
              </a:defRPr>
            </a:lvl2pPr>
            <a:lvl3pPr>
              <a:buNone/>
              <a:defRPr sz="2100" b="0">
                <a:solidFill>
                  <a:srgbClr val="173D63"/>
                </a:solidFill>
                <a:latin typeface="Arial"/>
                <a:ea typeface="Arial"/>
                <a:cs typeface="Arial"/>
              </a:defRPr>
            </a:lvl3pPr>
            <a:lvl4pPr>
              <a:buNone/>
              <a:defRPr sz="2100" b="0">
                <a:solidFill>
                  <a:srgbClr val="173D63"/>
                </a:solidFill>
                <a:latin typeface="Arial"/>
                <a:ea typeface="Arial"/>
                <a:cs typeface="Arial"/>
              </a:defRPr>
            </a:lvl4pPr>
            <a:lvl5pPr>
              <a:buNone/>
              <a:defRPr sz="2100" b="0">
                <a:solidFill>
                  <a:srgbClr val="173D63"/>
                </a:solidFill>
                <a:latin typeface="Arial"/>
                <a:ea typeface="Arial"/>
                <a:cs typeface="Arial"/>
              </a:defRPr>
            </a:lvl5pPr>
            <a:lvl6pPr>
              <a:buNone/>
              <a:defRPr sz="2100" b="0">
                <a:solidFill>
                  <a:srgbClr val="173D63"/>
                </a:solidFill>
                <a:latin typeface="Arial"/>
                <a:ea typeface="Arial"/>
                <a:cs typeface="Arial"/>
              </a:defRPr>
            </a:lvl6pPr>
            <a:lvl7pPr>
              <a:buNone/>
              <a:defRPr sz="2100" b="0">
                <a:solidFill>
                  <a:srgbClr val="173D63"/>
                </a:solidFill>
                <a:latin typeface="Arial"/>
                <a:ea typeface="Arial"/>
                <a:cs typeface="Arial"/>
              </a:defRPr>
            </a:lvl7pPr>
            <a:lvl8pPr>
              <a:buNone/>
              <a:defRPr sz="2100" b="0">
                <a:solidFill>
                  <a:srgbClr val="173D63"/>
                </a:solidFill>
                <a:latin typeface="Arial"/>
                <a:ea typeface="Arial"/>
                <a:cs typeface="Arial"/>
              </a:defRPr>
            </a:lvl8pPr>
            <a:lvl9pPr>
              <a:buNone/>
              <a:defRPr sz="2100" b="0">
                <a:solidFill>
                  <a:srgbClr val="173D63"/>
                </a:solidFill>
                <a:latin typeface="Arial"/>
                <a:ea typeface="Arial"/>
                <a:cs typeface="Arial"/>
              </a:defRPr>
            </a:lvl9pPr>
          </a:lstStyle>
          <a:p>
            <a:pPr>
              <a:buNone/>
              <a:defRPr sz="2100" b="0">
                <a:solidFill>
                  <a:srgbClr val="173D63"/>
                </a:solidFill>
                <a:latin typeface="Arial"/>
                <a:ea typeface="Arial"/>
                <a:cs typeface="Arial"/>
              </a:defRPr>
            </a:pPr>
            <a:r>
              <a:rPr sz="2100" b="0">
                <a:solidFill>
                  <a:srgbClr val="173D63"/>
                </a:solidFill>
                <a:latin typeface="Arial" panose="020B0604020202020204" pitchFamily="34" charset="0"/>
                <a:cs typeface="Arial" panose="020B0604020202020204" pitchFamily="34" charset="0"/>
              </a:rPr>
              <a:t>El código estima el movimiento lateral</a:t>
            </a:r>
          </a:p>
          <a:p>
            <a:pPr>
              <a:buNone/>
              <a:defRPr sz="2100" b="0">
                <a:solidFill>
                  <a:srgbClr val="173D63"/>
                </a:solidFill>
                <a:latin typeface="Arial"/>
                <a:ea typeface="Arial"/>
                <a:cs typeface="Arial"/>
              </a:defRPr>
            </a:pPr>
            <a:r>
              <a:rPr sz="2100" b="0">
                <a:solidFill>
                  <a:srgbClr val="173D63"/>
                </a:solidFill>
                <a:latin typeface="Arial" panose="020B0604020202020204" pitchFamily="34" charset="0"/>
                <a:cs typeface="Arial" panose="020B0604020202020204" pitchFamily="34" charset="0"/>
              </a:rPr>
              <a:t>y la aproximación mediante geometría.</a:t>
            </a:r>
          </a:p>
        </p:txBody>
      </p:sp>
      <p:sp>
        <p:nvSpPr>
          <p:cNvPr id="17" name="objective">
            <a:extLst>
              <a:ext uri="{FF2B5EF4-FFF2-40B4-BE49-F238E27FC236}">
                <a16:creationId xmlns:a16="http://schemas.microsoft.com/office/drawing/2014/main" id="{E76E70D6-CD6E-5DF3-E01F-487CBEBF10DF}"/>
              </a:ext>
            </a:extLst>
          </p:cNvPr>
          <p:cNvSpPr>
            <a:spLocks noGrp="1"/>
          </p:cNvSpPr>
          <p:nvPr/>
        </p:nvSpPr>
        <p:spPr>
          <a:xfrm>
            <a:off x="495300" y="5753100"/>
            <a:ext cx="11201400" cy="762000"/>
          </a:xfrm>
          <a:prstGeom prst="rect">
            <a:avLst/>
          </a:prstGeom>
          <a:noFill/>
          <a:ln w="0">
            <a:noFill/>
            <a:prstDash val="solid"/>
          </a:ln>
        </p:spPr>
        <p:txBody>
          <a:bodyPr lIns="0" tIns="0" rIns="0" bIns="0"/>
          <a:lstStyle>
            <a:defPPr>
              <a:defRPr sz="2175" b="1">
                <a:solidFill>
                  <a:srgbClr val="176CC3"/>
                </a:solidFill>
                <a:latin typeface="Arial"/>
                <a:ea typeface="Arial"/>
                <a:cs typeface="Arial"/>
              </a:defRPr>
            </a:defPPr>
            <a:lvl1pPr>
              <a:buNone/>
              <a:defRPr sz="2175" b="1">
                <a:solidFill>
                  <a:srgbClr val="176CC3"/>
                </a:solidFill>
                <a:latin typeface="Arial"/>
                <a:ea typeface="Arial"/>
                <a:cs typeface="Arial"/>
              </a:defRPr>
            </a:lvl1pPr>
            <a:lvl2pPr>
              <a:buNone/>
              <a:defRPr sz="2175" b="1">
                <a:solidFill>
                  <a:srgbClr val="176CC3"/>
                </a:solidFill>
                <a:latin typeface="Arial"/>
                <a:ea typeface="Arial"/>
                <a:cs typeface="Arial"/>
              </a:defRPr>
            </a:lvl2pPr>
            <a:lvl3pPr>
              <a:buNone/>
              <a:defRPr sz="2175" b="1">
                <a:solidFill>
                  <a:srgbClr val="176CC3"/>
                </a:solidFill>
                <a:latin typeface="Arial"/>
                <a:ea typeface="Arial"/>
                <a:cs typeface="Arial"/>
              </a:defRPr>
            </a:lvl3pPr>
            <a:lvl4pPr>
              <a:buNone/>
              <a:defRPr sz="2175" b="1">
                <a:solidFill>
                  <a:srgbClr val="176CC3"/>
                </a:solidFill>
                <a:latin typeface="Arial"/>
                <a:ea typeface="Arial"/>
                <a:cs typeface="Arial"/>
              </a:defRPr>
            </a:lvl4pPr>
            <a:lvl5pPr>
              <a:buNone/>
              <a:defRPr sz="2175" b="1">
                <a:solidFill>
                  <a:srgbClr val="176CC3"/>
                </a:solidFill>
                <a:latin typeface="Arial"/>
                <a:ea typeface="Arial"/>
                <a:cs typeface="Arial"/>
              </a:defRPr>
            </a:lvl5pPr>
            <a:lvl6pPr>
              <a:buNone/>
              <a:defRPr sz="2175" b="1">
                <a:solidFill>
                  <a:srgbClr val="176CC3"/>
                </a:solidFill>
                <a:latin typeface="Arial"/>
                <a:ea typeface="Arial"/>
                <a:cs typeface="Arial"/>
              </a:defRPr>
            </a:lvl6pPr>
            <a:lvl7pPr>
              <a:buNone/>
              <a:defRPr sz="2175" b="1">
                <a:solidFill>
                  <a:srgbClr val="176CC3"/>
                </a:solidFill>
                <a:latin typeface="Arial"/>
                <a:ea typeface="Arial"/>
                <a:cs typeface="Arial"/>
              </a:defRPr>
            </a:lvl7pPr>
            <a:lvl8pPr>
              <a:buNone/>
              <a:defRPr sz="2175" b="1">
                <a:solidFill>
                  <a:srgbClr val="176CC3"/>
                </a:solidFill>
                <a:latin typeface="Arial"/>
                <a:ea typeface="Arial"/>
                <a:cs typeface="Arial"/>
              </a:defRPr>
            </a:lvl8pPr>
            <a:lvl9pPr>
              <a:buNone/>
              <a:defRPr sz="2175" b="1">
                <a:solidFill>
                  <a:srgbClr val="176CC3"/>
                </a:solidFill>
                <a:latin typeface="Arial"/>
                <a:ea typeface="Arial"/>
                <a:cs typeface="Arial"/>
              </a:defRPr>
            </a:lvl9pPr>
          </a:lstStyle>
          <a:p>
            <a:pPr>
              <a:buNone/>
              <a:defRPr sz="2175" b="1">
                <a:solidFill>
                  <a:srgbClr val="176CC3"/>
                </a:solidFill>
                <a:latin typeface="Arial"/>
                <a:ea typeface="Arial"/>
                <a:cs typeface="Arial"/>
              </a:defRPr>
            </a:pPr>
            <a:r>
              <a:rPr sz="2175" b="1">
                <a:solidFill>
                  <a:srgbClr val="176CC3"/>
                </a:solidFill>
                <a:latin typeface="Arial" panose="020B0604020202020204" pitchFamily="34" charset="0"/>
                <a:cs typeface="Arial" panose="020B0604020202020204" pitchFamily="34" charset="0"/>
              </a:rPr>
              <a:t>Objetivo: advertir una aproximación antes del contacto</a:t>
            </a:r>
          </a:p>
          <a:p>
            <a:pPr>
              <a:buNone/>
              <a:defRPr sz="2175" b="1">
                <a:solidFill>
                  <a:srgbClr val="176CC3"/>
                </a:solidFill>
                <a:latin typeface="Arial"/>
                <a:ea typeface="Arial"/>
                <a:cs typeface="Arial"/>
              </a:defRPr>
            </a:pPr>
            <a:r>
              <a:rPr sz="2175" b="1">
                <a:solidFill>
                  <a:srgbClr val="176CC3"/>
                </a:solidFill>
                <a:latin typeface="Arial" panose="020B0604020202020204" pitchFamily="34" charset="0"/>
                <a:cs typeface="Arial" panose="020B0604020202020204" pitchFamily="34" charset="0"/>
              </a:rPr>
              <a:t>estimado con una alerta visual que apoye la decisión robótica.</a:t>
            </a:r>
          </a:p>
        </p:txBody>
      </p:sp>
      <p:pic>
        <p:nvPicPr>
          <p:cNvPr id="19" name="Imagen 18">
            <a:extLst>
              <a:ext uri="{FF2B5EF4-FFF2-40B4-BE49-F238E27FC236}">
                <a16:creationId xmlns:a16="http://schemas.microsoft.com/office/drawing/2014/main" id="{B7681DD6-A2FE-4A69-A444-D435A67C3F75}"/>
              </a:ext>
            </a:extLst>
          </p:cNvPr>
          <p:cNvPicPr>
            <a:picLocks noChangeAspect="1"/>
          </p:cNvPicPr>
          <p:nvPr/>
        </p:nvPicPr>
        <p:blipFill rotWithShape="1">
          <a:blip r:embed="rId4"/>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561798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Modelo preentrenado y prueba">
            <a:extLst>
              <a:ext uri="{FF2B5EF4-FFF2-40B4-BE49-F238E27FC236}">
                <a16:creationId xmlns:a16="http://schemas.microsoft.com/office/drawing/2014/main" id="{B2FB5B88-CB33-4B7A-B57B-4E3A3249B892}"/>
              </a:ext>
            </a:extLst>
          </p:cNvPr>
          <p:cNvSpPr>
            <a:spLocks noGrp="1"/>
          </p:cNvSpPr>
          <p:nvPr/>
        </p:nvSpPr>
        <p:spPr>
          <a:xfrm>
            <a:off x="523875" y="381000"/>
            <a:ext cx="11144250" cy="952500"/>
          </a:xfrm>
          <a:prstGeom prst="rect">
            <a:avLst/>
          </a:prstGeom>
          <a:noFill/>
          <a:ln w="0">
            <a:noFill/>
            <a:prstDash val="solid"/>
          </a:ln>
        </p:spPr>
        <p:txBody>
          <a:bodyPr lIns="0" tIns="0" rIns="0" bIns="0" anchor="t">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dirty="0">
                <a:latin typeface="Arial" panose="020B0604020202020204" pitchFamily="34" charset="0"/>
                <a:cs typeface="Arial" panose="020B0604020202020204" pitchFamily="34" charset="0"/>
              </a:rPr>
              <a:t>Dataset y </a:t>
            </a:r>
            <a:r>
              <a:rPr dirty="0" err="1">
                <a:latin typeface="Arial" panose="020B0604020202020204" pitchFamily="34" charset="0"/>
                <a:cs typeface="Arial" panose="020B0604020202020204" pitchFamily="34" charset="0"/>
              </a:rPr>
              <a:t>modelo</a:t>
            </a:r>
            <a:r>
              <a:rPr dirty="0">
                <a:latin typeface="Arial" panose="020B0604020202020204" pitchFamily="34" charset="0"/>
                <a:cs typeface="Arial" panose="020B0604020202020204" pitchFamily="34" charset="0"/>
              </a:rPr>
              <a:t> </a:t>
            </a:r>
            <a:r>
              <a:rPr dirty="0" err="1">
                <a:latin typeface="Arial" panose="020B0604020202020204" pitchFamily="34" charset="0"/>
                <a:cs typeface="Arial" panose="020B0604020202020204" pitchFamily="34" charset="0"/>
              </a:rPr>
              <a:t>preentrenado</a:t>
            </a:r>
            <a:endParaRPr dirty="0">
              <a:latin typeface="Arial" panose="020B0604020202020204" pitchFamily="34" charset="0"/>
              <a:cs typeface="Arial" panose="020B0604020202020204" pitchFamily="34" charset="0"/>
            </a:endParaRPr>
          </a:p>
        </p:txBody>
      </p:sp>
      <p:sp>
        <p:nvSpPr>
          <p:cNvPr id="2" name="27">
            <a:extLst>
              <a:ext uri="{FF2B5EF4-FFF2-40B4-BE49-F238E27FC236}">
                <a16:creationId xmlns:a16="http://schemas.microsoft.com/office/drawing/2014/main" id="{C389E0FA-CB43-43F3-87F9-37286FCE51C3}"/>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Arial" panose="020B0604020202020204" pitchFamily="34" charset="0"/>
                <a:cs typeface="Arial" panose="020B0604020202020204" pitchFamily="34" charset="0"/>
              </a:rPr>
              <a:t>03</a:t>
            </a:r>
          </a:p>
        </p:txBody>
      </p:sp>
      <p:sp>
        <p:nvSpPr>
          <p:cNvPr id="3" name="El proyecto utiliza yolo26n.">
            <a:extLst>
              <a:ext uri="{FF2B5EF4-FFF2-40B4-BE49-F238E27FC236}">
                <a16:creationId xmlns:a16="http://schemas.microsoft.com/office/drawing/2014/main" id="{028E80FC-8267-4C34-9D32-D1534EA481DB}"/>
              </a:ext>
            </a:extLst>
          </p:cNvPr>
          <p:cNvSpPr>
            <a:spLocks noGrp="1"/>
          </p:cNvSpPr>
          <p:nvPr/>
        </p:nvSpPr>
        <p:spPr>
          <a:xfrm>
            <a:off x="619125" y="15716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COCO aporta 80 categorías de objetos para el modelo preentrenado.</a:t>
            </a:r>
          </a:p>
        </p:txBody>
      </p:sp>
      <p:sp>
        <p:nvSpPr>
          <p:cNvPr id="4" name="Los pesos preentrenados de C">
            <a:extLst>
              <a:ext uri="{FF2B5EF4-FFF2-40B4-BE49-F238E27FC236}">
                <a16:creationId xmlns:a16="http://schemas.microsoft.com/office/drawing/2014/main" id="{83E310A7-7B42-4F54-A85D-3086B9499FE5}"/>
              </a:ext>
            </a:extLst>
          </p:cNvPr>
          <p:cNvSpPr>
            <a:spLocks noGrp="1"/>
          </p:cNvSpPr>
          <p:nvPr/>
        </p:nvSpPr>
        <p:spPr>
          <a:xfrm>
            <a:off x="619125" y="26003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Con 118 000 imágenes de entrenamiento y 5 000 de validación.</a:t>
            </a:r>
          </a:p>
        </p:txBody>
      </p:sp>
      <p:sp>
        <p:nvSpPr>
          <p:cNvPr id="5" name="Las pruebas incluyen video d">
            <a:extLst>
              <a:ext uri="{FF2B5EF4-FFF2-40B4-BE49-F238E27FC236}">
                <a16:creationId xmlns:a16="http://schemas.microsoft.com/office/drawing/2014/main" id="{F706FCF2-CC7D-4210-B4B3-8D8DE4C1E5AE}"/>
              </a:ext>
            </a:extLst>
          </p:cNvPr>
          <p:cNvSpPr>
            <a:spLocks noGrp="1"/>
          </p:cNvSpPr>
          <p:nvPr/>
        </p:nvSpPr>
        <p:spPr>
          <a:xfrm>
            <a:off x="619125" y="36290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Se usa yolo26n.pt y no se entrena ni etiqueta un dataset propio.</a:t>
            </a:r>
          </a:p>
        </p:txBody>
      </p:sp>
      <p:sp>
        <p:nvSpPr>
          <p:cNvPr id="6" name="Los objetos fuera de esas ca">
            <a:extLst>
              <a:ext uri="{FF2B5EF4-FFF2-40B4-BE49-F238E27FC236}">
                <a16:creationId xmlns:a16="http://schemas.microsoft.com/office/drawing/2014/main" id="{56C43B6D-2C5A-47DC-B021-1DEB7479F46E}"/>
              </a:ext>
            </a:extLst>
          </p:cNvPr>
          <p:cNvSpPr>
            <a:spLocks noGrp="1"/>
          </p:cNvSpPr>
          <p:nvPr/>
        </p:nvSpPr>
        <p:spPr>
          <a:xfrm>
            <a:off x="619125" y="46577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La variante nano responde al equilibrio buscado entre detección y velocidad.</a:t>
            </a:r>
          </a:p>
        </p:txBody>
      </p:sp>
      <p:pic>
        <p:nvPicPr>
          <p:cNvPr id="9" name="Imagen 8">
            <a:extLst>
              <a:ext uri="{FF2B5EF4-FFF2-40B4-BE49-F238E27FC236}">
                <a16:creationId xmlns:a16="http://schemas.microsoft.com/office/drawing/2014/main" id="{C51414EA-C506-440B-8683-DE0CFC6746F0}"/>
              </a:ext>
            </a:extLst>
          </p:cNvPr>
          <p:cNvPicPr>
            <a:picLocks noChangeAspect="1"/>
          </p:cNvPicPr>
          <p:nvPr/>
        </p:nvPicPr>
        <p:blipFill rotWithShape="1">
          <a:blip r:embed="rId3"/>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1212198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Metodología de validació">
            <a:extLst>
              <a:ext uri="{FF2B5EF4-FFF2-40B4-BE49-F238E27FC236}">
                <a16:creationId xmlns:a16="http://schemas.microsoft.com/office/drawing/2014/main" id="{558DE9F2-4285-4D8F-8AA9-2E89ACA6C343}"/>
              </a:ext>
            </a:extLst>
          </p:cNvPr>
          <p:cNvSpPr>
            <a:spLocks noGrp="1"/>
          </p:cNvSpPr>
          <p:nvPr/>
        </p:nvSpPr>
        <p:spPr>
          <a:xfrm>
            <a:off x="523875" y="381000"/>
            <a:ext cx="11144250" cy="952500"/>
          </a:xfrm>
          <a:prstGeom prst="rect">
            <a:avLst/>
          </a:prstGeom>
          <a:noFill/>
          <a:ln w="0">
            <a:noFill/>
            <a:prstDash val="solid"/>
          </a:ln>
        </p:spPr>
        <p:txBody>
          <a:bodyPr lIns="0" tIns="0" rIns="0" bIns="0">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a:defRPr sz="3225" b="1">
                <a:solidFill>
                  <a:srgbClr val="102A43"/>
                </a:solidFill>
                <a:latin typeface="DejaVu Sans"/>
                <a:ea typeface="DejaVu Sans"/>
                <a:cs typeface="DejaVu Sans"/>
              </a:defRPr>
            </a:pPr>
            <a:r>
              <a:rPr dirty="0" err="1">
                <a:latin typeface="Arial" panose="020B0604020202020204" pitchFamily="34" charset="0"/>
                <a:cs typeface="Arial" panose="020B0604020202020204" pitchFamily="34" charset="0"/>
              </a:rPr>
              <a:t>Metodología</a:t>
            </a:r>
            <a:r>
              <a:rPr dirty="0">
                <a:latin typeface="Arial" panose="020B0604020202020204" pitchFamily="34" charset="0"/>
                <a:cs typeface="Arial" panose="020B0604020202020204" pitchFamily="34" charset="0"/>
              </a:rPr>
              <a:t> de </a:t>
            </a:r>
            <a:r>
              <a:rPr dirty="0" err="1">
                <a:latin typeface="Arial" panose="020B0604020202020204" pitchFamily="34" charset="0"/>
                <a:cs typeface="Arial" panose="020B0604020202020204" pitchFamily="34" charset="0"/>
              </a:rPr>
              <a:t>validación</a:t>
            </a:r>
            <a:endParaRPr dirty="0">
              <a:latin typeface="Arial" panose="020B0604020202020204" pitchFamily="34" charset="0"/>
              <a:cs typeface="Arial" panose="020B0604020202020204" pitchFamily="34" charset="0"/>
            </a:endParaRPr>
          </a:p>
        </p:txBody>
      </p:sp>
      <p:sp>
        <p:nvSpPr>
          <p:cNvPr id="2" name="00">
            <a:extLst>
              <a:ext uri="{FF2B5EF4-FFF2-40B4-BE49-F238E27FC236}">
                <a16:creationId xmlns:a16="http://schemas.microsoft.com/office/drawing/2014/main" id="{E34CFE65-A403-4485-AE00-C99BEDB8A4B5}"/>
              </a:ext>
            </a:extLst>
          </p:cNvPr>
          <p:cNvSpPr>
            <a:spLocks noGrp="1"/>
          </p:cNvSpPr>
          <p:nvPr/>
        </p:nvSpPr>
        <p:spPr>
          <a:xfrm>
            <a:off x="11144250" y="6438900"/>
            <a:ext cx="523875" cy="228600"/>
          </a:xfrm>
          <a:prstGeom prst="rect">
            <a:avLst/>
          </a:prstGeom>
          <a:noFill/>
          <a:ln w="0">
            <a:noFill/>
            <a:prstDash val="solid"/>
          </a:ln>
        </p:spPr>
        <p:txBody>
          <a:bodyPr lIns="0" tIns="0" rIns="0" bIns="0">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Arial" panose="020B0604020202020204" pitchFamily="34" charset="0"/>
                <a:cs typeface="Arial" panose="020B0604020202020204" pitchFamily="34" charset="0"/>
              </a:rPr>
              <a:t>04</a:t>
            </a:r>
          </a:p>
        </p:txBody>
      </p:sp>
      <p:graphicFrame>
        <p:nvGraphicFramePr>
          <p:cNvPr id="3" name="Tabla 2">
            <a:extLst>
              <a:ext uri="{FF2B5EF4-FFF2-40B4-BE49-F238E27FC236}">
                <a16:creationId xmlns:a16="http://schemas.microsoft.com/office/drawing/2014/main" id="{DED43508-9797-4508-92D1-0215106C1048}"/>
              </a:ext>
            </a:extLst>
          </p:cNvPr>
          <p:cNvGraphicFramePr/>
          <p:nvPr/>
        </p:nvGraphicFramePr>
        <p:xfrm>
          <a:off x="571500" y="1666875"/>
          <a:ext cx="11049000" cy="3238500"/>
        </p:xfrm>
        <a:graphic>
          <a:graphicData uri="http://schemas.openxmlformats.org/drawingml/2006/table">
            <a:tbl>
              <a:tblPr/>
              <a:tblGrid>
                <a:gridCol w="5429250">
                  <a:extLst>
                    <a:ext uri="{9D8B030D-6E8A-4147-A177-3AD203B41FA5}">
                      <a16:colId xmlns:a16="http://schemas.microsoft.com/office/drawing/2014/main" val="20000"/>
                    </a:ext>
                  </a:extLst>
                </a:gridCol>
                <a:gridCol w="5619750">
                  <a:extLst>
                    <a:ext uri="{9D8B030D-6E8A-4147-A177-3AD203B41FA5}">
                      <a16:colId xmlns:a16="http://schemas.microsoft.com/office/drawing/2014/main" val="20001"/>
                    </a:ext>
                  </a:extLst>
                </a:gridCol>
              </a:tblGrid>
              <a:tr h="647700">
                <a:tc>
                  <a:txBody>
                    <a:bodyPr/>
                    <a:lstStyle/>
                    <a:p>
                      <a:r>
                        <a:rPr sz="1725" b="1">
                          <a:solidFill>
                            <a:srgbClr val="FFFFFF"/>
                          </a:solidFill>
                          <a:latin typeface="DejaVu Sans"/>
                          <a:ea typeface="DejaVu Sans"/>
                          <a:cs typeface="DejaVu Sans"/>
                        </a:rPr>
                        <a:t>Prueba descrita</a:t>
                      </a:r>
                    </a:p>
                  </a:txBody>
                  <a:tcPr>
                    <a:lnL w="9525">
                      <a:solidFill>
                        <a:srgbClr val="D4DEE5"/>
                      </a:solidFill>
                      <a:prstDash val="solid"/>
                    </a:lnL>
                    <a:lnR w="9525">
                      <a:solidFill>
                        <a:srgbClr val="D4DEE5"/>
                      </a:solidFill>
                      <a:prstDash val="solid"/>
                    </a:lnR>
                    <a:lnT w="9525">
                      <a:solidFill>
                        <a:srgbClr val="D4DEE5"/>
                      </a:solidFill>
                      <a:prstDash val="solid"/>
                    </a:lnT>
                    <a:lnB w="9525">
                      <a:solidFill>
                        <a:srgbClr val="D4DEE5"/>
                      </a:solidFill>
                      <a:prstDash val="solid"/>
                    </a:lnB>
                    <a:solidFill>
                      <a:srgbClr val="102A43"/>
                    </a:solidFill>
                  </a:tcPr>
                </a:tc>
                <a:tc>
                  <a:txBody>
                    <a:bodyPr/>
                    <a:lstStyle/>
                    <a:p>
                      <a:r>
                        <a:rPr sz="1725" b="1">
                          <a:solidFill>
                            <a:srgbClr val="FFFFFF"/>
                          </a:solidFill>
                          <a:latin typeface="DejaVu Sans"/>
                          <a:ea typeface="DejaVu Sans"/>
                          <a:cs typeface="DejaVu Sans"/>
                        </a:rPr>
                        <a:t>Qué se observa</a:t>
                      </a:r>
                    </a:p>
                  </a:txBody>
                  <a:tcPr>
                    <a:lnL w="9525" cmpd="sng">
                      <a:solidFill>
                        <a:srgbClr val="D4DEE5"/>
                      </a:solidFill>
                      <a:prstDash val="solid"/>
                    </a:lnL>
                    <a:lnR w="9525">
                      <a:solidFill>
                        <a:srgbClr val="D4DEE5"/>
                      </a:solidFill>
                      <a:prstDash val="solid"/>
                    </a:lnR>
                    <a:lnT w="9525">
                      <a:solidFill>
                        <a:srgbClr val="D4DEE5"/>
                      </a:solidFill>
                      <a:prstDash val="solid"/>
                    </a:lnT>
                    <a:lnB w="9525">
                      <a:solidFill>
                        <a:srgbClr val="D4DEE5"/>
                      </a:solidFill>
                      <a:prstDash val="solid"/>
                    </a:lnB>
                    <a:solidFill>
                      <a:srgbClr val="102A43"/>
                    </a:solidFill>
                  </a:tcPr>
                </a:tc>
                <a:extLst>
                  <a:ext uri="{0D108BD9-81ED-4DB2-BD59-A6C34878D82A}">
                    <a16:rowId xmlns:a16="http://schemas.microsoft.com/office/drawing/2014/main" val="10000"/>
                  </a:ext>
                </a:extLst>
              </a:tr>
              <a:tr h="647700">
                <a:tc>
                  <a:txBody>
                    <a:bodyPr/>
                    <a:lstStyle/>
                    <a:p>
                      <a:r>
                        <a:rPr sz="1725" b="0">
                          <a:solidFill>
                            <a:srgbClr val="102A43"/>
                          </a:solidFill>
                          <a:latin typeface="DejaVu Sans"/>
                          <a:ea typeface="DejaVu Sans"/>
                          <a:cs typeface="DejaVu Sans"/>
                        </a:rPr>
                        <a:t>Video en primera persona del almacén</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tc>
                  <a:txBody>
                    <a:bodyPr/>
                    <a:lstStyle/>
                    <a:p>
                      <a:r>
                        <a:rPr sz="1725" b="0">
                          <a:solidFill>
                            <a:srgbClr val="102A43"/>
                          </a:solidFill>
                          <a:latin typeface="DejaVu Sans"/>
                          <a:ea typeface="DejaVu Sans"/>
                          <a:cs typeface="DejaVu Sans"/>
                        </a:rPr>
                        <a:t>Personas, trayectorias y aproximaciones.</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725" b="0">
                          <a:solidFill>
                            <a:srgbClr val="102A43"/>
                          </a:solidFill>
                          <a:latin typeface="DejaVu Sans"/>
                          <a:ea typeface="DejaVu Sans"/>
                          <a:cs typeface="DejaVu Sans"/>
                        </a:rPr>
                        <a:t>Cámara web frente a un automóvil</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tc>
                  <a:txBody>
                    <a:bodyPr/>
                    <a:lstStyle/>
                    <a:p>
                      <a:r>
                        <a:rPr sz="1725" b="0">
                          <a:solidFill>
                            <a:srgbClr val="102A43"/>
                          </a:solidFill>
                          <a:latin typeface="DejaVu Sans"/>
                          <a:ea typeface="DejaVu Sans"/>
                          <a:cs typeface="DejaVu Sans"/>
                        </a:rPr>
                        <a:t>Expansión de la caja y activación de alerta.</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extLst>
                  <a:ext uri="{0D108BD9-81ED-4DB2-BD59-A6C34878D82A}">
                    <a16:rowId xmlns:a16="http://schemas.microsoft.com/office/drawing/2014/main" val="10002"/>
                  </a:ext>
                </a:extLst>
              </a:tr>
              <a:tr h="647700">
                <a:tc>
                  <a:txBody>
                    <a:bodyPr/>
                    <a:lstStyle/>
                    <a:p>
                      <a:r>
                        <a:rPr sz="1725" b="0">
                          <a:solidFill>
                            <a:srgbClr val="102A43"/>
                          </a:solidFill>
                          <a:latin typeface="DejaVu Sans"/>
                          <a:ea typeface="DejaVu Sans"/>
                          <a:cs typeface="DejaVu Sans"/>
                        </a:rPr>
                        <a:t>Cámara web con objetos de mano</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tc>
                  <a:txBody>
                    <a:bodyPr/>
                    <a:lstStyle/>
                    <a:p>
                      <a:r>
                        <a:rPr sz="1725" b="0">
                          <a:solidFill>
                            <a:srgbClr val="102A43"/>
                          </a:solidFill>
                          <a:latin typeface="DejaVu Sans"/>
                          <a:ea typeface="DejaVu Sans"/>
                          <a:cs typeface="DejaVu Sans"/>
                        </a:rPr>
                        <a:t>Respuesta ante aproximación cercana.</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725" b="0">
                          <a:solidFill>
                            <a:srgbClr val="102A43"/>
                          </a:solidFill>
                          <a:latin typeface="DejaVu Sans"/>
                          <a:ea typeface="DejaVu Sans"/>
                          <a:cs typeface="DejaVu Sans"/>
                        </a:rPr>
                        <a:t>Comparación de resoluciones</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tc>
                  <a:txBody>
                    <a:bodyPr/>
                    <a:lstStyle/>
                    <a:p>
                      <a:r>
                        <a:rPr sz="1725" b="0">
                          <a:solidFill>
                            <a:srgbClr val="102A43"/>
                          </a:solidFill>
                          <a:latin typeface="DejaVu Sans"/>
                          <a:ea typeface="DejaVu Sans"/>
                          <a:cs typeface="DejaVu Sans"/>
                        </a:rPr>
                        <a:t>FPS de captura y procesamiento.</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extLst>
                  <a:ext uri="{0D108BD9-81ED-4DB2-BD59-A6C34878D82A}">
                    <a16:rowId xmlns:a16="http://schemas.microsoft.com/office/drawing/2014/main" val="10004"/>
                  </a:ext>
                </a:extLst>
              </a:tr>
            </a:tbl>
          </a:graphicData>
        </a:graphic>
      </p:graphicFrame>
      <p:sp>
        <p:nvSpPr>
          <p:cNvPr id="4" name="El video procesado aport">
            <a:extLst>
              <a:ext uri="{FF2B5EF4-FFF2-40B4-BE49-F238E27FC236}">
                <a16:creationId xmlns:a16="http://schemas.microsoft.com/office/drawing/2014/main" id="{0AE1F081-9D5F-425B-B07A-0D44E866B508}"/>
              </a:ext>
            </a:extLst>
          </p:cNvPr>
          <p:cNvSpPr>
            <a:spLocks noGrp="1"/>
          </p:cNvSpPr>
          <p:nvPr/>
        </p:nvSpPr>
        <p:spPr>
          <a:xfrm>
            <a:off x="619125" y="5381625"/>
            <a:ext cx="10858500" cy="762000"/>
          </a:xfrm>
          <a:prstGeom prst="rect">
            <a:avLst/>
          </a:prstGeom>
          <a:noFill/>
          <a:ln w="0">
            <a:noFill/>
            <a:prstDash val="solid"/>
          </a:ln>
        </p:spPr>
        <p:txBody>
          <a:bodyPr lIns="0" tIns="0" rIns="0" bIns="0">
            <a:noAutofit/>
          </a:bodyPr>
          <a:lstStyle>
            <a:defPPr>
              <a:defRPr sz="2100" b="1">
                <a:solidFill>
                  <a:srgbClr val="007F86"/>
                </a:solidFill>
                <a:latin typeface="DejaVu Sans"/>
                <a:ea typeface="DejaVu Sans"/>
                <a:cs typeface="DejaVu Sans"/>
              </a:defRPr>
            </a:defPPr>
            <a:lvl1pPr>
              <a:buNone/>
              <a:defRPr sz="2100" b="1">
                <a:solidFill>
                  <a:srgbClr val="007F86"/>
                </a:solidFill>
                <a:latin typeface="DejaVu Sans"/>
                <a:ea typeface="DejaVu Sans"/>
                <a:cs typeface="DejaVu Sans"/>
              </a:defRPr>
            </a:lvl1pPr>
            <a:lvl2pPr>
              <a:buNone/>
              <a:defRPr sz="2100" b="1">
                <a:solidFill>
                  <a:srgbClr val="007F86"/>
                </a:solidFill>
                <a:latin typeface="DejaVu Sans"/>
                <a:ea typeface="DejaVu Sans"/>
                <a:cs typeface="DejaVu Sans"/>
              </a:defRPr>
            </a:lvl2pPr>
            <a:lvl3pPr>
              <a:buNone/>
              <a:defRPr sz="2100" b="1">
                <a:solidFill>
                  <a:srgbClr val="007F86"/>
                </a:solidFill>
                <a:latin typeface="DejaVu Sans"/>
                <a:ea typeface="DejaVu Sans"/>
                <a:cs typeface="DejaVu Sans"/>
              </a:defRPr>
            </a:lvl3pPr>
            <a:lvl4pPr>
              <a:buNone/>
              <a:defRPr sz="2100" b="1">
                <a:solidFill>
                  <a:srgbClr val="007F86"/>
                </a:solidFill>
                <a:latin typeface="DejaVu Sans"/>
                <a:ea typeface="DejaVu Sans"/>
                <a:cs typeface="DejaVu Sans"/>
              </a:defRPr>
            </a:lvl4pPr>
            <a:lvl5pPr>
              <a:buNone/>
              <a:defRPr sz="2100" b="1">
                <a:solidFill>
                  <a:srgbClr val="007F86"/>
                </a:solidFill>
                <a:latin typeface="DejaVu Sans"/>
                <a:ea typeface="DejaVu Sans"/>
                <a:cs typeface="DejaVu Sans"/>
              </a:defRPr>
            </a:lvl5pPr>
            <a:lvl6pPr>
              <a:buNone/>
              <a:defRPr sz="2100" b="1">
                <a:solidFill>
                  <a:srgbClr val="007F86"/>
                </a:solidFill>
                <a:latin typeface="DejaVu Sans"/>
                <a:ea typeface="DejaVu Sans"/>
                <a:cs typeface="DejaVu Sans"/>
              </a:defRPr>
            </a:lvl6pPr>
            <a:lvl7pPr>
              <a:buNone/>
              <a:defRPr sz="2100" b="1">
                <a:solidFill>
                  <a:srgbClr val="007F86"/>
                </a:solidFill>
                <a:latin typeface="DejaVu Sans"/>
                <a:ea typeface="DejaVu Sans"/>
                <a:cs typeface="DejaVu Sans"/>
              </a:defRPr>
            </a:lvl7pPr>
            <a:lvl8pPr>
              <a:buNone/>
              <a:defRPr sz="2100" b="1">
                <a:solidFill>
                  <a:srgbClr val="007F86"/>
                </a:solidFill>
                <a:latin typeface="DejaVu Sans"/>
                <a:ea typeface="DejaVu Sans"/>
                <a:cs typeface="DejaVu Sans"/>
              </a:defRPr>
            </a:lvl8pPr>
            <a:lvl9pPr>
              <a:buNone/>
              <a:defRPr sz="2100" b="1">
                <a:solidFill>
                  <a:srgbClr val="007F86"/>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00" b="1">
                <a:solidFill>
                  <a:srgbClr val="007F86"/>
                </a:solidFill>
                <a:latin typeface="DejaVu Sans"/>
                <a:ea typeface="DejaVu Sans"/>
                <a:cs typeface="DejaVu Sans"/>
              </a:defRPr>
            </a:pPr>
            <a:r>
              <a:rPr sz="2100" b="1" i="0" u="none" strike="noStrike" cap="none" spc="0" baseline="0">
                <a:ln>
                  <a:noFill/>
                </a:ln>
                <a:solidFill>
                  <a:srgbClr val="007F86"/>
                </a:solidFill>
                <a:latin typeface="Arial" panose="020B0604020202020204" pitchFamily="34" charset="0"/>
                <a:cs typeface="Arial" panose="020B0604020202020204" pitchFamily="34" charset="0"/>
              </a:rPr>
              <a:t>Ensayo ONLINE: alrededor de 22 FPS con captura a 640 × 480.</a:t>
            </a:r>
          </a:p>
        </p:txBody>
      </p:sp>
      <p:pic>
        <p:nvPicPr>
          <p:cNvPr id="7" name="Imagen 6">
            <a:extLst>
              <a:ext uri="{FF2B5EF4-FFF2-40B4-BE49-F238E27FC236}">
                <a16:creationId xmlns:a16="http://schemas.microsoft.com/office/drawing/2014/main" id="{19C76B86-E5B8-4607-B50F-E7A4EA228B9C}"/>
              </a:ext>
            </a:extLst>
          </p:cNvPr>
          <p:cNvPicPr>
            <a:picLocks noChangeAspect="1"/>
          </p:cNvPicPr>
          <p:nvPr/>
        </p:nvPicPr>
        <p:blipFill rotWithShape="1">
          <a:blip r:embed="rId3"/>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1917782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Implementación y herrami">
            <a:extLst>
              <a:ext uri="{FF2B5EF4-FFF2-40B4-BE49-F238E27FC236}">
                <a16:creationId xmlns:a16="http://schemas.microsoft.com/office/drawing/2014/main" id="{B18AB9BF-D5E6-4D57-B053-97D8F15B5445}"/>
              </a:ext>
            </a:extLst>
          </p:cNvPr>
          <p:cNvSpPr>
            <a:spLocks noGrp="1"/>
          </p:cNvSpPr>
          <p:nvPr/>
        </p:nvSpPr>
        <p:spPr>
          <a:xfrm>
            <a:off x="523875" y="381000"/>
            <a:ext cx="11144250" cy="952500"/>
          </a:xfrm>
          <a:prstGeom prst="rect">
            <a:avLst/>
          </a:prstGeom>
          <a:noFill/>
          <a:ln w="0">
            <a:noFill/>
            <a:prstDash val="solid"/>
          </a:ln>
        </p:spPr>
        <p:txBody>
          <a:bodyPr lIns="0" tIns="0" rIns="0" bIns="0">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a:ln>
                  <a:noFill/>
                </a:ln>
                <a:solidFill>
                  <a:srgbClr val="102A43"/>
                </a:solidFill>
                <a:latin typeface="Arial" panose="020B0604020202020204" pitchFamily="34" charset="0"/>
                <a:cs typeface="Arial" panose="020B0604020202020204" pitchFamily="34" charset="0"/>
              </a:rPr>
              <a:t>Implementación y herramientas</a:t>
            </a:r>
          </a:p>
        </p:txBody>
      </p:sp>
      <p:sp>
        <p:nvSpPr>
          <p:cNvPr id="2" name="00">
            <a:extLst>
              <a:ext uri="{FF2B5EF4-FFF2-40B4-BE49-F238E27FC236}">
                <a16:creationId xmlns:a16="http://schemas.microsoft.com/office/drawing/2014/main" id="{99DF7393-B4C9-49A9-A6C8-60191EAB7C9E}"/>
              </a:ext>
            </a:extLst>
          </p:cNvPr>
          <p:cNvSpPr>
            <a:spLocks noGrp="1"/>
          </p:cNvSpPr>
          <p:nvPr/>
        </p:nvSpPr>
        <p:spPr>
          <a:xfrm>
            <a:off x="11144250" y="6438900"/>
            <a:ext cx="523875" cy="228600"/>
          </a:xfrm>
          <a:prstGeom prst="rect">
            <a:avLst/>
          </a:prstGeom>
          <a:noFill/>
          <a:ln w="0">
            <a:noFill/>
            <a:prstDash val="solid"/>
          </a:ln>
        </p:spPr>
        <p:txBody>
          <a:bodyPr lIns="0" tIns="0" rIns="0" bIns="0">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DejaVu Sans"/>
                <a:ea typeface="DejaVu Sans"/>
                <a:cs typeface="DejaVu Sans"/>
              </a:rPr>
              <a:t>05</a:t>
            </a:r>
          </a:p>
        </p:txBody>
      </p:sp>
      <p:graphicFrame>
        <p:nvGraphicFramePr>
          <p:cNvPr id="3" name="Tabla 2">
            <a:extLst>
              <a:ext uri="{FF2B5EF4-FFF2-40B4-BE49-F238E27FC236}">
                <a16:creationId xmlns:a16="http://schemas.microsoft.com/office/drawing/2014/main" id="{65A5CBE3-477C-42C1-A11A-BB25290D8962}"/>
              </a:ext>
            </a:extLst>
          </p:cNvPr>
          <p:cNvGraphicFramePr/>
          <p:nvPr>
            <p:extLst>
              <p:ext uri="{D42A27DB-BD31-4B8C-83A1-F6EECF244321}">
                <p14:modId xmlns:p14="http://schemas.microsoft.com/office/powerpoint/2010/main" val="1287889289"/>
              </p:ext>
            </p:extLst>
          </p:nvPr>
        </p:nvGraphicFramePr>
        <p:xfrm>
          <a:off x="571500" y="1666875"/>
          <a:ext cx="11049000" cy="3524250"/>
        </p:xfrm>
        <a:graphic>
          <a:graphicData uri="http://schemas.openxmlformats.org/drawingml/2006/table">
            <a:tbl>
              <a:tblPr/>
              <a:tblGrid>
                <a:gridCol w="3333750">
                  <a:extLst>
                    <a:ext uri="{9D8B030D-6E8A-4147-A177-3AD203B41FA5}">
                      <a16:colId xmlns:a16="http://schemas.microsoft.com/office/drawing/2014/main" val="20000"/>
                    </a:ext>
                  </a:extLst>
                </a:gridCol>
                <a:gridCol w="7715250">
                  <a:extLst>
                    <a:ext uri="{9D8B030D-6E8A-4147-A177-3AD203B41FA5}">
                      <a16:colId xmlns:a16="http://schemas.microsoft.com/office/drawing/2014/main" val="20001"/>
                    </a:ext>
                  </a:extLst>
                </a:gridCol>
              </a:tblGrid>
              <a:tr h="587375">
                <a:tc>
                  <a:txBody>
                    <a:bodyPr/>
                    <a:lstStyle/>
                    <a:p>
                      <a:r>
                        <a:rPr sz="1725" b="1">
                          <a:solidFill>
                            <a:srgbClr val="FFFFFF"/>
                          </a:solidFill>
                          <a:latin typeface="DejaVu Sans"/>
                          <a:ea typeface="DejaVu Sans"/>
                          <a:cs typeface="DejaVu Sans"/>
                        </a:rPr>
                        <a:t>Herramienta</a:t>
                      </a:r>
                    </a:p>
                  </a:txBody>
                  <a:tcPr>
                    <a:lnL w="9525">
                      <a:solidFill>
                        <a:srgbClr val="D4DEE5"/>
                      </a:solidFill>
                      <a:prstDash val="solid"/>
                    </a:lnL>
                    <a:lnR w="9525">
                      <a:solidFill>
                        <a:srgbClr val="D4DEE5"/>
                      </a:solidFill>
                      <a:prstDash val="solid"/>
                    </a:lnR>
                    <a:lnT w="9525">
                      <a:solidFill>
                        <a:srgbClr val="D4DEE5"/>
                      </a:solidFill>
                      <a:prstDash val="solid"/>
                    </a:lnT>
                    <a:lnB w="9525">
                      <a:solidFill>
                        <a:srgbClr val="D4DEE5"/>
                      </a:solidFill>
                      <a:prstDash val="solid"/>
                    </a:lnB>
                    <a:solidFill>
                      <a:srgbClr val="102A43"/>
                    </a:solidFill>
                  </a:tcPr>
                </a:tc>
                <a:tc>
                  <a:txBody>
                    <a:bodyPr/>
                    <a:lstStyle/>
                    <a:p>
                      <a:r>
                        <a:rPr sz="1725" b="1">
                          <a:solidFill>
                            <a:srgbClr val="FFFFFF"/>
                          </a:solidFill>
                          <a:latin typeface="DejaVu Sans"/>
                          <a:ea typeface="DejaVu Sans"/>
                          <a:cs typeface="DejaVu Sans"/>
                        </a:rPr>
                        <a:t>Responsabilidad en el programa</a:t>
                      </a:r>
                    </a:p>
                  </a:txBody>
                  <a:tcPr>
                    <a:lnL w="9525" cmpd="sng">
                      <a:solidFill>
                        <a:srgbClr val="D4DEE5"/>
                      </a:solidFill>
                      <a:prstDash val="solid"/>
                    </a:lnL>
                    <a:lnR w="9525">
                      <a:solidFill>
                        <a:srgbClr val="D4DEE5"/>
                      </a:solidFill>
                      <a:prstDash val="solid"/>
                    </a:lnR>
                    <a:lnT w="9525">
                      <a:solidFill>
                        <a:srgbClr val="D4DEE5"/>
                      </a:solidFill>
                      <a:prstDash val="solid"/>
                    </a:lnT>
                    <a:lnB w="9525">
                      <a:solidFill>
                        <a:srgbClr val="D4DEE5"/>
                      </a:solidFill>
                      <a:prstDash val="solid"/>
                    </a:lnB>
                    <a:solidFill>
                      <a:srgbClr val="102A43"/>
                    </a:solidFill>
                  </a:tcPr>
                </a:tc>
                <a:extLst>
                  <a:ext uri="{0D108BD9-81ED-4DB2-BD59-A6C34878D82A}">
                    <a16:rowId xmlns:a16="http://schemas.microsoft.com/office/drawing/2014/main" val="10000"/>
                  </a:ext>
                </a:extLst>
              </a:tr>
              <a:tr h="587375">
                <a:tc>
                  <a:txBody>
                    <a:bodyPr/>
                    <a:lstStyle/>
                    <a:p>
                      <a:r>
                        <a:rPr sz="1725" b="0">
                          <a:solidFill>
                            <a:srgbClr val="102A43"/>
                          </a:solidFill>
                          <a:latin typeface="DejaVu Sans"/>
                          <a:ea typeface="DejaVu Sans"/>
                          <a:cs typeface="DejaVu Sans"/>
                        </a:rPr>
                        <a:t>Python</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tc>
                  <a:txBody>
                    <a:bodyPr/>
                    <a:lstStyle/>
                    <a:p>
                      <a:r>
                        <a:rPr sz="1725" b="0">
                          <a:solidFill>
                            <a:srgbClr val="102A43"/>
                          </a:solidFill>
                          <a:latin typeface="DejaVu Sans"/>
                          <a:ea typeface="DejaVu Sans"/>
                          <a:cs typeface="DejaVu Sans"/>
                        </a:rPr>
                        <a:t>Organiza la lógica y las estructuras de datos.</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extLst>
                  <a:ext uri="{0D108BD9-81ED-4DB2-BD59-A6C34878D82A}">
                    <a16:rowId xmlns:a16="http://schemas.microsoft.com/office/drawing/2014/main" val="10001"/>
                  </a:ext>
                </a:extLst>
              </a:tr>
              <a:tr h="587375">
                <a:tc>
                  <a:txBody>
                    <a:bodyPr/>
                    <a:lstStyle/>
                    <a:p>
                      <a:r>
                        <a:rPr sz="1725" b="0">
                          <a:solidFill>
                            <a:srgbClr val="102A43"/>
                          </a:solidFill>
                          <a:latin typeface="DejaVu Sans"/>
                          <a:ea typeface="DejaVu Sans"/>
                          <a:cs typeface="DejaVu Sans"/>
                        </a:rPr>
                        <a:t>Ultralytics</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tc>
                  <a:txBody>
                    <a:bodyPr/>
                    <a:lstStyle/>
                    <a:p>
                      <a:r>
                        <a:rPr sz="1725" b="0">
                          <a:solidFill>
                            <a:srgbClr val="102A43"/>
                          </a:solidFill>
                          <a:latin typeface="DejaVu Sans"/>
                          <a:ea typeface="DejaVu Sans"/>
                          <a:cs typeface="DejaVu Sans"/>
                        </a:rPr>
                        <a:t>Carga YOLO y ejecuta track().</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extLst>
                  <a:ext uri="{0D108BD9-81ED-4DB2-BD59-A6C34878D82A}">
                    <a16:rowId xmlns:a16="http://schemas.microsoft.com/office/drawing/2014/main" val="10002"/>
                  </a:ext>
                </a:extLst>
              </a:tr>
              <a:tr h="587375">
                <a:tc>
                  <a:txBody>
                    <a:bodyPr/>
                    <a:lstStyle/>
                    <a:p>
                      <a:r>
                        <a:rPr sz="1725" b="0">
                          <a:solidFill>
                            <a:srgbClr val="102A43"/>
                          </a:solidFill>
                          <a:latin typeface="DejaVu Sans"/>
                          <a:ea typeface="DejaVu Sans"/>
                          <a:cs typeface="DejaVu Sans"/>
                        </a:rPr>
                        <a:t>NumPy</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tc>
                  <a:txBody>
                    <a:bodyPr/>
                    <a:lstStyle/>
                    <a:p>
                      <a:r>
                        <a:rPr sz="1725" b="0">
                          <a:solidFill>
                            <a:srgbClr val="102A43"/>
                          </a:solidFill>
                          <a:latin typeface="DejaVu Sans"/>
                          <a:ea typeface="DejaVu Sans"/>
                          <a:cs typeface="DejaVu Sans"/>
                        </a:rPr>
                        <a:t>Calcula pendientes y opera sobre coordenadas.</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extLst>
                  <a:ext uri="{0D108BD9-81ED-4DB2-BD59-A6C34878D82A}">
                    <a16:rowId xmlns:a16="http://schemas.microsoft.com/office/drawing/2014/main" val="10003"/>
                  </a:ext>
                </a:extLst>
              </a:tr>
              <a:tr h="587375">
                <a:tc>
                  <a:txBody>
                    <a:bodyPr/>
                    <a:lstStyle/>
                    <a:p>
                      <a:r>
                        <a:rPr sz="1725" b="0">
                          <a:solidFill>
                            <a:srgbClr val="102A43"/>
                          </a:solidFill>
                          <a:latin typeface="DejaVu Sans"/>
                          <a:ea typeface="DejaVu Sans"/>
                          <a:cs typeface="DejaVu Sans"/>
                        </a:rPr>
                        <a:t>OpenCV</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tc>
                  <a:txBody>
                    <a:bodyPr/>
                    <a:lstStyle/>
                    <a:p>
                      <a:r>
                        <a:rPr sz="1725" b="0">
                          <a:solidFill>
                            <a:srgbClr val="102A43"/>
                          </a:solidFill>
                          <a:latin typeface="DejaVu Sans"/>
                          <a:ea typeface="DejaVu Sans"/>
                          <a:cs typeface="DejaVu Sans"/>
                        </a:rPr>
                        <a:t>Maneja imágenes, anotaciones y ventanas.</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extLst>
                  <a:ext uri="{0D108BD9-81ED-4DB2-BD59-A6C34878D82A}">
                    <a16:rowId xmlns:a16="http://schemas.microsoft.com/office/drawing/2014/main" val="10004"/>
                  </a:ext>
                </a:extLst>
              </a:tr>
              <a:tr h="587375">
                <a:tc>
                  <a:txBody>
                    <a:bodyPr/>
                    <a:lstStyle/>
                    <a:p>
                      <a:r>
                        <a:rPr sz="1725" b="0">
                          <a:solidFill>
                            <a:srgbClr val="102A43"/>
                          </a:solidFill>
                          <a:latin typeface="DejaVu Sans"/>
                          <a:ea typeface="DejaVu Sans"/>
                          <a:cs typeface="DejaVu Sans"/>
                        </a:rPr>
                        <a:t>lap</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tc>
                  <a:txBody>
                    <a:bodyPr/>
                    <a:lstStyle/>
                    <a:p>
                      <a:r>
                        <a:rPr sz="1725" b="0">
                          <a:solidFill>
                            <a:srgbClr val="102A43"/>
                          </a:solidFill>
                          <a:latin typeface="DejaVu Sans"/>
                          <a:ea typeface="DejaVu Sans"/>
                          <a:cs typeface="DejaVu Sans"/>
                        </a:rPr>
                        <a:t>Apoya la asociación de detecciones del tracker.</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Los siguientes bloques r">
            <a:extLst>
              <a:ext uri="{FF2B5EF4-FFF2-40B4-BE49-F238E27FC236}">
                <a16:creationId xmlns:a16="http://schemas.microsoft.com/office/drawing/2014/main" id="{907C36DA-B031-4C78-965F-0DB56375EFDB}"/>
              </a:ext>
            </a:extLst>
          </p:cNvPr>
          <p:cNvSpPr>
            <a:spLocks noGrp="1"/>
          </p:cNvSpPr>
          <p:nvPr/>
        </p:nvSpPr>
        <p:spPr>
          <a:xfrm>
            <a:off x="619125" y="5524500"/>
            <a:ext cx="10858500" cy="619125"/>
          </a:xfrm>
          <a:prstGeom prst="rect">
            <a:avLst/>
          </a:prstGeom>
          <a:noFill/>
          <a:ln w="0">
            <a:noFill/>
            <a:prstDash val="solid"/>
          </a:ln>
        </p:spPr>
        <p:txBody>
          <a:bodyPr lIns="0" tIns="0" rIns="0" bIns="0">
            <a:noAutofit/>
          </a:bodyPr>
          <a:lstStyle>
            <a:defPPr>
              <a:defRPr sz="2100" b="1">
                <a:solidFill>
                  <a:srgbClr val="007F86"/>
                </a:solidFill>
                <a:latin typeface="DejaVu Sans"/>
                <a:ea typeface="DejaVu Sans"/>
                <a:cs typeface="DejaVu Sans"/>
              </a:defRPr>
            </a:defPPr>
            <a:lvl1pPr>
              <a:buNone/>
              <a:defRPr sz="2100" b="1">
                <a:solidFill>
                  <a:srgbClr val="007F86"/>
                </a:solidFill>
                <a:latin typeface="DejaVu Sans"/>
                <a:ea typeface="DejaVu Sans"/>
                <a:cs typeface="DejaVu Sans"/>
              </a:defRPr>
            </a:lvl1pPr>
            <a:lvl2pPr>
              <a:buNone/>
              <a:defRPr sz="2100" b="1">
                <a:solidFill>
                  <a:srgbClr val="007F86"/>
                </a:solidFill>
                <a:latin typeface="DejaVu Sans"/>
                <a:ea typeface="DejaVu Sans"/>
                <a:cs typeface="DejaVu Sans"/>
              </a:defRPr>
            </a:lvl2pPr>
            <a:lvl3pPr>
              <a:buNone/>
              <a:defRPr sz="2100" b="1">
                <a:solidFill>
                  <a:srgbClr val="007F86"/>
                </a:solidFill>
                <a:latin typeface="DejaVu Sans"/>
                <a:ea typeface="DejaVu Sans"/>
                <a:cs typeface="DejaVu Sans"/>
              </a:defRPr>
            </a:lvl3pPr>
            <a:lvl4pPr>
              <a:buNone/>
              <a:defRPr sz="2100" b="1">
                <a:solidFill>
                  <a:srgbClr val="007F86"/>
                </a:solidFill>
                <a:latin typeface="DejaVu Sans"/>
                <a:ea typeface="DejaVu Sans"/>
                <a:cs typeface="DejaVu Sans"/>
              </a:defRPr>
            </a:lvl4pPr>
            <a:lvl5pPr>
              <a:buNone/>
              <a:defRPr sz="2100" b="1">
                <a:solidFill>
                  <a:srgbClr val="007F86"/>
                </a:solidFill>
                <a:latin typeface="DejaVu Sans"/>
                <a:ea typeface="DejaVu Sans"/>
                <a:cs typeface="DejaVu Sans"/>
              </a:defRPr>
            </a:lvl5pPr>
            <a:lvl6pPr>
              <a:buNone/>
              <a:defRPr sz="2100" b="1">
                <a:solidFill>
                  <a:srgbClr val="007F86"/>
                </a:solidFill>
                <a:latin typeface="DejaVu Sans"/>
                <a:ea typeface="DejaVu Sans"/>
                <a:cs typeface="DejaVu Sans"/>
              </a:defRPr>
            </a:lvl6pPr>
            <a:lvl7pPr>
              <a:buNone/>
              <a:defRPr sz="2100" b="1">
                <a:solidFill>
                  <a:srgbClr val="007F86"/>
                </a:solidFill>
                <a:latin typeface="DejaVu Sans"/>
                <a:ea typeface="DejaVu Sans"/>
                <a:cs typeface="DejaVu Sans"/>
              </a:defRPr>
            </a:lvl7pPr>
            <a:lvl8pPr>
              <a:buNone/>
              <a:defRPr sz="2100" b="1">
                <a:solidFill>
                  <a:srgbClr val="007F86"/>
                </a:solidFill>
                <a:latin typeface="DejaVu Sans"/>
                <a:ea typeface="DejaVu Sans"/>
                <a:cs typeface="DejaVu Sans"/>
              </a:defRPr>
            </a:lvl8pPr>
            <a:lvl9pPr>
              <a:buNone/>
              <a:defRPr sz="2100" b="1">
                <a:solidFill>
                  <a:srgbClr val="007F86"/>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00" b="1">
                <a:solidFill>
                  <a:srgbClr val="007F86"/>
                </a:solidFill>
                <a:latin typeface="DejaVu Sans"/>
                <a:ea typeface="DejaVu Sans"/>
                <a:cs typeface="DejaVu Sans"/>
              </a:defRPr>
            </a:pPr>
            <a:r>
              <a:rPr sz="2100" b="1" i="0" u="none" strike="noStrike" cap="none" spc="0" baseline="0">
                <a:ln>
                  <a:noFill/>
                </a:ln>
                <a:solidFill>
                  <a:srgbClr val="007F86"/>
                </a:solidFill>
                <a:latin typeface="Arial" panose="020B0604020202020204" pitchFamily="34" charset="0"/>
                <a:cs typeface="Arial" panose="020B0604020202020204" pitchFamily="34" charset="0"/>
              </a:rPr>
              <a:t>Las herramientas conectan detección, cálculo temporal y visualización.</a:t>
            </a:r>
          </a:p>
        </p:txBody>
      </p:sp>
      <p:pic>
        <p:nvPicPr>
          <p:cNvPr id="7" name="Imagen 6">
            <a:extLst>
              <a:ext uri="{FF2B5EF4-FFF2-40B4-BE49-F238E27FC236}">
                <a16:creationId xmlns:a16="http://schemas.microsoft.com/office/drawing/2014/main" id="{B081641A-4128-42AC-AB76-40D95C167361}"/>
              </a:ext>
            </a:extLst>
          </p:cNvPr>
          <p:cNvPicPr>
            <a:picLocks noChangeAspect="1"/>
          </p:cNvPicPr>
          <p:nvPr/>
        </p:nvPicPr>
        <p:blipFill rotWithShape="1">
          <a:blip r:embed="rId3"/>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2012039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Qué sabemos de cada objeto">
            <a:extLst>
              <a:ext uri="{FF2B5EF4-FFF2-40B4-BE49-F238E27FC236}">
                <a16:creationId xmlns:a16="http://schemas.microsoft.com/office/drawing/2014/main" id="{B777D745-9CB1-445C-814E-A7B9A21B439B}"/>
              </a:ext>
            </a:extLst>
          </p:cNvPr>
          <p:cNvSpPr>
            <a:spLocks noGrp="1"/>
          </p:cNvSpPr>
          <p:nvPr/>
        </p:nvSpPr>
        <p:spPr>
          <a:xfrm>
            <a:off x="523875" y="381000"/>
            <a:ext cx="11144250" cy="952500"/>
          </a:xfrm>
          <a:prstGeom prst="rect">
            <a:avLst/>
          </a:prstGeom>
          <a:noFill/>
          <a:ln w="0">
            <a:noFill/>
            <a:prstDash val="solid"/>
          </a:ln>
        </p:spPr>
        <p:txBody>
          <a:bodyPr lIns="0" tIns="0" rIns="0" bIns="0" anchor="t">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a:ln>
                  <a:noFill/>
                </a:ln>
                <a:solidFill>
                  <a:srgbClr val="102A43"/>
                </a:solidFill>
                <a:latin typeface="Arial" panose="020B0604020202020204" pitchFamily="34" charset="0"/>
                <a:cs typeface="Arial" panose="020B0604020202020204" pitchFamily="34" charset="0"/>
              </a:rPr>
              <a:t>Qué sabemos de cada objeto</a:t>
            </a:r>
          </a:p>
        </p:txBody>
      </p:sp>
      <p:sp>
        <p:nvSpPr>
          <p:cNvPr id="2" name="06">
            <a:extLst>
              <a:ext uri="{FF2B5EF4-FFF2-40B4-BE49-F238E27FC236}">
                <a16:creationId xmlns:a16="http://schemas.microsoft.com/office/drawing/2014/main" id="{805C5D15-1F6A-4D9A-8CCD-2919C3B680C3}"/>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DejaVu Sans"/>
                <a:ea typeface="DejaVu Sans"/>
                <a:cs typeface="DejaVu Sans"/>
              </a:rPr>
              <a:t>06</a:t>
            </a:r>
          </a:p>
        </p:txBody>
      </p:sp>
      <p:graphicFrame>
        <p:nvGraphicFramePr>
          <p:cNvPr id="3" name="Tabla 2">
            <a:extLst>
              <a:ext uri="{FF2B5EF4-FFF2-40B4-BE49-F238E27FC236}">
                <a16:creationId xmlns:a16="http://schemas.microsoft.com/office/drawing/2014/main" id="{74BBCBF4-8366-42BC-BA47-1FEC7B32F142}"/>
              </a:ext>
            </a:extLst>
          </p:cNvPr>
          <p:cNvGraphicFramePr/>
          <p:nvPr/>
        </p:nvGraphicFramePr>
        <p:xfrm>
          <a:off x="571500" y="1666875"/>
          <a:ext cx="11049000" cy="3143250"/>
        </p:xfrm>
        <a:graphic>
          <a:graphicData uri="http://schemas.openxmlformats.org/drawingml/2006/table">
            <a:tbl>
              <a:tblPr/>
              <a:tblGrid>
                <a:gridCol w="24765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628650">
                <a:tc>
                  <a:txBody>
                    <a:bodyPr/>
                    <a:lstStyle/>
                    <a:p>
                      <a:r>
                        <a:rPr sz="1725" b="1">
                          <a:solidFill>
                            <a:srgbClr val="FFFFFF"/>
                          </a:solidFill>
                          <a:latin typeface="DejaVu Sans"/>
                          <a:ea typeface="DejaVu Sans"/>
                          <a:cs typeface="DejaVu Sans"/>
                        </a:rPr>
                        <a:t>Dato</a:t>
                      </a:r>
                    </a:p>
                  </a:txBody>
                  <a:tcPr>
                    <a:lnL w="9525">
                      <a:solidFill>
                        <a:srgbClr val="D4DEE5"/>
                      </a:solidFill>
                      <a:prstDash val="solid"/>
                    </a:lnL>
                    <a:lnR w="9525">
                      <a:solidFill>
                        <a:srgbClr val="D4DEE5"/>
                      </a:solidFill>
                      <a:prstDash val="solid"/>
                    </a:lnR>
                    <a:lnT w="9525">
                      <a:solidFill>
                        <a:srgbClr val="D4DEE5"/>
                      </a:solidFill>
                      <a:prstDash val="solid"/>
                    </a:lnT>
                    <a:lnB w="9525">
                      <a:solidFill>
                        <a:srgbClr val="D4DEE5"/>
                      </a:solidFill>
                      <a:prstDash val="solid"/>
                    </a:lnB>
                    <a:solidFill>
                      <a:srgbClr val="102A43"/>
                    </a:solidFill>
                  </a:tcPr>
                </a:tc>
                <a:tc>
                  <a:txBody>
                    <a:bodyPr/>
                    <a:lstStyle/>
                    <a:p>
                      <a:r>
                        <a:rPr sz="1725" b="1">
                          <a:solidFill>
                            <a:srgbClr val="FFFFFF"/>
                          </a:solidFill>
                          <a:latin typeface="DejaVu Sans"/>
                          <a:ea typeface="DejaVu Sans"/>
                          <a:cs typeface="DejaVu Sans"/>
                        </a:rPr>
                        <a:t>Ejemplo didáctico</a:t>
                      </a:r>
                    </a:p>
                  </a:txBody>
                  <a:tcPr>
                    <a:lnL w="9525" cmpd="sng">
                      <a:solidFill>
                        <a:srgbClr val="D4DEE5"/>
                      </a:solidFill>
                      <a:prstDash val="solid"/>
                    </a:lnL>
                    <a:lnR w="9525">
                      <a:solidFill>
                        <a:srgbClr val="D4DEE5"/>
                      </a:solidFill>
                      <a:prstDash val="solid"/>
                    </a:lnR>
                    <a:lnT w="9525">
                      <a:solidFill>
                        <a:srgbClr val="D4DEE5"/>
                      </a:solidFill>
                      <a:prstDash val="solid"/>
                    </a:lnT>
                    <a:lnB w="9525">
                      <a:solidFill>
                        <a:srgbClr val="D4DEE5"/>
                      </a:solidFill>
                      <a:prstDash val="solid"/>
                    </a:lnB>
                    <a:solidFill>
                      <a:srgbClr val="102A43"/>
                    </a:solidFill>
                  </a:tcPr>
                </a:tc>
                <a:tc>
                  <a:txBody>
                    <a:bodyPr/>
                    <a:lstStyle/>
                    <a:p>
                      <a:r>
                        <a:rPr sz="1725" b="1">
                          <a:solidFill>
                            <a:srgbClr val="FFFFFF"/>
                          </a:solidFill>
                          <a:latin typeface="DejaVu Sans"/>
                          <a:ea typeface="DejaVu Sans"/>
                          <a:cs typeface="DejaVu Sans"/>
                        </a:rPr>
                        <a:t>Para qué sirve</a:t>
                      </a:r>
                    </a:p>
                  </a:txBody>
                  <a:tcPr>
                    <a:lnL w="9525" cmpd="sng">
                      <a:solidFill>
                        <a:srgbClr val="D4DEE5"/>
                      </a:solidFill>
                      <a:prstDash val="solid"/>
                    </a:lnL>
                    <a:lnR w="9525">
                      <a:solidFill>
                        <a:srgbClr val="D4DEE5"/>
                      </a:solidFill>
                      <a:prstDash val="solid"/>
                    </a:lnR>
                    <a:lnT w="9525">
                      <a:solidFill>
                        <a:srgbClr val="D4DEE5"/>
                      </a:solidFill>
                      <a:prstDash val="solid"/>
                    </a:lnT>
                    <a:lnB w="9525">
                      <a:solidFill>
                        <a:srgbClr val="D4DEE5"/>
                      </a:solidFill>
                      <a:prstDash val="solid"/>
                    </a:lnB>
                    <a:solidFill>
                      <a:srgbClr val="102A43"/>
                    </a:solidFill>
                  </a:tcPr>
                </a:tc>
                <a:extLst>
                  <a:ext uri="{0D108BD9-81ED-4DB2-BD59-A6C34878D82A}">
                    <a16:rowId xmlns:a16="http://schemas.microsoft.com/office/drawing/2014/main" val="10000"/>
                  </a:ext>
                </a:extLst>
              </a:tr>
              <a:tr h="628650">
                <a:tc>
                  <a:txBody>
                    <a:bodyPr/>
                    <a:lstStyle/>
                    <a:p>
                      <a:r>
                        <a:rPr sz="1725" b="0">
                          <a:solidFill>
                            <a:srgbClr val="102A43"/>
                          </a:solidFill>
                          <a:latin typeface="DejaVu Sans"/>
                          <a:ea typeface="DejaVu Sans"/>
                          <a:cs typeface="DejaVu Sans"/>
                        </a:rPr>
                        <a:t>Clase</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tc>
                  <a:txBody>
                    <a:bodyPr/>
                    <a:lstStyle/>
                    <a:p>
                      <a:r>
                        <a:rPr sz="1725" b="0">
                          <a:solidFill>
                            <a:srgbClr val="102A43"/>
                          </a:solidFill>
                          <a:latin typeface="DejaVu Sans"/>
                          <a:ea typeface="DejaVu Sans"/>
                          <a:cs typeface="DejaVu Sans"/>
                        </a:rPr>
                        <a:t>person</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tc>
                  <a:txBody>
                    <a:bodyPr/>
                    <a:lstStyle/>
                    <a:p>
                      <a:r>
                        <a:rPr sz="1725" b="0">
                          <a:solidFill>
                            <a:srgbClr val="102A43"/>
                          </a:solidFill>
                          <a:latin typeface="DejaVu Sans"/>
                          <a:ea typeface="DejaVu Sans"/>
                          <a:cs typeface="DejaVu Sans"/>
                        </a:rPr>
                        <a:t>Describe la categoría.</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extLst>
                  <a:ext uri="{0D108BD9-81ED-4DB2-BD59-A6C34878D82A}">
                    <a16:rowId xmlns:a16="http://schemas.microsoft.com/office/drawing/2014/main" val="10001"/>
                  </a:ext>
                </a:extLst>
              </a:tr>
              <a:tr h="628650">
                <a:tc>
                  <a:txBody>
                    <a:bodyPr/>
                    <a:lstStyle/>
                    <a:p>
                      <a:r>
                        <a:rPr sz="1725" b="0">
                          <a:solidFill>
                            <a:srgbClr val="102A43"/>
                          </a:solidFill>
                          <a:latin typeface="DejaVu Sans"/>
                          <a:ea typeface="DejaVu Sans"/>
                          <a:cs typeface="DejaVu Sans"/>
                        </a:rPr>
                        <a:t>ID</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tc>
                  <a:txBody>
                    <a:bodyPr/>
                    <a:lstStyle/>
                    <a:p>
                      <a:r>
                        <a:rPr sz="1725" b="0">
                          <a:solidFill>
                            <a:srgbClr val="102A43"/>
                          </a:solidFill>
                          <a:latin typeface="DejaVu Sans"/>
                          <a:ea typeface="DejaVu Sans"/>
                          <a:cs typeface="DejaVu Sans"/>
                        </a:rPr>
                        <a:t>9</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tc>
                  <a:txBody>
                    <a:bodyPr/>
                    <a:lstStyle/>
                    <a:p>
                      <a:r>
                        <a:rPr sz="1725" b="0">
                          <a:solidFill>
                            <a:srgbClr val="102A43"/>
                          </a:solidFill>
                          <a:latin typeface="DejaVu Sans"/>
                          <a:ea typeface="DejaVu Sans"/>
                          <a:cs typeface="DejaVu Sans"/>
                        </a:rPr>
                        <a:t>Relaciona fotogramas.</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extLst>
                  <a:ext uri="{0D108BD9-81ED-4DB2-BD59-A6C34878D82A}">
                    <a16:rowId xmlns:a16="http://schemas.microsoft.com/office/drawing/2014/main" val="10002"/>
                  </a:ext>
                </a:extLst>
              </a:tr>
              <a:tr h="628650">
                <a:tc>
                  <a:txBody>
                    <a:bodyPr/>
                    <a:lstStyle/>
                    <a:p>
                      <a:r>
                        <a:rPr sz="1725" b="0">
                          <a:solidFill>
                            <a:srgbClr val="102A43"/>
                          </a:solidFill>
                          <a:latin typeface="DejaVu Sans"/>
                          <a:ea typeface="DejaVu Sans"/>
                          <a:cs typeface="DejaVu Sans"/>
                        </a:rPr>
                        <a:t>Caja</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tc>
                  <a:txBody>
                    <a:bodyPr/>
                    <a:lstStyle/>
                    <a:p>
                      <a:r>
                        <a:rPr sz="1725" b="0">
                          <a:solidFill>
                            <a:srgbClr val="102A43"/>
                          </a:solidFill>
                          <a:latin typeface="DejaVu Sans"/>
                          <a:ea typeface="DejaVu Sans"/>
                          <a:cs typeface="DejaVu Sans"/>
                        </a:rPr>
                        <a:t>(x1, y1, x2, y2)</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tc>
                  <a:txBody>
                    <a:bodyPr/>
                    <a:lstStyle/>
                    <a:p>
                      <a:r>
                        <a:rPr sz="1725" b="0">
                          <a:solidFill>
                            <a:srgbClr val="102A43"/>
                          </a:solidFill>
                          <a:latin typeface="DejaVu Sans"/>
                          <a:ea typeface="DejaVu Sans"/>
                          <a:cs typeface="DejaVu Sans"/>
                        </a:rPr>
                        <a:t>Localiza los bordes.</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FFFFFF"/>
                    </a:solidFill>
                  </a:tcPr>
                </a:tc>
                <a:extLst>
                  <a:ext uri="{0D108BD9-81ED-4DB2-BD59-A6C34878D82A}">
                    <a16:rowId xmlns:a16="http://schemas.microsoft.com/office/drawing/2014/main" val="10003"/>
                  </a:ext>
                </a:extLst>
              </a:tr>
              <a:tr h="628650">
                <a:tc>
                  <a:txBody>
                    <a:bodyPr/>
                    <a:lstStyle/>
                    <a:p>
                      <a:r>
                        <a:rPr sz="1725" b="0">
                          <a:solidFill>
                            <a:srgbClr val="102A43"/>
                          </a:solidFill>
                          <a:latin typeface="DejaVu Sans"/>
                          <a:ea typeface="DejaVu Sans"/>
                          <a:cs typeface="DejaVu Sans"/>
                        </a:rPr>
                        <a:t>Centro</a:t>
                      </a:r>
                    </a:p>
                  </a:txBody>
                  <a:tcPr>
                    <a:lnL w="9525">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tc>
                  <a:txBody>
                    <a:bodyPr/>
                    <a:lstStyle/>
                    <a:p>
                      <a:r>
                        <a:rPr sz="1725" b="0">
                          <a:solidFill>
                            <a:srgbClr val="102A43"/>
                          </a:solidFill>
                          <a:latin typeface="DejaVu Sans"/>
                          <a:ea typeface="DejaVu Sans"/>
                          <a:cs typeface="DejaVu Sans"/>
                        </a:rPr>
                        <a:t>cx, cy</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tc>
                  <a:txBody>
                    <a:bodyPr/>
                    <a:lstStyle/>
                    <a:p>
                      <a:r>
                        <a:rPr sz="1725" b="0">
                          <a:solidFill>
                            <a:srgbClr val="102A43"/>
                          </a:solidFill>
                          <a:latin typeface="DejaVu Sans"/>
                          <a:ea typeface="DejaVu Sans"/>
                          <a:cs typeface="DejaVu Sans"/>
                        </a:rPr>
                        <a:t>Representa la trayectoria.</a:t>
                      </a:r>
                    </a:p>
                  </a:txBody>
                  <a:tcPr>
                    <a:lnL w="9525" cmpd="sng">
                      <a:solidFill>
                        <a:srgbClr val="D4DEE5"/>
                      </a:solidFill>
                      <a:prstDash val="solid"/>
                    </a:lnL>
                    <a:lnR w="9525">
                      <a:solidFill>
                        <a:srgbClr val="D4DEE5"/>
                      </a:solidFill>
                      <a:prstDash val="solid"/>
                    </a:lnR>
                    <a:lnT w="9525" cmpd="sng">
                      <a:solidFill>
                        <a:srgbClr val="D4DEE5"/>
                      </a:solidFill>
                      <a:prstDash val="solid"/>
                    </a:lnT>
                    <a:lnB w="9525">
                      <a:solidFill>
                        <a:srgbClr val="D4DEE5"/>
                      </a:solidFill>
                      <a:prstDash val="solid"/>
                    </a:lnB>
                    <a:solidFill>
                      <a:srgbClr val="EFF4F7"/>
                    </a:solidFill>
                  </a:tcPr>
                </a:tc>
                <a:extLst>
                  <a:ext uri="{0D108BD9-81ED-4DB2-BD59-A6C34878D82A}">
                    <a16:rowId xmlns:a16="http://schemas.microsoft.com/office/drawing/2014/main" val="10004"/>
                  </a:ext>
                </a:extLst>
              </a:tr>
            </a:tbl>
          </a:graphicData>
        </a:graphic>
      </p:graphicFrame>
      <p:sp>
        <p:nvSpPr>
          <p:cNvPr id="4" name="Una sola imagen da posición.">
            <a:extLst>
              <a:ext uri="{FF2B5EF4-FFF2-40B4-BE49-F238E27FC236}">
                <a16:creationId xmlns:a16="http://schemas.microsoft.com/office/drawing/2014/main" id="{4CEC40D1-6909-413F-BC76-96419E39BBA8}"/>
              </a:ext>
            </a:extLst>
          </p:cNvPr>
          <p:cNvSpPr>
            <a:spLocks noGrp="1"/>
          </p:cNvSpPr>
          <p:nvPr/>
        </p:nvSpPr>
        <p:spPr>
          <a:xfrm>
            <a:off x="619125" y="5238750"/>
            <a:ext cx="10858500" cy="762000"/>
          </a:xfrm>
          <a:prstGeom prst="rect">
            <a:avLst/>
          </a:prstGeom>
          <a:noFill/>
          <a:ln w="0">
            <a:noFill/>
            <a:prstDash val="solid"/>
          </a:ln>
        </p:spPr>
        <p:txBody>
          <a:bodyPr lIns="0" tIns="0" rIns="0" bIns="0" anchor="t">
            <a:noAutofit/>
          </a:bodyPr>
          <a:lstStyle>
            <a:defPPr>
              <a:defRPr sz="2175" b="1">
                <a:solidFill>
                  <a:srgbClr val="007F86"/>
                </a:solidFill>
                <a:latin typeface="DejaVu Sans"/>
                <a:ea typeface="DejaVu Sans"/>
                <a:cs typeface="DejaVu Sans"/>
              </a:defRPr>
            </a:defPPr>
            <a:lvl1pPr>
              <a:buNone/>
              <a:defRPr sz="2175" b="1">
                <a:solidFill>
                  <a:srgbClr val="007F86"/>
                </a:solidFill>
                <a:latin typeface="DejaVu Sans"/>
                <a:ea typeface="DejaVu Sans"/>
                <a:cs typeface="DejaVu Sans"/>
              </a:defRPr>
            </a:lvl1pPr>
            <a:lvl2pPr>
              <a:buNone/>
              <a:defRPr sz="2175" b="1">
                <a:solidFill>
                  <a:srgbClr val="007F86"/>
                </a:solidFill>
                <a:latin typeface="DejaVu Sans"/>
                <a:ea typeface="DejaVu Sans"/>
                <a:cs typeface="DejaVu Sans"/>
              </a:defRPr>
            </a:lvl2pPr>
            <a:lvl3pPr>
              <a:buNone/>
              <a:defRPr sz="2175" b="1">
                <a:solidFill>
                  <a:srgbClr val="007F86"/>
                </a:solidFill>
                <a:latin typeface="DejaVu Sans"/>
                <a:ea typeface="DejaVu Sans"/>
                <a:cs typeface="DejaVu Sans"/>
              </a:defRPr>
            </a:lvl3pPr>
            <a:lvl4pPr>
              <a:buNone/>
              <a:defRPr sz="2175" b="1">
                <a:solidFill>
                  <a:srgbClr val="007F86"/>
                </a:solidFill>
                <a:latin typeface="DejaVu Sans"/>
                <a:ea typeface="DejaVu Sans"/>
                <a:cs typeface="DejaVu Sans"/>
              </a:defRPr>
            </a:lvl4pPr>
            <a:lvl5pPr>
              <a:buNone/>
              <a:defRPr sz="2175" b="1">
                <a:solidFill>
                  <a:srgbClr val="007F86"/>
                </a:solidFill>
                <a:latin typeface="DejaVu Sans"/>
                <a:ea typeface="DejaVu Sans"/>
                <a:cs typeface="DejaVu Sans"/>
              </a:defRPr>
            </a:lvl5pPr>
            <a:lvl6pPr>
              <a:buNone/>
              <a:defRPr sz="2175" b="1">
                <a:solidFill>
                  <a:srgbClr val="007F86"/>
                </a:solidFill>
                <a:latin typeface="DejaVu Sans"/>
                <a:ea typeface="DejaVu Sans"/>
                <a:cs typeface="DejaVu Sans"/>
              </a:defRPr>
            </a:lvl6pPr>
            <a:lvl7pPr>
              <a:buNone/>
              <a:defRPr sz="2175" b="1">
                <a:solidFill>
                  <a:srgbClr val="007F86"/>
                </a:solidFill>
                <a:latin typeface="DejaVu Sans"/>
                <a:ea typeface="DejaVu Sans"/>
                <a:cs typeface="DejaVu Sans"/>
              </a:defRPr>
            </a:lvl7pPr>
            <a:lvl8pPr>
              <a:buNone/>
              <a:defRPr sz="2175" b="1">
                <a:solidFill>
                  <a:srgbClr val="007F86"/>
                </a:solidFill>
                <a:latin typeface="DejaVu Sans"/>
                <a:ea typeface="DejaVu Sans"/>
                <a:cs typeface="DejaVu Sans"/>
              </a:defRPr>
            </a:lvl8pPr>
            <a:lvl9pPr>
              <a:buNone/>
              <a:defRPr sz="2175" b="1">
                <a:solidFill>
                  <a:srgbClr val="007F86"/>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1">
                <a:solidFill>
                  <a:srgbClr val="007F86"/>
                </a:solidFill>
                <a:latin typeface="DejaVu Sans"/>
                <a:ea typeface="DejaVu Sans"/>
                <a:cs typeface="DejaVu Sans"/>
              </a:defRPr>
            </a:pPr>
            <a:r>
              <a:rPr sz="2175" b="1" i="0" u="none" strike="noStrike" cap="none" spc="0" baseline="0">
                <a:ln>
                  <a:noFill/>
                </a:ln>
                <a:solidFill>
                  <a:srgbClr val="007F86"/>
                </a:solidFill>
                <a:latin typeface="Arial" panose="020B0604020202020204" pitchFamily="34" charset="0"/>
                <a:cs typeface="Arial" panose="020B0604020202020204" pitchFamily="34" charset="0"/>
              </a:rPr>
              <a:t>Una sola imagen da posición. Varias imágenes permiten estudiar movimiento.</a:t>
            </a:r>
          </a:p>
        </p:txBody>
      </p:sp>
      <p:pic>
        <p:nvPicPr>
          <p:cNvPr id="7" name="Imagen 6">
            <a:extLst>
              <a:ext uri="{FF2B5EF4-FFF2-40B4-BE49-F238E27FC236}">
                <a16:creationId xmlns:a16="http://schemas.microsoft.com/office/drawing/2014/main" id="{437F0675-681F-4889-A904-8C99194ED305}"/>
              </a:ext>
            </a:extLst>
          </p:cNvPr>
          <p:cNvPicPr>
            <a:picLocks noChangeAspect="1"/>
          </p:cNvPicPr>
          <p:nvPr/>
        </p:nvPicPr>
        <p:blipFill rotWithShape="1">
          <a:blip r:embed="rId3"/>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1726613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02">
            <a:extLst>
              <a:ext uri="{FF2B5EF4-FFF2-40B4-BE49-F238E27FC236}">
                <a16:creationId xmlns:a16="http://schemas.microsoft.com/office/drawing/2014/main" id="{40446308-3E02-440E-BC9B-ED13F238B731}"/>
              </a:ext>
            </a:extLst>
          </p:cNvPr>
          <p:cNvSpPr>
            <a:spLocks noGrp="1"/>
          </p:cNvSpPr>
          <p:nvPr/>
        </p:nvSpPr>
        <p:spPr>
          <a:xfrm>
            <a:off x="11144250" y="6438900"/>
            <a:ext cx="476250" cy="238125"/>
          </a:xfrm>
          <a:prstGeom prst="rect">
            <a:avLst/>
          </a:prstGeom>
          <a:noFill/>
          <a:ln w="0">
            <a:noFill/>
            <a:prstDash val="solid"/>
          </a:ln>
        </p:spPr>
        <p:txBody>
          <a:bodyPr lIns="0" tIns="0" rIns="0" bIns="0">
            <a:noAutofit/>
          </a:bodyPr>
          <a:lstStyle>
            <a:defPPr>
              <a:defRPr sz="1200" b="0">
                <a:solidFill>
                  <a:srgbClr val="476880"/>
                </a:solidFill>
                <a:latin typeface="DejaVu Sans"/>
                <a:ea typeface="DejaVu Sans"/>
                <a:cs typeface="DejaVu Sans"/>
              </a:defRPr>
            </a:defPPr>
            <a:lvl1pPr>
              <a:buNone/>
              <a:defRPr sz="1200" b="0">
                <a:solidFill>
                  <a:srgbClr val="476880"/>
                </a:solidFill>
                <a:latin typeface="DejaVu Sans"/>
                <a:ea typeface="DejaVu Sans"/>
                <a:cs typeface="DejaVu Sans"/>
              </a:defRPr>
            </a:lvl1pPr>
            <a:lvl2pPr>
              <a:buNone/>
              <a:defRPr sz="1200" b="0">
                <a:solidFill>
                  <a:srgbClr val="476880"/>
                </a:solidFill>
                <a:latin typeface="DejaVu Sans"/>
                <a:ea typeface="DejaVu Sans"/>
                <a:cs typeface="DejaVu Sans"/>
              </a:defRPr>
            </a:lvl2pPr>
            <a:lvl3pPr>
              <a:buNone/>
              <a:defRPr sz="1200" b="0">
                <a:solidFill>
                  <a:srgbClr val="476880"/>
                </a:solidFill>
                <a:latin typeface="DejaVu Sans"/>
                <a:ea typeface="DejaVu Sans"/>
                <a:cs typeface="DejaVu Sans"/>
              </a:defRPr>
            </a:lvl3pPr>
            <a:lvl4pPr>
              <a:buNone/>
              <a:defRPr sz="1200" b="0">
                <a:solidFill>
                  <a:srgbClr val="476880"/>
                </a:solidFill>
                <a:latin typeface="DejaVu Sans"/>
                <a:ea typeface="DejaVu Sans"/>
                <a:cs typeface="DejaVu Sans"/>
              </a:defRPr>
            </a:lvl4pPr>
            <a:lvl5pPr>
              <a:buNone/>
              <a:defRPr sz="1200" b="0">
                <a:solidFill>
                  <a:srgbClr val="476880"/>
                </a:solidFill>
                <a:latin typeface="DejaVu Sans"/>
                <a:ea typeface="DejaVu Sans"/>
                <a:cs typeface="DejaVu Sans"/>
              </a:defRPr>
            </a:lvl5pPr>
            <a:lvl6pPr>
              <a:buNone/>
              <a:defRPr sz="1200" b="0">
                <a:solidFill>
                  <a:srgbClr val="476880"/>
                </a:solidFill>
                <a:latin typeface="DejaVu Sans"/>
                <a:ea typeface="DejaVu Sans"/>
                <a:cs typeface="DejaVu Sans"/>
              </a:defRPr>
            </a:lvl6pPr>
            <a:lvl7pPr>
              <a:buNone/>
              <a:defRPr sz="1200" b="0">
                <a:solidFill>
                  <a:srgbClr val="476880"/>
                </a:solidFill>
                <a:latin typeface="DejaVu Sans"/>
                <a:ea typeface="DejaVu Sans"/>
                <a:cs typeface="DejaVu Sans"/>
              </a:defRPr>
            </a:lvl7pPr>
            <a:lvl8pPr>
              <a:buNone/>
              <a:defRPr sz="1200" b="0">
                <a:solidFill>
                  <a:srgbClr val="476880"/>
                </a:solidFill>
                <a:latin typeface="DejaVu Sans"/>
                <a:ea typeface="DejaVu Sans"/>
                <a:cs typeface="DejaVu Sans"/>
              </a:defRPr>
            </a:lvl8pPr>
            <a:lvl9pPr>
              <a:buNone/>
              <a:defRPr sz="1200" b="0">
                <a:solidFill>
                  <a:srgbClr val="476880"/>
                </a:solidFill>
                <a:latin typeface="DejaVu Sans"/>
                <a:ea typeface="DejaVu Sans"/>
                <a:cs typeface="DejaVu Sans"/>
              </a:defRPr>
            </a:lvl9pPr>
          </a:lstStyle>
          <a:p>
            <a:pPr>
              <a:buNone/>
              <a:defRPr sz="1200" b="0">
                <a:solidFill>
                  <a:srgbClr val="476880"/>
                </a:solidFill>
                <a:latin typeface="DejaVu Sans"/>
                <a:ea typeface="DejaVu Sans"/>
                <a:cs typeface="DejaVu Sans"/>
              </a:defRPr>
            </a:pPr>
            <a:r>
              <a:rPr sz="1200" b="0">
                <a:solidFill>
                  <a:srgbClr val="476880"/>
                </a:solidFill>
                <a:latin typeface="DejaVu Sans"/>
                <a:ea typeface="DejaVu Sans"/>
                <a:cs typeface="DejaVu Sans"/>
              </a:rPr>
              <a:t>07</a:t>
            </a:r>
          </a:p>
        </p:txBody>
      </p:sp>
      <p:pic>
        <p:nvPicPr>
          <p:cNvPr id="5" name="Imagen 4">
            <a:extLst>
              <a:ext uri="{FF2B5EF4-FFF2-40B4-BE49-F238E27FC236}">
                <a16:creationId xmlns:a16="http://schemas.microsoft.com/office/drawing/2014/main" id="{12550D6E-7365-412F-B7D2-32182FFD6DE8}"/>
              </a:ext>
            </a:extLst>
          </p:cNvPr>
          <p:cNvPicPr>
            <a:picLocks noChangeAspect="1"/>
          </p:cNvPicPr>
          <p:nvPr/>
        </p:nvPicPr>
        <p:blipFill>
          <a:blip r:embed="rId3"/>
          <a:stretch>
            <a:fillRect/>
          </a:stretch>
        </p:blipFill>
        <p:spPr>
          <a:xfrm>
            <a:off x="571500" y="476250"/>
            <a:ext cx="11049000" cy="6218492"/>
          </a:xfrm>
          <a:prstGeom prst="rect">
            <a:avLst/>
          </a:prstGeom>
        </p:spPr>
      </p:pic>
      <p:sp>
        <p:nvSpPr>
          <p:cNvPr id="7" name="Percepción visual para preveni">
            <a:extLst>
              <a:ext uri="{FF2B5EF4-FFF2-40B4-BE49-F238E27FC236}">
                <a16:creationId xmlns:a16="http://schemas.microsoft.com/office/drawing/2014/main" id="{54BA8EA4-812E-D90B-03C0-423C8BC3E624}"/>
              </a:ext>
            </a:extLst>
          </p:cNvPr>
          <p:cNvSpPr>
            <a:spLocks noGrp="1"/>
          </p:cNvSpPr>
          <p:nvPr/>
        </p:nvSpPr>
        <p:spPr>
          <a:xfrm>
            <a:off x="523875" y="333375"/>
            <a:ext cx="11049000" cy="619125"/>
          </a:xfrm>
          <a:prstGeom prst="rect">
            <a:avLst/>
          </a:prstGeom>
          <a:noFill/>
          <a:ln w="0">
            <a:noFill/>
            <a:prstDash val="solid"/>
          </a:ln>
        </p:spPr>
        <p:txBody>
          <a:bodyPr lIns="0" tIns="0" rIns="0" bIns="0">
            <a:noAutofit/>
          </a:bodyPr>
          <a:lstStyle>
            <a:defPPr>
              <a:defRPr sz="3000" b="1">
                <a:solidFill>
                  <a:srgbClr val="123C65"/>
                </a:solidFill>
                <a:latin typeface="DejaVu Sans"/>
                <a:ea typeface="DejaVu Sans"/>
                <a:cs typeface="DejaVu Sans"/>
              </a:defRPr>
            </a:defPPr>
            <a:lvl1pPr>
              <a:buNone/>
              <a:defRPr sz="3300" b="1">
                <a:solidFill>
                  <a:srgbClr val="123C65"/>
                </a:solidFill>
                <a:latin typeface="DejaVu Sans"/>
                <a:ea typeface="DejaVu Sans"/>
                <a:cs typeface="DejaVu Sans"/>
              </a:defRPr>
            </a:lvl1pPr>
            <a:lvl2pPr>
              <a:buNone/>
              <a:defRPr sz="3300" b="1">
                <a:solidFill>
                  <a:srgbClr val="123C65"/>
                </a:solidFill>
                <a:latin typeface="DejaVu Sans"/>
                <a:ea typeface="DejaVu Sans"/>
                <a:cs typeface="DejaVu Sans"/>
              </a:defRPr>
            </a:lvl2pPr>
            <a:lvl3pPr>
              <a:buNone/>
              <a:defRPr sz="3300" b="1">
                <a:solidFill>
                  <a:srgbClr val="123C65"/>
                </a:solidFill>
                <a:latin typeface="DejaVu Sans"/>
                <a:ea typeface="DejaVu Sans"/>
                <a:cs typeface="DejaVu Sans"/>
              </a:defRPr>
            </a:lvl3pPr>
            <a:lvl4pPr>
              <a:buNone/>
              <a:defRPr sz="3300" b="1">
                <a:solidFill>
                  <a:srgbClr val="123C65"/>
                </a:solidFill>
                <a:latin typeface="DejaVu Sans"/>
                <a:ea typeface="DejaVu Sans"/>
                <a:cs typeface="DejaVu Sans"/>
              </a:defRPr>
            </a:lvl4pPr>
            <a:lvl5pPr>
              <a:buNone/>
              <a:defRPr sz="3300" b="1">
                <a:solidFill>
                  <a:srgbClr val="123C65"/>
                </a:solidFill>
                <a:latin typeface="DejaVu Sans"/>
                <a:ea typeface="DejaVu Sans"/>
                <a:cs typeface="DejaVu Sans"/>
              </a:defRPr>
            </a:lvl5pPr>
            <a:lvl6pPr>
              <a:buNone/>
              <a:defRPr sz="3300" b="1">
                <a:solidFill>
                  <a:srgbClr val="123C65"/>
                </a:solidFill>
                <a:latin typeface="DejaVu Sans"/>
                <a:ea typeface="DejaVu Sans"/>
                <a:cs typeface="DejaVu Sans"/>
              </a:defRPr>
            </a:lvl6pPr>
            <a:lvl7pPr>
              <a:buNone/>
              <a:defRPr sz="3300" b="1">
                <a:solidFill>
                  <a:srgbClr val="123C65"/>
                </a:solidFill>
                <a:latin typeface="DejaVu Sans"/>
                <a:ea typeface="DejaVu Sans"/>
                <a:cs typeface="DejaVu Sans"/>
              </a:defRPr>
            </a:lvl7pPr>
            <a:lvl8pPr>
              <a:buNone/>
              <a:defRPr sz="3300" b="1">
                <a:solidFill>
                  <a:srgbClr val="123C65"/>
                </a:solidFill>
                <a:latin typeface="DejaVu Sans"/>
                <a:ea typeface="DejaVu Sans"/>
                <a:cs typeface="DejaVu Sans"/>
              </a:defRPr>
            </a:lvl8pPr>
            <a:lvl9pPr>
              <a:buNone/>
              <a:defRPr sz="3300" b="1">
                <a:solidFill>
                  <a:srgbClr val="123C65"/>
                </a:solidFill>
                <a:latin typeface="DejaVu Sans"/>
                <a:ea typeface="DejaVu Sans"/>
                <a:cs typeface="DejaVu Sans"/>
              </a:defRPr>
            </a:lvl9pPr>
          </a:lstStyle>
          <a:p>
            <a:pPr>
              <a:buNone/>
              <a:defRPr sz="3300" b="1">
                <a:solidFill>
                  <a:srgbClr val="123C65"/>
                </a:solidFill>
                <a:latin typeface="DejaVu Sans"/>
                <a:ea typeface="DejaVu Sans"/>
                <a:cs typeface="DejaVu Sans"/>
              </a:defRPr>
            </a:pPr>
            <a:r>
              <a:rPr sz="3000" b="1">
                <a:solidFill>
                  <a:srgbClr val="123C65"/>
                </a:solidFill>
                <a:latin typeface="Arial" panose="020B0604020202020204" pitchFamily="34" charset="0"/>
                <a:cs typeface="Arial" panose="020B0604020202020204" pitchFamily="34" charset="0"/>
              </a:rPr>
              <a:t>Arquitectura y flujo de procesamiento</a:t>
            </a:r>
            <a:endParaRPr sz="3300" b="1">
              <a:solidFill>
                <a:srgbClr val="123C65"/>
              </a:solidFill>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7025B6EF-A407-4F18-9626-DF7DFA69B336}"/>
              </a:ext>
            </a:extLst>
          </p:cNvPr>
          <p:cNvPicPr>
            <a:picLocks noChangeAspect="1"/>
          </p:cNvPicPr>
          <p:nvPr/>
        </p:nvPicPr>
        <p:blipFill rotWithShape="1">
          <a:blip r:embed="rId4"/>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790123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Detección e identidad del obje">
            <a:extLst>
              <a:ext uri="{FF2B5EF4-FFF2-40B4-BE49-F238E27FC236}">
                <a16:creationId xmlns:a16="http://schemas.microsoft.com/office/drawing/2014/main" id="{E0848B35-562E-4C84-9E0B-8F8EFBC445A3}"/>
              </a:ext>
            </a:extLst>
          </p:cNvPr>
          <p:cNvSpPr>
            <a:spLocks noGrp="1"/>
          </p:cNvSpPr>
          <p:nvPr/>
        </p:nvSpPr>
        <p:spPr>
          <a:xfrm>
            <a:off x="523875" y="381000"/>
            <a:ext cx="11144250" cy="904875"/>
          </a:xfrm>
          <a:prstGeom prst="rect">
            <a:avLst/>
          </a:prstGeom>
          <a:noFill/>
          <a:ln w="0">
            <a:noFill/>
            <a:prstDash val="solid"/>
          </a:ln>
        </p:spPr>
        <p:txBody>
          <a:bodyPr lIns="0" tIns="0" rIns="0" bIns="0">
            <a:noAutofit/>
          </a:bodyPr>
          <a:lstStyle>
            <a:defPPr>
              <a:defRPr sz="3300" b="1">
                <a:solidFill>
                  <a:srgbClr val="123C65"/>
                </a:solidFill>
                <a:latin typeface="DejaVu Sans"/>
                <a:ea typeface="DejaVu Sans"/>
                <a:cs typeface="DejaVu Sans"/>
              </a:defRPr>
            </a:defPPr>
            <a:lvl1pPr>
              <a:buNone/>
              <a:defRPr sz="3300" b="1">
                <a:solidFill>
                  <a:srgbClr val="123C65"/>
                </a:solidFill>
                <a:latin typeface="DejaVu Sans"/>
                <a:ea typeface="DejaVu Sans"/>
                <a:cs typeface="DejaVu Sans"/>
              </a:defRPr>
            </a:lvl1pPr>
            <a:lvl2pPr>
              <a:buNone/>
              <a:defRPr sz="3300" b="1">
                <a:solidFill>
                  <a:srgbClr val="123C65"/>
                </a:solidFill>
                <a:latin typeface="DejaVu Sans"/>
                <a:ea typeface="DejaVu Sans"/>
                <a:cs typeface="DejaVu Sans"/>
              </a:defRPr>
            </a:lvl2pPr>
            <a:lvl3pPr>
              <a:buNone/>
              <a:defRPr sz="3300" b="1">
                <a:solidFill>
                  <a:srgbClr val="123C65"/>
                </a:solidFill>
                <a:latin typeface="DejaVu Sans"/>
                <a:ea typeface="DejaVu Sans"/>
                <a:cs typeface="DejaVu Sans"/>
              </a:defRPr>
            </a:lvl3pPr>
            <a:lvl4pPr>
              <a:buNone/>
              <a:defRPr sz="3300" b="1">
                <a:solidFill>
                  <a:srgbClr val="123C65"/>
                </a:solidFill>
                <a:latin typeface="DejaVu Sans"/>
                <a:ea typeface="DejaVu Sans"/>
                <a:cs typeface="DejaVu Sans"/>
              </a:defRPr>
            </a:lvl4pPr>
            <a:lvl5pPr>
              <a:buNone/>
              <a:defRPr sz="3300" b="1">
                <a:solidFill>
                  <a:srgbClr val="123C65"/>
                </a:solidFill>
                <a:latin typeface="DejaVu Sans"/>
                <a:ea typeface="DejaVu Sans"/>
                <a:cs typeface="DejaVu Sans"/>
              </a:defRPr>
            </a:lvl5pPr>
            <a:lvl6pPr>
              <a:buNone/>
              <a:defRPr sz="3300" b="1">
                <a:solidFill>
                  <a:srgbClr val="123C65"/>
                </a:solidFill>
                <a:latin typeface="DejaVu Sans"/>
                <a:ea typeface="DejaVu Sans"/>
                <a:cs typeface="DejaVu Sans"/>
              </a:defRPr>
            </a:lvl6pPr>
            <a:lvl7pPr>
              <a:buNone/>
              <a:defRPr sz="3300" b="1">
                <a:solidFill>
                  <a:srgbClr val="123C65"/>
                </a:solidFill>
                <a:latin typeface="DejaVu Sans"/>
                <a:ea typeface="DejaVu Sans"/>
                <a:cs typeface="DejaVu Sans"/>
              </a:defRPr>
            </a:lvl7pPr>
            <a:lvl8pPr>
              <a:buNone/>
              <a:defRPr sz="3300" b="1">
                <a:solidFill>
                  <a:srgbClr val="123C65"/>
                </a:solidFill>
                <a:latin typeface="DejaVu Sans"/>
                <a:ea typeface="DejaVu Sans"/>
                <a:cs typeface="DejaVu Sans"/>
              </a:defRPr>
            </a:lvl8pPr>
            <a:lvl9pPr>
              <a:buNone/>
              <a:defRPr sz="3300" b="1">
                <a:solidFill>
                  <a:srgbClr val="123C65"/>
                </a:solidFill>
                <a:latin typeface="DejaVu Sans"/>
                <a:ea typeface="DejaVu Sans"/>
                <a:cs typeface="DejaVu Sans"/>
              </a:defRPr>
            </a:lvl9pPr>
          </a:lstStyle>
          <a:p>
            <a:pPr>
              <a:buNone/>
              <a:defRPr sz="3300" b="1">
                <a:solidFill>
                  <a:srgbClr val="123C65"/>
                </a:solidFill>
                <a:latin typeface="DejaVu Sans"/>
                <a:ea typeface="DejaVu Sans"/>
                <a:cs typeface="DejaVu Sans"/>
              </a:defRPr>
            </a:pPr>
            <a:r>
              <a:rPr sz="3300" b="1">
                <a:solidFill>
                  <a:srgbClr val="123C65"/>
                </a:solidFill>
                <a:latin typeface="Arial" panose="020B0604020202020204" pitchFamily="34" charset="0"/>
                <a:cs typeface="Arial" panose="020B0604020202020204" pitchFamily="34" charset="0"/>
              </a:rPr>
              <a:t>Detección e identidad del objeto</a:t>
            </a:r>
          </a:p>
        </p:txBody>
      </p:sp>
      <p:sp>
        <p:nvSpPr>
          <p:cNvPr id="2" name="03">
            <a:extLst>
              <a:ext uri="{FF2B5EF4-FFF2-40B4-BE49-F238E27FC236}">
                <a16:creationId xmlns:a16="http://schemas.microsoft.com/office/drawing/2014/main" id="{21493143-6E45-43FA-B596-DCF23A620262}"/>
              </a:ext>
            </a:extLst>
          </p:cNvPr>
          <p:cNvSpPr>
            <a:spLocks noGrp="1"/>
          </p:cNvSpPr>
          <p:nvPr/>
        </p:nvSpPr>
        <p:spPr>
          <a:xfrm>
            <a:off x="11144250" y="6438900"/>
            <a:ext cx="476250" cy="238125"/>
          </a:xfrm>
          <a:prstGeom prst="rect">
            <a:avLst/>
          </a:prstGeom>
          <a:noFill/>
          <a:ln w="0">
            <a:noFill/>
            <a:prstDash val="solid"/>
          </a:ln>
        </p:spPr>
        <p:txBody>
          <a:bodyPr lIns="0" tIns="0" rIns="0" bIns="0">
            <a:noAutofit/>
          </a:bodyPr>
          <a:lstStyle>
            <a:defPPr>
              <a:defRPr sz="1200" b="0">
                <a:solidFill>
                  <a:srgbClr val="476880"/>
                </a:solidFill>
                <a:latin typeface="DejaVu Sans"/>
                <a:ea typeface="DejaVu Sans"/>
                <a:cs typeface="DejaVu Sans"/>
              </a:defRPr>
            </a:defPPr>
            <a:lvl1pPr>
              <a:buNone/>
              <a:defRPr sz="1200" b="0">
                <a:solidFill>
                  <a:srgbClr val="476880"/>
                </a:solidFill>
                <a:latin typeface="DejaVu Sans"/>
                <a:ea typeface="DejaVu Sans"/>
                <a:cs typeface="DejaVu Sans"/>
              </a:defRPr>
            </a:lvl1pPr>
            <a:lvl2pPr>
              <a:buNone/>
              <a:defRPr sz="1200" b="0">
                <a:solidFill>
                  <a:srgbClr val="476880"/>
                </a:solidFill>
                <a:latin typeface="DejaVu Sans"/>
                <a:ea typeface="DejaVu Sans"/>
                <a:cs typeface="DejaVu Sans"/>
              </a:defRPr>
            </a:lvl2pPr>
            <a:lvl3pPr>
              <a:buNone/>
              <a:defRPr sz="1200" b="0">
                <a:solidFill>
                  <a:srgbClr val="476880"/>
                </a:solidFill>
                <a:latin typeface="DejaVu Sans"/>
                <a:ea typeface="DejaVu Sans"/>
                <a:cs typeface="DejaVu Sans"/>
              </a:defRPr>
            </a:lvl3pPr>
            <a:lvl4pPr>
              <a:buNone/>
              <a:defRPr sz="1200" b="0">
                <a:solidFill>
                  <a:srgbClr val="476880"/>
                </a:solidFill>
                <a:latin typeface="DejaVu Sans"/>
                <a:ea typeface="DejaVu Sans"/>
                <a:cs typeface="DejaVu Sans"/>
              </a:defRPr>
            </a:lvl4pPr>
            <a:lvl5pPr>
              <a:buNone/>
              <a:defRPr sz="1200" b="0">
                <a:solidFill>
                  <a:srgbClr val="476880"/>
                </a:solidFill>
                <a:latin typeface="DejaVu Sans"/>
                <a:ea typeface="DejaVu Sans"/>
                <a:cs typeface="DejaVu Sans"/>
              </a:defRPr>
            </a:lvl5pPr>
            <a:lvl6pPr>
              <a:buNone/>
              <a:defRPr sz="1200" b="0">
                <a:solidFill>
                  <a:srgbClr val="476880"/>
                </a:solidFill>
                <a:latin typeface="DejaVu Sans"/>
                <a:ea typeface="DejaVu Sans"/>
                <a:cs typeface="DejaVu Sans"/>
              </a:defRPr>
            </a:lvl6pPr>
            <a:lvl7pPr>
              <a:buNone/>
              <a:defRPr sz="1200" b="0">
                <a:solidFill>
                  <a:srgbClr val="476880"/>
                </a:solidFill>
                <a:latin typeface="DejaVu Sans"/>
                <a:ea typeface="DejaVu Sans"/>
                <a:cs typeface="DejaVu Sans"/>
              </a:defRPr>
            </a:lvl7pPr>
            <a:lvl8pPr>
              <a:buNone/>
              <a:defRPr sz="1200" b="0">
                <a:solidFill>
                  <a:srgbClr val="476880"/>
                </a:solidFill>
                <a:latin typeface="DejaVu Sans"/>
                <a:ea typeface="DejaVu Sans"/>
                <a:cs typeface="DejaVu Sans"/>
              </a:defRPr>
            </a:lvl8pPr>
            <a:lvl9pPr>
              <a:buNone/>
              <a:defRPr sz="1200" b="0">
                <a:solidFill>
                  <a:srgbClr val="476880"/>
                </a:solidFill>
                <a:latin typeface="DejaVu Sans"/>
                <a:ea typeface="DejaVu Sans"/>
                <a:cs typeface="DejaVu Sans"/>
              </a:defRPr>
            </a:lvl9pPr>
          </a:lstStyle>
          <a:p>
            <a:pPr>
              <a:buNone/>
              <a:defRPr sz="1200" b="0">
                <a:solidFill>
                  <a:srgbClr val="476880"/>
                </a:solidFill>
                <a:latin typeface="DejaVu Sans"/>
                <a:ea typeface="DejaVu Sans"/>
                <a:cs typeface="DejaVu Sans"/>
              </a:defRPr>
            </a:pPr>
            <a:r>
              <a:rPr sz="1200" b="0">
                <a:solidFill>
                  <a:srgbClr val="476880"/>
                </a:solidFill>
                <a:latin typeface="DejaVu Sans"/>
                <a:ea typeface="DejaVu Sans"/>
                <a:cs typeface="DejaVu Sans"/>
              </a:rPr>
              <a:t>08</a:t>
            </a:r>
          </a:p>
        </p:txBody>
      </p:sp>
      <p:sp>
        <p:nvSpPr>
          <p:cNvPr id="3" name="YOLO">
            <a:extLst>
              <a:ext uri="{FF2B5EF4-FFF2-40B4-BE49-F238E27FC236}">
                <a16:creationId xmlns:a16="http://schemas.microsoft.com/office/drawing/2014/main" id="{30F9B24F-A448-4A41-937A-A57975D3E81F}"/>
              </a:ext>
            </a:extLst>
          </p:cNvPr>
          <p:cNvSpPr>
            <a:spLocks noGrp="1"/>
          </p:cNvSpPr>
          <p:nvPr/>
        </p:nvSpPr>
        <p:spPr>
          <a:xfrm>
            <a:off x="571500" y="1666875"/>
            <a:ext cx="2476500" cy="523875"/>
          </a:xfrm>
          <a:prstGeom prst="rect">
            <a:avLst/>
          </a:prstGeom>
          <a:noFill/>
          <a:ln w="0">
            <a:noFill/>
            <a:prstDash val="solid"/>
          </a:ln>
        </p:spPr>
        <p:txBody>
          <a:bodyPr lIns="0" tIns="0" rIns="0" bIns="0">
            <a:noAutofit/>
          </a:bodyPr>
          <a:lstStyle>
            <a:defPPr>
              <a:defRPr sz="2625" b="1">
                <a:solidFill>
                  <a:srgbClr val="176AC0"/>
                </a:solidFill>
                <a:latin typeface="DejaVu Sans"/>
                <a:ea typeface="DejaVu Sans"/>
                <a:cs typeface="DejaVu Sans"/>
              </a:defRPr>
            </a:defPPr>
            <a:lvl1pPr>
              <a:buNone/>
              <a:defRPr sz="2625" b="1">
                <a:solidFill>
                  <a:srgbClr val="176AC0"/>
                </a:solidFill>
                <a:latin typeface="DejaVu Sans"/>
                <a:ea typeface="DejaVu Sans"/>
                <a:cs typeface="DejaVu Sans"/>
              </a:defRPr>
            </a:lvl1pPr>
            <a:lvl2pPr>
              <a:buNone/>
              <a:defRPr sz="2625" b="1">
                <a:solidFill>
                  <a:srgbClr val="176AC0"/>
                </a:solidFill>
                <a:latin typeface="DejaVu Sans"/>
                <a:ea typeface="DejaVu Sans"/>
                <a:cs typeface="DejaVu Sans"/>
              </a:defRPr>
            </a:lvl2pPr>
            <a:lvl3pPr>
              <a:buNone/>
              <a:defRPr sz="2625" b="1">
                <a:solidFill>
                  <a:srgbClr val="176AC0"/>
                </a:solidFill>
                <a:latin typeface="DejaVu Sans"/>
                <a:ea typeface="DejaVu Sans"/>
                <a:cs typeface="DejaVu Sans"/>
              </a:defRPr>
            </a:lvl3pPr>
            <a:lvl4pPr>
              <a:buNone/>
              <a:defRPr sz="2625" b="1">
                <a:solidFill>
                  <a:srgbClr val="176AC0"/>
                </a:solidFill>
                <a:latin typeface="DejaVu Sans"/>
                <a:ea typeface="DejaVu Sans"/>
                <a:cs typeface="DejaVu Sans"/>
              </a:defRPr>
            </a:lvl4pPr>
            <a:lvl5pPr>
              <a:buNone/>
              <a:defRPr sz="2625" b="1">
                <a:solidFill>
                  <a:srgbClr val="176AC0"/>
                </a:solidFill>
                <a:latin typeface="DejaVu Sans"/>
                <a:ea typeface="DejaVu Sans"/>
                <a:cs typeface="DejaVu Sans"/>
              </a:defRPr>
            </a:lvl5pPr>
            <a:lvl6pPr>
              <a:buNone/>
              <a:defRPr sz="2625" b="1">
                <a:solidFill>
                  <a:srgbClr val="176AC0"/>
                </a:solidFill>
                <a:latin typeface="DejaVu Sans"/>
                <a:ea typeface="DejaVu Sans"/>
                <a:cs typeface="DejaVu Sans"/>
              </a:defRPr>
            </a:lvl6pPr>
            <a:lvl7pPr>
              <a:buNone/>
              <a:defRPr sz="2625" b="1">
                <a:solidFill>
                  <a:srgbClr val="176AC0"/>
                </a:solidFill>
                <a:latin typeface="DejaVu Sans"/>
                <a:ea typeface="DejaVu Sans"/>
                <a:cs typeface="DejaVu Sans"/>
              </a:defRPr>
            </a:lvl7pPr>
            <a:lvl8pPr>
              <a:buNone/>
              <a:defRPr sz="2625" b="1">
                <a:solidFill>
                  <a:srgbClr val="176AC0"/>
                </a:solidFill>
                <a:latin typeface="DejaVu Sans"/>
                <a:ea typeface="DejaVu Sans"/>
                <a:cs typeface="DejaVu Sans"/>
              </a:defRPr>
            </a:lvl8pPr>
            <a:lvl9pPr>
              <a:buNone/>
              <a:defRPr sz="2625" b="1">
                <a:solidFill>
                  <a:srgbClr val="176AC0"/>
                </a:solidFill>
                <a:latin typeface="DejaVu Sans"/>
                <a:ea typeface="DejaVu Sans"/>
                <a:cs typeface="DejaVu Sans"/>
              </a:defRPr>
            </a:lvl9pPr>
          </a:lstStyle>
          <a:p>
            <a:pPr>
              <a:buNone/>
              <a:defRPr sz="2625" b="1">
                <a:solidFill>
                  <a:srgbClr val="176AC0"/>
                </a:solidFill>
                <a:latin typeface="DejaVu Sans"/>
                <a:ea typeface="DejaVu Sans"/>
                <a:cs typeface="DejaVu Sans"/>
              </a:defRPr>
            </a:pPr>
            <a:r>
              <a:rPr sz="2625" b="1">
                <a:solidFill>
                  <a:srgbClr val="176AC0"/>
                </a:solidFill>
                <a:latin typeface="Arial" panose="020B0604020202020204" pitchFamily="34" charset="0"/>
                <a:cs typeface="Arial" panose="020B0604020202020204" pitchFamily="34" charset="0"/>
              </a:rPr>
              <a:t>YOLO</a:t>
            </a:r>
          </a:p>
        </p:txBody>
      </p:sp>
      <p:sp>
        <p:nvSpPr>
          <p:cNvPr id="4" name="Qué objeto aparece y dónde est">
            <a:extLst>
              <a:ext uri="{FF2B5EF4-FFF2-40B4-BE49-F238E27FC236}">
                <a16:creationId xmlns:a16="http://schemas.microsoft.com/office/drawing/2014/main" id="{80BB91CE-D908-44C3-BFA3-2367565E93E5}"/>
              </a:ext>
            </a:extLst>
          </p:cNvPr>
          <p:cNvSpPr>
            <a:spLocks noGrp="1"/>
          </p:cNvSpPr>
          <p:nvPr/>
        </p:nvSpPr>
        <p:spPr>
          <a:xfrm>
            <a:off x="571500" y="2257425"/>
            <a:ext cx="6572250" cy="762000"/>
          </a:xfrm>
          <a:prstGeom prst="rect">
            <a:avLst/>
          </a:prstGeom>
          <a:noFill/>
          <a:ln w="0">
            <a:noFill/>
            <a:prstDash val="solid"/>
          </a:ln>
        </p:spPr>
        <p:txBody>
          <a:bodyPr lIns="0" tIns="0" rIns="0" bIns="0">
            <a:noAutofit/>
          </a:bodyPr>
          <a:lstStyle>
            <a:defPPr>
              <a:defRPr sz="2325" b="0">
                <a:solidFill>
                  <a:srgbClr val="123C65"/>
                </a:solidFill>
                <a:latin typeface="DejaVu Sans"/>
                <a:ea typeface="DejaVu Sans"/>
                <a:cs typeface="DejaVu Sans"/>
              </a:defRPr>
            </a:defPPr>
            <a:lvl1pPr>
              <a:buNone/>
              <a:defRPr sz="2325" b="0">
                <a:solidFill>
                  <a:srgbClr val="123C65"/>
                </a:solidFill>
                <a:latin typeface="DejaVu Sans"/>
                <a:ea typeface="DejaVu Sans"/>
                <a:cs typeface="DejaVu Sans"/>
              </a:defRPr>
            </a:lvl1pPr>
            <a:lvl2pPr>
              <a:buNone/>
              <a:defRPr sz="2325" b="0">
                <a:solidFill>
                  <a:srgbClr val="123C65"/>
                </a:solidFill>
                <a:latin typeface="DejaVu Sans"/>
                <a:ea typeface="DejaVu Sans"/>
                <a:cs typeface="DejaVu Sans"/>
              </a:defRPr>
            </a:lvl2pPr>
            <a:lvl3pPr>
              <a:buNone/>
              <a:defRPr sz="2325" b="0">
                <a:solidFill>
                  <a:srgbClr val="123C65"/>
                </a:solidFill>
                <a:latin typeface="DejaVu Sans"/>
                <a:ea typeface="DejaVu Sans"/>
                <a:cs typeface="DejaVu Sans"/>
              </a:defRPr>
            </a:lvl3pPr>
            <a:lvl4pPr>
              <a:buNone/>
              <a:defRPr sz="2325" b="0">
                <a:solidFill>
                  <a:srgbClr val="123C65"/>
                </a:solidFill>
                <a:latin typeface="DejaVu Sans"/>
                <a:ea typeface="DejaVu Sans"/>
                <a:cs typeface="DejaVu Sans"/>
              </a:defRPr>
            </a:lvl4pPr>
            <a:lvl5pPr>
              <a:buNone/>
              <a:defRPr sz="2325" b="0">
                <a:solidFill>
                  <a:srgbClr val="123C65"/>
                </a:solidFill>
                <a:latin typeface="DejaVu Sans"/>
                <a:ea typeface="DejaVu Sans"/>
                <a:cs typeface="DejaVu Sans"/>
              </a:defRPr>
            </a:lvl5pPr>
            <a:lvl6pPr>
              <a:buNone/>
              <a:defRPr sz="2325" b="0">
                <a:solidFill>
                  <a:srgbClr val="123C65"/>
                </a:solidFill>
                <a:latin typeface="DejaVu Sans"/>
                <a:ea typeface="DejaVu Sans"/>
                <a:cs typeface="DejaVu Sans"/>
              </a:defRPr>
            </a:lvl6pPr>
            <a:lvl7pPr>
              <a:buNone/>
              <a:defRPr sz="2325" b="0">
                <a:solidFill>
                  <a:srgbClr val="123C65"/>
                </a:solidFill>
                <a:latin typeface="DejaVu Sans"/>
                <a:ea typeface="DejaVu Sans"/>
                <a:cs typeface="DejaVu Sans"/>
              </a:defRPr>
            </a:lvl7pPr>
            <a:lvl8pPr>
              <a:buNone/>
              <a:defRPr sz="2325" b="0">
                <a:solidFill>
                  <a:srgbClr val="123C65"/>
                </a:solidFill>
                <a:latin typeface="DejaVu Sans"/>
                <a:ea typeface="DejaVu Sans"/>
                <a:cs typeface="DejaVu Sans"/>
              </a:defRPr>
            </a:lvl8pPr>
            <a:lvl9pPr>
              <a:buNone/>
              <a:defRPr sz="2325" b="0">
                <a:solidFill>
                  <a:srgbClr val="123C65"/>
                </a:solidFill>
                <a:latin typeface="DejaVu Sans"/>
                <a:ea typeface="DejaVu Sans"/>
                <a:cs typeface="DejaVu Sans"/>
              </a:defRPr>
            </a:lvl9pPr>
          </a:lstStyle>
          <a:p>
            <a:pPr>
              <a:buNone/>
              <a:defRPr sz="2325" b="0">
                <a:solidFill>
                  <a:srgbClr val="123C65"/>
                </a:solidFill>
                <a:latin typeface="DejaVu Sans"/>
                <a:ea typeface="DejaVu Sans"/>
                <a:cs typeface="DejaVu Sans"/>
              </a:defRPr>
            </a:pPr>
            <a:r>
              <a:rPr sz="2325" b="0">
                <a:solidFill>
                  <a:srgbClr val="123C65"/>
                </a:solidFill>
                <a:latin typeface="Arial" panose="020B0604020202020204" pitchFamily="34" charset="0"/>
                <a:cs typeface="Arial" panose="020B0604020202020204" pitchFamily="34" charset="0"/>
              </a:rPr>
              <a:t>Qué objeto aparece y dónde está.</a:t>
            </a:r>
          </a:p>
        </p:txBody>
      </p:sp>
      <p:sp>
        <p:nvSpPr>
          <p:cNvPr id="5" name="ByteTrack">
            <a:extLst>
              <a:ext uri="{FF2B5EF4-FFF2-40B4-BE49-F238E27FC236}">
                <a16:creationId xmlns:a16="http://schemas.microsoft.com/office/drawing/2014/main" id="{0462F23C-1EBB-4FAD-B45F-36EE4E4F4D96}"/>
              </a:ext>
            </a:extLst>
          </p:cNvPr>
          <p:cNvSpPr>
            <a:spLocks noGrp="1"/>
          </p:cNvSpPr>
          <p:nvPr/>
        </p:nvSpPr>
        <p:spPr>
          <a:xfrm>
            <a:off x="571500" y="3286125"/>
            <a:ext cx="3048000" cy="523875"/>
          </a:xfrm>
          <a:prstGeom prst="rect">
            <a:avLst/>
          </a:prstGeom>
          <a:noFill/>
          <a:ln w="0">
            <a:noFill/>
            <a:prstDash val="solid"/>
          </a:ln>
        </p:spPr>
        <p:txBody>
          <a:bodyPr lIns="0" tIns="0" rIns="0" bIns="0">
            <a:noAutofit/>
          </a:bodyPr>
          <a:lstStyle>
            <a:defPPr>
              <a:defRPr sz="2625" b="1">
                <a:solidFill>
                  <a:srgbClr val="176AC0"/>
                </a:solidFill>
                <a:latin typeface="DejaVu Sans"/>
                <a:ea typeface="DejaVu Sans"/>
                <a:cs typeface="DejaVu Sans"/>
              </a:defRPr>
            </a:defPPr>
            <a:lvl1pPr>
              <a:buNone/>
              <a:defRPr sz="2625" b="1">
                <a:solidFill>
                  <a:srgbClr val="176AC0"/>
                </a:solidFill>
                <a:latin typeface="DejaVu Sans"/>
                <a:ea typeface="DejaVu Sans"/>
                <a:cs typeface="DejaVu Sans"/>
              </a:defRPr>
            </a:lvl1pPr>
            <a:lvl2pPr>
              <a:buNone/>
              <a:defRPr sz="2625" b="1">
                <a:solidFill>
                  <a:srgbClr val="176AC0"/>
                </a:solidFill>
                <a:latin typeface="DejaVu Sans"/>
                <a:ea typeface="DejaVu Sans"/>
                <a:cs typeface="DejaVu Sans"/>
              </a:defRPr>
            </a:lvl2pPr>
            <a:lvl3pPr>
              <a:buNone/>
              <a:defRPr sz="2625" b="1">
                <a:solidFill>
                  <a:srgbClr val="176AC0"/>
                </a:solidFill>
                <a:latin typeface="DejaVu Sans"/>
                <a:ea typeface="DejaVu Sans"/>
                <a:cs typeface="DejaVu Sans"/>
              </a:defRPr>
            </a:lvl3pPr>
            <a:lvl4pPr>
              <a:buNone/>
              <a:defRPr sz="2625" b="1">
                <a:solidFill>
                  <a:srgbClr val="176AC0"/>
                </a:solidFill>
                <a:latin typeface="DejaVu Sans"/>
                <a:ea typeface="DejaVu Sans"/>
                <a:cs typeface="DejaVu Sans"/>
              </a:defRPr>
            </a:lvl4pPr>
            <a:lvl5pPr>
              <a:buNone/>
              <a:defRPr sz="2625" b="1">
                <a:solidFill>
                  <a:srgbClr val="176AC0"/>
                </a:solidFill>
                <a:latin typeface="DejaVu Sans"/>
                <a:ea typeface="DejaVu Sans"/>
                <a:cs typeface="DejaVu Sans"/>
              </a:defRPr>
            </a:lvl5pPr>
            <a:lvl6pPr>
              <a:buNone/>
              <a:defRPr sz="2625" b="1">
                <a:solidFill>
                  <a:srgbClr val="176AC0"/>
                </a:solidFill>
                <a:latin typeface="DejaVu Sans"/>
                <a:ea typeface="DejaVu Sans"/>
                <a:cs typeface="DejaVu Sans"/>
              </a:defRPr>
            </a:lvl6pPr>
            <a:lvl7pPr>
              <a:buNone/>
              <a:defRPr sz="2625" b="1">
                <a:solidFill>
                  <a:srgbClr val="176AC0"/>
                </a:solidFill>
                <a:latin typeface="DejaVu Sans"/>
                <a:ea typeface="DejaVu Sans"/>
                <a:cs typeface="DejaVu Sans"/>
              </a:defRPr>
            </a:lvl7pPr>
            <a:lvl8pPr>
              <a:buNone/>
              <a:defRPr sz="2625" b="1">
                <a:solidFill>
                  <a:srgbClr val="176AC0"/>
                </a:solidFill>
                <a:latin typeface="DejaVu Sans"/>
                <a:ea typeface="DejaVu Sans"/>
                <a:cs typeface="DejaVu Sans"/>
              </a:defRPr>
            </a:lvl8pPr>
            <a:lvl9pPr>
              <a:buNone/>
              <a:defRPr sz="2625" b="1">
                <a:solidFill>
                  <a:srgbClr val="176AC0"/>
                </a:solidFill>
                <a:latin typeface="DejaVu Sans"/>
                <a:ea typeface="DejaVu Sans"/>
                <a:cs typeface="DejaVu Sans"/>
              </a:defRPr>
            </a:lvl9pPr>
          </a:lstStyle>
          <a:p>
            <a:pPr>
              <a:buNone/>
              <a:defRPr sz="2625" b="1">
                <a:solidFill>
                  <a:srgbClr val="176AC0"/>
                </a:solidFill>
                <a:latin typeface="DejaVu Sans"/>
                <a:ea typeface="DejaVu Sans"/>
                <a:cs typeface="DejaVu Sans"/>
              </a:defRPr>
            </a:pPr>
            <a:r>
              <a:rPr sz="2625" b="1">
                <a:solidFill>
                  <a:srgbClr val="176AC0"/>
                </a:solidFill>
                <a:latin typeface="Arial" panose="020B0604020202020204" pitchFamily="34" charset="0"/>
                <a:cs typeface="Arial" panose="020B0604020202020204" pitchFamily="34" charset="0"/>
              </a:rPr>
              <a:t>ByteTrack</a:t>
            </a:r>
          </a:p>
        </p:txBody>
      </p:sp>
      <p:sp>
        <p:nvSpPr>
          <p:cNvPr id="6" name="Qué observaciones pertenecen a">
            <a:extLst>
              <a:ext uri="{FF2B5EF4-FFF2-40B4-BE49-F238E27FC236}">
                <a16:creationId xmlns:a16="http://schemas.microsoft.com/office/drawing/2014/main" id="{72E4C6A9-8911-4A38-96DA-9B25A59FF584}"/>
              </a:ext>
            </a:extLst>
          </p:cNvPr>
          <p:cNvSpPr>
            <a:spLocks noGrp="1"/>
          </p:cNvSpPr>
          <p:nvPr/>
        </p:nvSpPr>
        <p:spPr>
          <a:xfrm>
            <a:off x="571500" y="3876675"/>
            <a:ext cx="6762750" cy="809625"/>
          </a:xfrm>
          <a:prstGeom prst="rect">
            <a:avLst/>
          </a:prstGeom>
          <a:noFill/>
          <a:ln w="0">
            <a:noFill/>
            <a:prstDash val="solid"/>
          </a:ln>
        </p:spPr>
        <p:txBody>
          <a:bodyPr lIns="0" tIns="0" rIns="0" bIns="0">
            <a:noAutofit/>
          </a:bodyPr>
          <a:lstStyle>
            <a:defPPr>
              <a:defRPr sz="2325" b="0">
                <a:solidFill>
                  <a:srgbClr val="123C65"/>
                </a:solidFill>
                <a:latin typeface="DejaVu Sans"/>
                <a:ea typeface="DejaVu Sans"/>
                <a:cs typeface="DejaVu Sans"/>
              </a:defRPr>
            </a:defPPr>
            <a:lvl1pPr>
              <a:buNone/>
              <a:defRPr sz="2325" b="0">
                <a:solidFill>
                  <a:srgbClr val="123C65"/>
                </a:solidFill>
                <a:latin typeface="DejaVu Sans"/>
                <a:ea typeface="DejaVu Sans"/>
                <a:cs typeface="DejaVu Sans"/>
              </a:defRPr>
            </a:lvl1pPr>
            <a:lvl2pPr>
              <a:buNone/>
              <a:defRPr sz="2325" b="0">
                <a:solidFill>
                  <a:srgbClr val="123C65"/>
                </a:solidFill>
                <a:latin typeface="DejaVu Sans"/>
                <a:ea typeface="DejaVu Sans"/>
                <a:cs typeface="DejaVu Sans"/>
              </a:defRPr>
            </a:lvl2pPr>
            <a:lvl3pPr>
              <a:buNone/>
              <a:defRPr sz="2325" b="0">
                <a:solidFill>
                  <a:srgbClr val="123C65"/>
                </a:solidFill>
                <a:latin typeface="DejaVu Sans"/>
                <a:ea typeface="DejaVu Sans"/>
                <a:cs typeface="DejaVu Sans"/>
              </a:defRPr>
            </a:lvl3pPr>
            <a:lvl4pPr>
              <a:buNone/>
              <a:defRPr sz="2325" b="0">
                <a:solidFill>
                  <a:srgbClr val="123C65"/>
                </a:solidFill>
                <a:latin typeface="DejaVu Sans"/>
                <a:ea typeface="DejaVu Sans"/>
                <a:cs typeface="DejaVu Sans"/>
              </a:defRPr>
            </a:lvl4pPr>
            <a:lvl5pPr>
              <a:buNone/>
              <a:defRPr sz="2325" b="0">
                <a:solidFill>
                  <a:srgbClr val="123C65"/>
                </a:solidFill>
                <a:latin typeface="DejaVu Sans"/>
                <a:ea typeface="DejaVu Sans"/>
                <a:cs typeface="DejaVu Sans"/>
              </a:defRPr>
            </a:lvl5pPr>
            <a:lvl6pPr>
              <a:buNone/>
              <a:defRPr sz="2325" b="0">
                <a:solidFill>
                  <a:srgbClr val="123C65"/>
                </a:solidFill>
                <a:latin typeface="DejaVu Sans"/>
                <a:ea typeface="DejaVu Sans"/>
                <a:cs typeface="DejaVu Sans"/>
              </a:defRPr>
            </a:lvl6pPr>
            <a:lvl7pPr>
              <a:buNone/>
              <a:defRPr sz="2325" b="0">
                <a:solidFill>
                  <a:srgbClr val="123C65"/>
                </a:solidFill>
                <a:latin typeface="DejaVu Sans"/>
                <a:ea typeface="DejaVu Sans"/>
                <a:cs typeface="DejaVu Sans"/>
              </a:defRPr>
            </a:lvl7pPr>
            <a:lvl8pPr>
              <a:buNone/>
              <a:defRPr sz="2325" b="0">
                <a:solidFill>
                  <a:srgbClr val="123C65"/>
                </a:solidFill>
                <a:latin typeface="DejaVu Sans"/>
                <a:ea typeface="DejaVu Sans"/>
                <a:cs typeface="DejaVu Sans"/>
              </a:defRPr>
            </a:lvl8pPr>
            <a:lvl9pPr>
              <a:buNone/>
              <a:defRPr sz="2325" b="0">
                <a:solidFill>
                  <a:srgbClr val="123C65"/>
                </a:solidFill>
                <a:latin typeface="DejaVu Sans"/>
                <a:ea typeface="DejaVu Sans"/>
                <a:cs typeface="DejaVu Sans"/>
              </a:defRPr>
            </a:lvl9pPr>
          </a:lstStyle>
          <a:p>
            <a:pPr>
              <a:buNone/>
              <a:defRPr sz="2325" b="0">
                <a:solidFill>
                  <a:srgbClr val="123C65"/>
                </a:solidFill>
                <a:latin typeface="DejaVu Sans"/>
                <a:ea typeface="DejaVu Sans"/>
                <a:cs typeface="DejaVu Sans"/>
              </a:defRPr>
            </a:pPr>
            <a:r>
              <a:rPr sz="2325" b="0">
                <a:solidFill>
                  <a:srgbClr val="123C65"/>
                </a:solidFill>
                <a:latin typeface="Arial" panose="020B0604020202020204" pitchFamily="34" charset="0"/>
                <a:cs typeface="Arial" panose="020B0604020202020204" pitchFamily="34" charset="0"/>
              </a:rPr>
              <a:t>Qué observaciones pertenecen al mismo objeto.</a:t>
            </a:r>
          </a:p>
        </p:txBody>
      </p:sp>
      <p:sp>
        <p:nvSpPr>
          <p:cNvPr id="7" name="modelo.track(...,&#10;    tracker=">
            <a:extLst>
              <a:ext uri="{FF2B5EF4-FFF2-40B4-BE49-F238E27FC236}">
                <a16:creationId xmlns:a16="http://schemas.microsoft.com/office/drawing/2014/main" id="{07E55CB3-C6D8-4DFA-B69A-672E1D3EB99E}"/>
              </a:ext>
            </a:extLst>
          </p:cNvPr>
          <p:cNvSpPr>
            <a:spLocks noGrp="1"/>
          </p:cNvSpPr>
          <p:nvPr/>
        </p:nvSpPr>
        <p:spPr>
          <a:xfrm>
            <a:off x="571500" y="5143500"/>
            <a:ext cx="7048500" cy="809625"/>
          </a:xfrm>
          <a:prstGeom prst="rect">
            <a:avLst/>
          </a:prstGeom>
          <a:noFill/>
          <a:ln w="0">
            <a:noFill/>
            <a:prstDash val="solid"/>
          </a:ln>
        </p:spPr>
        <p:txBody>
          <a:bodyPr lIns="0" tIns="0" rIns="0" bIns="0">
            <a:noAutofit/>
          </a:bodyPr>
          <a:lstStyle>
            <a:defPPr>
              <a:defRPr sz="1875" b="0">
                <a:solidFill>
                  <a:srgbClr val="123C65"/>
                </a:solidFill>
                <a:latin typeface="DejaVu Sans Mono"/>
                <a:ea typeface="DejaVu Sans Mono"/>
                <a:cs typeface="DejaVu Sans Mono"/>
              </a:defRPr>
            </a:defPPr>
            <a:lvl1pPr>
              <a:buNone/>
              <a:defRPr sz="1875" b="0">
                <a:solidFill>
                  <a:srgbClr val="123C65"/>
                </a:solidFill>
                <a:latin typeface="DejaVu Sans Mono"/>
                <a:ea typeface="DejaVu Sans Mono"/>
                <a:cs typeface="DejaVu Sans Mono"/>
              </a:defRPr>
            </a:lvl1pPr>
            <a:lvl2pPr>
              <a:buNone/>
              <a:defRPr sz="1875" b="0">
                <a:solidFill>
                  <a:srgbClr val="123C65"/>
                </a:solidFill>
                <a:latin typeface="DejaVu Sans Mono"/>
                <a:ea typeface="DejaVu Sans Mono"/>
                <a:cs typeface="DejaVu Sans Mono"/>
              </a:defRPr>
            </a:lvl2pPr>
            <a:lvl3pPr>
              <a:buNone/>
              <a:defRPr sz="1875" b="0">
                <a:solidFill>
                  <a:srgbClr val="123C65"/>
                </a:solidFill>
                <a:latin typeface="DejaVu Sans Mono"/>
                <a:ea typeface="DejaVu Sans Mono"/>
                <a:cs typeface="DejaVu Sans Mono"/>
              </a:defRPr>
            </a:lvl3pPr>
            <a:lvl4pPr>
              <a:buNone/>
              <a:defRPr sz="1875" b="0">
                <a:solidFill>
                  <a:srgbClr val="123C65"/>
                </a:solidFill>
                <a:latin typeface="DejaVu Sans Mono"/>
                <a:ea typeface="DejaVu Sans Mono"/>
                <a:cs typeface="DejaVu Sans Mono"/>
              </a:defRPr>
            </a:lvl4pPr>
            <a:lvl5pPr>
              <a:buNone/>
              <a:defRPr sz="1875" b="0">
                <a:solidFill>
                  <a:srgbClr val="123C65"/>
                </a:solidFill>
                <a:latin typeface="DejaVu Sans Mono"/>
                <a:ea typeface="DejaVu Sans Mono"/>
                <a:cs typeface="DejaVu Sans Mono"/>
              </a:defRPr>
            </a:lvl5pPr>
            <a:lvl6pPr>
              <a:buNone/>
              <a:defRPr sz="1875" b="0">
                <a:solidFill>
                  <a:srgbClr val="123C65"/>
                </a:solidFill>
                <a:latin typeface="DejaVu Sans Mono"/>
                <a:ea typeface="DejaVu Sans Mono"/>
                <a:cs typeface="DejaVu Sans Mono"/>
              </a:defRPr>
            </a:lvl6pPr>
            <a:lvl7pPr>
              <a:buNone/>
              <a:defRPr sz="1875" b="0">
                <a:solidFill>
                  <a:srgbClr val="123C65"/>
                </a:solidFill>
                <a:latin typeface="DejaVu Sans Mono"/>
                <a:ea typeface="DejaVu Sans Mono"/>
                <a:cs typeface="DejaVu Sans Mono"/>
              </a:defRPr>
            </a:lvl7pPr>
            <a:lvl8pPr>
              <a:buNone/>
              <a:defRPr sz="1875" b="0">
                <a:solidFill>
                  <a:srgbClr val="123C65"/>
                </a:solidFill>
                <a:latin typeface="DejaVu Sans Mono"/>
                <a:ea typeface="DejaVu Sans Mono"/>
                <a:cs typeface="DejaVu Sans Mono"/>
              </a:defRPr>
            </a:lvl8pPr>
            <a:lvl9pPr>
              <a:buNone/>
              <a:defRPr sz="1875" b="0">
                <a:solidFill>
                  <a:srgbClr val="123C65"/>
                </a:solidFill>
                <a:latin typeface="DejaVu Sans Mono"/>
                <a:ea typeface="DejaVu Sans Mono"/>
                <a:cs typeface="DejaVu Sans Mono"/>
              </a:defRPr>
            </a:lvl9pPr>
          </a:lstStyle>
          <a:p>
            <a:pPr>
              <a:buNone/>
              <a:defRPr sz="1875" b="0">
                <a:solidFill>
                  <a:srgbClr val="123C65"/>
                </a:solidFill>
                <a:latin typeface="DejaVu Sans Mono"/>
                <a:ea typeface="DejaVu Sans Mono"/>
                <a:cs typeface="DejaVu Sans Mono"/>
              </a:defRPr>
            </a:pPr>
            <a:r>
              <a:rPr sz="1875" b="0">
                <a:solidFill>
                  <a:srgbClr val="123C65"/>
                </a:solidFill>
                <a:latin typeface="DejaVu Sans Mono"/>
                <a:ea typeface="DejaVu Sans Mono"/>
                <a:cs typeface="DejaVu Sans Mono"/>
              </a:rPr>
              <a:t>modelo.track(...,</a:t>
            </a:r>
          </a:p>
          <a:p>
            <a:pPr>
              <a:buNone/>
              <a:defRPr sz="1875" b="0">
                <a:solidFill>
                  <a:srgbClr val="123C65"/>
                </a:solidFill>
                <a:latin typeface="DejaVu Sans Mono"/>
                <a:ea typeface="DejaVu Sans Mono"/>
                <a:cs typeface="DejaVu Sans Mono"/>
              </a:defRPr>
            </a:pPr>
            <a:r>
              <a:rPr sz="1875" b="0">
                <a:solidFill>
                  <a:srgbClr val="123C65"/>
                </a:solidFill>
                <a:latin typeface="DejaVu Sans Mono"/>
                <a:ea typeface="DejaVu Sans Mono"/>
                <a:cs typeface="DejaVu Sans Mono"/>
              </a:rPr>
              <a:t>    tracker="bytetrack.yaml")</a:t>
            </a:r>
          </a:p>
        </p:txBody>
      </p:sp>
      <p:sp>
        <p:nvSpPr>
          <p:cNvPr id="8" name="OpenCV: resize() adapta la vis">
            <a:extLst>
              <a:ext uri="{FF2B5EF4-FFF2-40B4-BE49-F238E27FC236}">
                <a16:creationId xmlns:a16="http://schemas.microsoft.com/office/drawing/2014/main" id="{B4AD66A8-5E5A-4D66-9C44-6AA92BE58D0B}"/>
              </a:ext>
            </a:extLst>
          </p:cNvPr>
          <p:cNvSpPr>
            <a:spLocks noGrp="1"/>
          </p:cNvSpPr>
          <p:nvPr/>
        </p:nvSpPr>
        <p:spPr>
          <a:xfrm>
            <a:off x="571500" y="6143625"/>
            <a:ext cx="7524750" cy="333375"/>
          </a:xfrm>
          <a:prstGeom prst="rect">
            <a:avLst/>
          </a:prstGeom>
          <a:noFill/>
          <a:ln w="0">
            <a:noFill/>
            <a:prstDash val="solid"/>
          </a:ln>
        </p:spPr>
        <p:txBody>
          <a:bodyPr lIns="0" tIns="0" rIns="0" bIns="0">
            <a:noAutofit/>
          </a:bodyPr>
          <a:lstStyle>
            <a:defPPr>
              <a:defRPr sz="1650" b="0">
                <a:solidFill>
                  <a:srgbClr val="476880"/>
                </a:solidFill>
                <a:latin typeface="DejaVu Sans"/>
                <a:ea typeface="DejaVu Sans"/>
                <a:cs typeface="DejaVu Sans"/>
              </a:defRPr>
            </a:defPPr>
            <a:lvl1pPr>
              <a:buNone/>
              <a:defRPr sz="1650" b="0">
                <a:solidFill>
                  <a:srgbClr val="476880"/>
                </a:solidFill>
                <a:latin typeface="DejaVu Sans"/>
                <a:ea typeface="DejaVu Sans"/>
                <a:cs typeface="DejaVu Sans"/>
              </a:defRPr>
            </a:lvl1pPr>
            <a:lvl2pPr>
              <a:buNone/>
              <a:defRPr sz="1650" b="0">
                <a:solidFill>
                  <a:srgbClr val="476880"/>
                </a:solidFill>
                <a:latin typeface="DejaVu Sans"/>
                <a:ea typeface="DejaVu Sans"/>
                <a:cs typeface="DejaVu Sans"/>
              </a:defRPr>
            </a:lvl2pPr>
            <a:lvl3pPr>
              <a:buNone/>
              <a:defRPr sz="1650" b="0">
                <a:solidFill>
                  <a:srgbClr val="476880"/>
                </a:solidFill>
                <a:latin typeface="DejaVu Sans"/>
                <a:ea typeface="DejaVu Sans"/>
                <a:cs typeface="DejaVu Sans"/>
              </a:defRPr>
            </a:lvl3pPr>
            <a:lvl4pPr>
              <a:buNone/>
              <a:defRPr sz="1650" b="0">
                <a:solidFill>
                  <a:srgbClr val="476880"/>
                </a:solidFill>
                <a:latin typeface="DejaVu Sans"/>
                <a:ea typeface="DejaVu Sans"/>
                <a:cs typeface="DejaVu Sans"/>
              </a:defRPr>
            </a:lvl4pPr>
            <a:lvl5pPr>
              <a:buNone/>
              <a:defRPr sz="1650" b="0">
                <a:solidFill>
                  <a:srgbClr val="476880"/>
                </a:solidFill>
                <a:latin typeface="DejaVu Sans"/>
                <a:ea typeface="DejaVu Sans"/>
                <a:cs typeface="DejaVu Sans"/>
              </a:defRPr>
            </a:lvl5pPr>
            <a:lvl6pPr>
              <a:buNone/>
              <a:defRPr sz="1650" b="0">
                <a:solidFill>
                  <a:srgbClr val="476880"/>
                </a:solidFill>
                <a:latin typeface="DejaVu Sans"/>
                <a:ea typeface="DejaVu Sans"/>
                <a:cs typeface="DejaVu Sans"/>
              </a:defRPr>
            </a:lvl6pPr>
            <a:lvl7pPr>
              <a:buNone/>
              <a:defRPr sz="1650" b="0">
                <a:solidFill>
                  <a:srgbClr val="476880"/>
                </a:solidFill>
                <a:latin typeface="DejaVu Sans"/>
                <a:ea typeface="DejaVu Sans"/>
                <a:cs typeface="DejaVu Sans"/>
              </a:defRPr>
            </a:lvl7pPr>
            <a:lvl8pPr>
              <a:buNone/>
              <a:defRPr sz="1650" b="0">
                <a:solidFill>
                  <a:srgbClr val="476880"/>
                </a:solidFill>
                <a:latin typeface="DejaVu Sans"/>
                <a:ea typeface="DejaVu Sans"/>
                <a:cs typeface="DejaVu Sans"/>
              </a:defRPr>
            </a:lvl8pPr>
            <a:lvl9pPr>
              <a:buNone/>
              <a:defRPr sz="1650" b="0">
                <a:solidFill>
                  <a:srgbClr val="476880"/>
                </a:solidFill>
                <a:latin typeface="DejaVu Sans"/>
                <a:ea typeface="DejaVu Sans"/>
                <a:cs typeface="DejaVu Sans"/>
              </a:defRPr>
            </a:lvl9pPr>
          </a:lstStyle>
          <a:p>
            <a:pPr>
              <a:buNone/>
              <a:defRPr sz="1650" b="0">
                <a:solidFill>
                  <a:srgbClr val="476880"/>
                </a:solidFill>
                <a:latin typeface="DejaVu Sans"/>
                <a:ea typeface="DejaVu Sans"/>
                <a:cs typeface="DejaVu Sans"/>
              </a:defRPr>
            </a:pPr>
            <a:r>
              <a:rPr sz="1650" b="0">
                <a:solidFill>
                  <a:srgbClr val="476880"/>
                </a:solidFill>
                <a:latin typeface="DejaVu Sans"/>
                <a:ea typeface="DejaVu Sans"/>
                <a:cs typeface="DejaVu Sans"/>
              </a:rPr>
              <a:t>OpenCV: resize() adapta la vista; imshow() la muestra.</a:t>
            </a:r>
          </a:p>
        </p:txBody>
      </p:sp>
      <p:pic>
        <p:nvPicPr>
          <p:cNvPr id="9" name="Imagen 8">
            <a:extLst>
              <a:ext uri="{FF2B5EF4-FFF2-40B4-BE49-F238E27FC236}">
                <a16:creationId xmlns:a16="http://schemas.microsoft.com/office/drawing/2014/main" id="{0B49CC1C-7BC6-4B0E-B35C-33FAD0CA68C9}"/>
              </a:ext>
            </a:extLst>
          </p:cNvPr>
          <p:cNvPicPr>
            <a:picLocks noChangeAspect="1"/>
          </p:cNvPicPr>
          <p:nvPr/>
        </p:nvPicPr>
        <p:blipFill>
          <a:blip r:embed="rId3"/>
          <a:stretch/>
        </p:blipFill>
        <p:spPr>
          <a:xfrm>
            <a:off x="8724900" y="1477536"/>
            <a:ext cx="2457450" cy="4369653"/>
          </a:xfrm>
          <a:prstGeom prst="rect">
            <a:avLst/>
          </a:prstGeom>
        </p:spPr>
      </p:pic>
      <p:pic>
        <p:nvPicPr>
          <p:cNvPr id="12" name="Imagen 11">
            <a:extLst>
              <a:ext uri="{FF2B5EF4-FFF2-40B4-BE49-F238E27FC236}">
                <a16:creationId xmlns:a16="http://schemas.microsoft.com/office/drawing/2014/main" id="{A134C452-6132-4CAE-9181-DFB229F9112D}"/>
              </a:ext>
            </a:extLst>
          </p:cNvPr>
          <p:cNvPicPr>
            <a:picLocks noChangeAspect="1"/>
          </p:cNvPicPr>
          <p:nvPr/>
        </p:nvPicPr>
        <p:blipFill rotWithShape="1">
          <a:blip r:embed="rId4"/>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2008859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Movimiento lateral y aproximac">
            <a:extLst>
              <a:ext uri="{FF2B5EF4-FFF2-40B4-BE49-F238E27FC236}">
                <a16:creationId xmlns:a16="http://schemas.microsoft.com/office/drawing/2014/main" id="{9513272A-EE8E-42C7-A8F7-95DE588D25C9}"/>
              </a:ext>
            </a:extLst>
          </p:cNvPr>
          <p:cNvSpPr>
            <a:spLocks noGrp="1"/>
          </p:cNvSpPr>
          <p:nvPr/>
        </p:nvSpPr>
        <p:spPr>
          <a:xfrm>
            <a:off x="523875" y="381000"/>
            <a:ext cx="11144250" cy="904875"/>
          </a:xfrm>
          <a:prstGeom prst="rect">
            <a:avLst/>
          </a:prstGeom>
          <a:noFill/>
          <a:ln w="0">
            <a:noFill/>
            <a:prstDash val="solid"/>
          </a:ln>
        </p:spPr>
        <p:txBody>
          <a:bodyPr lIns="0" tIns="0" rIns="0" bIns="0">
            <a:noAutofit/>
          </a:bodyPr>
          <a:lstStyle>
            <a:defPPr>
              <a:defRPr sz="3300" b="1">
                <a:solidFill>
                  <a:srgbClr val="123C65"/>
                </a:solidFill>
                <a:latin typeface="DejaVu Sans"/>
                <a:ea typeface="DejaVu Sans"/>
                <a:cs typeface="DejaVu Sans"/>
              </a:defRPr>
            </a:defPPr>
            <a:lvl1pPr>
              <a:buNone/>
              <a:defRPr sz="3300" b="1">
                <a:solidFill>
                  <a:srgbClr val="123C65"/>
                </a:solidFill>
                <a:latin typeface="DejaVu Sans"/>
                <a:ea typeface="DejaVu Sans"/>
                <a:cs typeface="DejaVu Sans"/>
              </a:defRPr>
            </a:lvl1pPr>
            <a:lvl2pPr>
              <a:buNone/>
              <a:defRPr sz="3300" b="1">
                <a:solidFill>
                  <a:srgbClr val="123C65"/>
                </a:solidFill>
                <a:latin typeface="DejaVu Sans"/>
                <a:ea typeface="DejaVu Sans"/>
                <a:cs typeface="DejaVu Sans"/>
              </a:defRPr>
            </a:lvl2pPr>
            <a:lvl3pPr>
              <a:buNone/>
              <a:defRPr sz="3300" b="1">
                <a:solidFill>
                  <a:srgbClr val="123C65"/>
                </a:solidFill>
                <a:latin typeface="DejaVu Sans"/>
                <a:ea typeface="DejaVu Sans"/>
                <a:cs typeface="DejaVu Sans"/>
              </a:defRPr>
            </a:lvl3pPr>
            <a:lvl4pPr>
              <a:buNone/>
              <a:defRPr sz="3300" b="1">
                <a:solidFill>
                  <a:srgbClr val="123C65"/>
                </a:solidFill>
                <a:latin typeface="DejaVu Sans"/>
                <a:ea typeface="DejaVu Sans"/>
                <a:cs typeface="DejaVu Sans"/>
              </a:defRPr>
            </a:lvl4pPr>
            <a:lvl5pPr>
              <a:buNone/>
              <a:defRPr sz="3300" b="1">
                <a:solidFill>
                  <a:srgbClr val="123C65"/>
                </a:solidFill>
                <a:latin typeface="DejaVu Sans"/>
                <a:ea typeface="DejaVu Sans"/>
                <a:cs typeface="DejaVu Sans"/>
              </a:defRPr>
            </a:lvl5pPr>
            <a:lvl6pPr>
              <a:buNone/>
              <a:defRPr sz="3300" b="1">
                <a:solidFill>
                  <a:srgbClr val="123C65"/>
                </a:solidFill>
                <a:latin typeface="DejaVu Sans"/>
                <a:ea typeface="DejaVu Sans"/>
                <a:cs typeface="DejaVu Sans"/>
              </a:defRPr>
            </a:lvl6pPr>
            <a:lvl7pPr>
              <a:buNone/>
              <a:defRPr sz="3300" b="1">
                <a:solidFill>
                  <a:srgbClr val="123C65"/>
                </a:solidFill>
                <a:latin typeface="DejaVu Sans"/>
                <a:ea typeface="DejaVu Sans"/>
                <a:cs typeface="DejaVu Sans"/>
              </a:defRPr>
            </a:lvl7pPr>
            <a:lvl8pPr>
              <a:buNone/>
              <a:defRPr sz="3300" b="1">
                <a:solidFill>
                  <a:srgbClr val="123C65"/>
                </a:solidFill>
                <a:latin typeface="DejaVu Sans"/>
                <a:ea typeface="DejaVu Sans"/>
                <a:cs typeface="DejaVu Sans"/>
              </a:defRPr>
            </a:lvl8pPr>
            <a:lvl9pPr>
              <a:buNone/>
              <a:defRPr sz="3300" b="1">
                <a:solidFill>
                  <a:srgbClr val="123C65"/>
                </a:solidFill>
                <a:latin typeface="DejaVu Sans"/>
                <a:ea typeface="DejaVu Sans"/>
                <a:cs typeface="DejaVu Sans"/>
              </a:defRPr>
            </a:lvl9pPr>
          </a:lstStyle>
          <a:p>
            <a:pPr>
              <a:buNone/>
              <a:defRPr sz="3300" b="1">
                <a:solidFill>
                  <a:srgbClr val="123C65"/>
                </a:solidFill>
                <a:latin typeface="DejaVu Sans"/>
                <a:ea typeface="DejaVu Sans"/>
                <a:cs typeface="DejaVu Sans"/>
              </a:defRPr>
            </a:pPr>
            <a:r>
              <a:rPr sz="3300" b="1">
                <a:solidFill>
                  <a:srgbClr val="123C65"/>
                </a:solidFill>
                <a:latin typeface="Arial" panose="020B0604020202020204" pitchFamily="34" charset="0"/>
                <a:cs typeface="Arial" panose="020B0604020202020204" pitchFamily="34" charset="0"/>
              </a:rPr>
              <a:t>Movimiento lateral y aproximación</a:t>
            </a:r>
          </a:p>
        </p:txBody>
      </p:sp>
      <p:sp>
        <p:nvSpPr>
          <p:cNvPr id="2" name="04">
            <a:extLst>
              <a:ext uri="{FF2B5EF4-FFF2-40B4-BE49-F238E27FC236}">
                <a16:creationId xmlns:a16="http://schemas.microsoft.com/office/drawing/2014/main" id="{EFE4C968-42DD-4E98-A628-1CBF383727E3}"/>
              </a:ext>
            </a:extLst>
          </p:cNvPr>
          <p:cNvSpPr>
            <a:spLocks noGrp="1"/>
          </p:cNvSpPr>
          <p:nvPr/>
        </p:nvSpPr>
        <p:spPr>
          <a:xfrm>
            <a:off x="11144250" y="6438900"/>
            <a:ext cx="476250" cy="238125"/>
          </a:xfrm>
          <a:prstGeom prst="rect">
            <a:avLst/>
          </a:prstGeom>
          <a:noFill/>
          <a:ln w="0">
            <a:noFill/>
            <a:prstDash val="solid"/>
          </a:ln>
        </p:spPr>
        <p:txBody>
          <a:bodyPr lIns="0" tIns="0" rIns="0" bIns="0">
            <a:noAutofit/>
          </a:bodyPr>
          <a:lstStyle>
            <a:defPPr>
              <a:defRPr sz="1200" b="0">
                <a:solidFill>
                  <a:srgbClr val="476880"/>
                </a:solidFill>
                <a:latin typeface="DejaVu Sans"/>
                <a:ea typeface="DejaVu Sans"/>
                <a:cs typeface="DejaVu Sans"/>
              </a:defRPr>
            </a:defPPr>
            <a:lvl1pPr>
              <a:buNone/>
              <a:defRPr sz="1200" b="0">
                <a:solidFill>
                  <a:srgbClr val="476880"/>
                </a:solidFill>
                <a:latin typeface="DejaVu Sans"/>
                <a:ea typeface="DejaVu Sans"/>
                <a:cs typeface="DejaVu Sans"/>
              </a:defRPr>
            </a:lvl1pPr>
            <a:lvl2pPr>
              <a:buNone/>
              <a:defRPr sz="1200" b="0">
                <a:solidFill>
                  <a:srgbClr val="476880"/>
                </a:solidFill>
                <a:latin typeface="DejaVu Sans"/>
                <a:ea typeface="DejaVu Sans"/>
                <a:cs typeface="DejaVu Sans"/>
              </a:defRPr>
            </a:lvl2pPr>
            <a:lvl3pPr>
              <a:buNone/>
              <a:defRPr sz="1200" b="0">
                <a:solidFill>
                  <a:srgbClr val="476880"/>
                </a:solidFill>
                <a:latin typeface="DejaVu Sans"/>
                <a:ea typeface="DejaVu Sans"/>
                <a:cs typeface="DejaVu Sans"/>
              </a:defRPr>
            </a:lvl3pPr>
            <a:lvl4pPr>
              <a:buNone/>
              <a:defRPr sz="1200" b="0">
                <a:solidFill>
                  <a:srgbClr val="476880"/>
                </a:solidFill>
                <a:latin typeface="DejaVu Sans"/>
                <a:ea typeface="DejaVu Sans"/>
                <a:cs typeface="DejaVu Sans"/>
              </a:defRPr>
            </a:lvl4pPr>
            <a:lvl5pPr>
              <a:buNone/>
              <a:defRPr sz="1200" b="0">
                <a:solidFill>
                  <a:srgbClr val="476880"/>
                </a:solidFill>
                <a:latin typeface="DejaVu Sans"/>
                <a:ea typeface="DejaVu Sans"/>
                <a:cs typeface="DejaVu Sans"/>
              </a:defRPr>
            </a:lvl5pPr>
            <a:lvl6pPr>
              <a:buNone/>
              <a:defRPr sz="1200" b="0">
                <a:solidFill>
                  <a:srgbClr val="476880"/>
                </a:solidFill>
                <a:latin typeface="DejaVu Sans"/>
                <a:ea typeface="DejaVu Sans"/>
                <a:cs typeface="DejaVu Sans"/>
              </a:defRPr>
            </a:lvl6pPr>
            <a:lvl7pPr>
              <a:buNone/>
              <a:defRPr sz="1200" b="0">
                <a:solidFill>
                  <a:srgbClr val="476880"/>
                </a:solidFill>
                <a:latin typeface="DejaVu Sans"/>
                <a:ea typeface="DejaVu Sans"/>
                <a:cs typeface="DejaVu Sans"/>
              </a:defRPr>
            </a:lvl7pPr>
            <a:lvl8pPr>
              <a:buNone/>
              <a:defRPr sz="1200" b="0">
                <a:solidFill>
                  <a:srgbClr val="476880"/>
                </a:solidFill>
                <a:latin typeface="DejaVu Sans"/>
                <a:ea typeface="DejaVu Sans"/>
                <a:cs typeface="DejaVu Sans"/>
              </a:defRPr>
            </a:lvl8pPr>
            <a:lvl9pPr>
              <a:buNone/>
              <a:defRPr sz="1200" b="0">
                <a:solidFill>
                  <a:srgbClr val="476880"/>
                </a:solidFill>
                <a:latin typeface="DejaVu Sans"/>
                <a:ea typeface="DejaVu Sans"/>
                <a:cs typeface="DejaVu Sans"/>
              </a:defRPr>
            </a:lvl9pPr>
          </a:lstStyle>
          <a:p>
            <a:pPr>
              <a:buNone/>
              <a:defRPr sz="1200" b="0">
                <a:solidFill>
                  <a:srgbClr val="476880"/>
                </a:solidFill>
                <a:latin typeface="DejaVu Sans"/>
                <a:ea typeface="DejaVu Sans"/>
                <a:cs typeface="DejaVu Sans"/>
              </a:defRPr>
            </a:pPr>
            <a:r>
              <a:rPr sz="1200" b="0">
                <a:solidFill>
                  <a:srgbClr val="476880"/>
                </a:solidFill>
                <a:latin typeface="DejaVu Sans"/>
                <a:ea typeface="DejaVu Sans"/>
                <a:cs typeface="DejaVu Sans"/>
              </a:rPr>
              <a:t>09</a:t>
            </a:r>
          </a:p>
        </p:txBody>
      </p:sp>
      <p:sp>
        <p:nvSpPr>
          <p:cNvPr id="3" name="Posición de la caja">
            <a:extLst>
              <a:ext uri="{FF2B5EF4-FFF2-40B4-BE49-F238E27FC236}">
                <a16:creationId xmlns:a16="http://schemas.microsoft.com/office/drawing/2014/main" id="{97D999EA-674C-41EE-A224-9FF5B9B751AE}"/>
              </a:ext>
            </a:extLst>
          </p:cNvPr>
          <p:cNvSpPr>
            <a:spLocks noGrp="1"/>
          </p:cNvSpPr>
          <p:nvPr/>
        </p:nvSpPr>
        <p:spPr>
          <a:xfrm>
            <a:off x="571500" y="1647825"/>
            <a:ext cx="5143500" cy="523875"/>
          </a:xfrm>
          <a:prstGeom prst="rect">
            <a:avLst/>
          </a:prstGeom>
          <a:noFill/>
          <a:ln w="0">
            <a:noFill/>
            <a:prstDash val="solid"/>
          </a:ln>
        </p:spPr>
        <p:txBody>
          <a:bodyPr lIns="0" tIns="0" rIns="0" bIns="0">
            <a:noAutofit/>
          </a:bodyPr>
          <a:lstStyle>
            <a:defPPr>
              <a:defRPr sz="2475" b="1">
                <a:solidFill>
                  <a:srgbClr val="176AC0"/>
                </a:solidFill>
                <a:latin typeface="DejaVu Sans"/>
                <a:ea typeface="DejaVu Sans"/>
                <a:cs typeface="DejaVu Sans"/>
              </a:defRPr>
            </a:defPPr>
            <a:lvl1pPr>
              <a:buNone/>
              <a:defRPr sz="2475" b="1">
                <a:solidFill>
                  <a:srgbClr val="176AC0"/>
                </a:solidFill>
                <a:latin typeface="DejaVu Sans"/>
                <a:ea typeface="DejaVu Sans"/>
                <a:cs typeface="DejaVu Sans"/>
              </a:defRPr>
            </a:lvl1pPr>
            <a:lvl2pPr>
              <a:buNone/>
              <a:defRPr sz="2475" b="1">
                <a:solidFill>
                  <a:srgbClr val="176AC0"/>
                </a:solidFill>
                <a:latin typeface="DejaVu Sans"/>
                <a:ea typeface="DejaVu Sans"/>
                <a:cs typeface="DejaVu Sans"/>
              </a:defRPr>
            </a:lvl2pPr>
            <a:lvl3pPr>
              <a:buNone/>
              <a:defRPr sz="2475" b="1">
                <a:solidFill>
                  <a:srgbClr val="176AC0"/>
                </a:solidFill>
                <a:latin typeface="DejaVu Sans"/>
                <a:ea typeface="DejaVu Sans"/>
                <a:cs typeface="DejaVu Sans"/>
              </a:defRPr>
            </a:lvl3pPr>
            <a:lvl4pPr>
              <a:buNone/>
              <a:defRPr sz="2475" b="1">
                <a:solidFill>
                  <a:srgbClr val="176AC0"/>
                </a:solidFill>
                <a:latin typeface="DejaVu Sans"/>
                <a:ea typeface="DejaVu Sans"/>
                <a:cs typeface="DejaVu Sans"/>
              </a:defRPr>
            </a:lvl4pPr>
            <a:lvl5pPr>
              <a:buNone/>
              <a:defRPr sz="2475" b="1">
                <a:solidFill>
                  <a:srgbClr val="176AC0"/>
                </a:solidFill>
                <a:latin typeface="DejaVu Sans"/>
                <a:ea typeface="DejaVu Sans"/>
                <a:cs typeface="DejaVu Sans"/>
              </a:defRPr>
            </a:lvl5pPr>
            <a:lvl6pPr>
              <a:buNone/>
              <a:defRPr sz="2475" b="1">
                <a:solidFill>
                  <a:srgbClr val="176AC0"/>
                </a:solidFill>
                <a:latin typeface="DejaVu Sans"/>
                <a:ea typeface="DejaVu Sans"/>
                <a:cs typeface="DejaVu Sans"/>
              </a:defRPr>
            </a:lvl6pPr>
            <a:lvl7pPr>
              <a:buNone/>
              <a:defRPr sz="2475" b="1">
                <a:solidFill>
                  <a:srgbClr val="176AC0"/>
                </a:solidFill>
                <a:latin typeface="DejaVu Sans"/>
                <a:ea typeface="DejaVu Sans"/>
                <a:cs typeface="DejaVu Sans"/>
              </a:defRPr>
            </a:lvl7pPr>
            <a:lvl8pPr>
              <a:buNone/>
              <a:defRPr sz="2475" b="1">
                <a:solidFill>
                  <a:srgbClr val="176AC0"/>
                </a:solidFill>
                <a:latin typeface="DejaVu Sans"/>
                <a:ea typeface="DejaVu Sans"/>
                <a:cs typeface="DejaVu Sans"/>
              </a:defRPr>
            </a:lvl8pPr>
            <a:lvl9pPr>
              <a:buNone/>
              <a:defRPr sz="2475" b="1">
                <a:solidFill>
                  <a:srgbClr val="176AC0"/>
                </a:solidFill>
                <a:latin typeface="DejaVu Sans"/>
                <a:ea typeface="DejaVu Sans"/>
                <a:cs typeface="DejaVu Sans"/>
              </a:defRPr>
            </a:lvl9pPr>
          </a:lstStyle>
          <a:p>
            <a:pPr>
              <a:buNone/>
              <a:defRPr sz="2475" b="1">
                <a:solidFill>
                  <a:srgbClr val="176AC0"/>
                </a:solidFill>
                <a:latin typeface="DejaVu Sans"/>
                <a:ea typeface="DejaVu Sans"/>
                <a:cs typeface="DejaVu Sans"/>
              </a:defRPr>
            </a:pPr>
            <a:r>
              <a:rPr sz="2475" b="1">
                <a:solidFill>
                  <a:srgbClr val="176AC0"/>
                </a:solidFill>
                <a:latin typeface="Arial" panose="020B0604020202020204" pitchFamily="34" charset="0"/>
                <a:cs typeface="Arial" panose="020B0604020202020204" pitchFamily="34" charset="0"/>
              </a:rPr>
              <a:t>Posición de la caja</a:t>
            </a:r>
          </a:p>
        </p:txBody>
      </p:sp>
      <p:sp>
        <p:nvSpPr>
          <p:cNvPr id="4" name="Permite estimar rapidez y dire">
            <a:extLst>
              <a:ext uri="{FF2B5EF4-FFF2-40B4-BE49-F238E27FC236}">
                <a16:creationId xmlns:a16="http://schemas.microsoft.com/office/drawing/2014/main" id="{B7C6855E-1C9A-46AD-A4A4-C21ACFFA01AE}"/>
              </a:ext>
            </a:extLst>
          </p:cNvPr>
          <p:cNvSpPr>
            <a:spLocks noGrp="1"/>
          </p:cNvSpPr>
          <p:nvPr/>
        </p:nvSpPr>
        <p:spPr>
          <a:xfrm>
            <a:off x="571500" y="2276475"/>
            <a:ext cx="5143500" cy="1047750"/>
          </a:xfrm>
          <a:prstGeom prst="rect">
            <a:avLst/>
          </a:prstGeom>
          <a:noFill/>
          <a:ln w="0">
            <a:noFill/>
            <a:prstDash val="solid"/>
          </a:ln>
        </p:spPr>
        <p:txBody>
          <a:bodyPr lIns="0" tIns="0" rIns="0" bIns="0">
            <a:noAutofit/>
          </a:bodyPr>
          <a:lstStyle>
            <a:defPPr>
              <a:defRPr sz="2175" b="0">
                <a:solidFill>
                  <a:srgbClr val="123C65"/>
                </a:solidFill>
                <a:latin typeface="DejaVu Sans"/>
                <a:ea typeface="DejaVu Sans"/>
                <a:cs typeface="DejaVu Sans"/>
              </a:defRPr>
            </a:defPPr>
            <a:lvl1pPr>
              <a:buNone/>
              <a:defRPr sz="2175" b="0">
                <a:solidFill>
                  <a:srgbClr val="123C65"/>
                </a:solidFill>
                <a:latin typeface="DejaVu Sans"/>
                <a:ea typeface="DejaVu Sans"/>
                <a:cs typeface="DejaVu Sans"/>
              </a:defRPr>
            </a:lvl1pPr>
            <a:lvl2pPr>
              <a:buNone/>
              <a:defRPr sz="2175" b="0">
                <a:solidFill>
                  <a:srgbClr val="123C65"/>
                </a:solidFill>
                <a:latin typeface="DejaVu Sans"/>
                <a:ea typeface="DejaVu Sans"/>
                <a:cs typeface="DejaVu Sans"/>
              </a:defRPr>
            </a:lvl2pPr>
            <a:lvl3pPr>
              <a:buNone/>
              <a:defRPr sz="2175" b="0">
                <a:solidFill>
                  <a:srgbClr val="123C65"/>
                </a:solidFill>
                <a:latin typeface="DejaVu Sans"/>
                <a:ea typeface="DejaVu Sans"/>
                <a:cs typeface="DejaVu Sans"/>
              </a:defRPr>
            </a:lvl3pPr>
            <a:lvl4pPr>
              <a:buNone/>
              <a:defRPr sz="2175" b="0">
                <a:solidFill>
                  <a:srgbClr val="123C65"/>
                </a:solidFill>
                <a:latin typeface="DejaVu Sans"/>
                <a:ea typeface="DejaVu Sans"/>
                <a:cs typeface="DejaVu Sans"/>
              </a:defRPr>
            </a:lvl4pPr>
            <a:lvl5pPr>
              <a:buNone/>
              <a:defRPr sz="2175" b="0">
                <a:solidFill>
                  <a:srgbClr val="123C65"/>
                </a:solidFill>
                <a:latin typeface="DejaVu Sans"/>
                <a:ea typeface="DejaVu Sans"/>
                <a:cs typeface="DejaVu Sans"/>
              </a:defRPr>
            </a:lvl5pPr>
            <a:lvl6pPr>
              <a:buNone/>
              <a:defRPr sz="2175" b="0">
                <a:solidFill>
                  <a:srgbClr val="123C65"/>
                </a:solidFill>
                <a:latin typeface="DejaVu Sans"/>
                <a:ea typeface="DejaVu Sans"/>
                <a:cs typeface="DejaVu Sans"/>
              </a:defRPr>
            </a:lvl6pPr>
            <a:lvl7pPr>
              <a:buNone/>
              <a:defRPr sz="2175" b="0">
                <a:solidFill>
                  <a:srgbClr val="123C65"/>
                </a:solidFill>
                <a:latin typeface="DejaVu Sans"/>
                <a:ea typeface="DejaVu Sans"/>
                <a:cs typeface="DejaVu Sans"/>
              </a:defRPr>
            </a:lvl7pPr>
            <a:lvl8pPr>
              <a:buNone/>
              <a:defRPr sz="2175" b="0">
                <a:solidFill>
                  <a:srgbClr val="123C65"/>
                </a:solidFill>
                <a:latin typeface="DejaVu Sans"/>
                <a:ea typeface="DejaVu Sans"/>
                <a:cs typeface="DejaVu Sans"/>
              </a:defRPr>
            </a:lvl8pPr>
            <a:lvl9pPr>
              <a:buNone/>
              <a:defRPr sz="2175" b="0">
                <a:solidFill>
                  <a:srgbClr val="123C65"/>
                </a:solidFill>
                <a:latin typeface="DejaVu Sans"/>
                <a:ea typeface="DejaVu Sans"/>
                <a:cs typeface="DejaVu Sans"/>
              </a:defRPr>
            </a:lvl9pPr>
          </a:lstStyle>
          <a:p>
            <a:pPr>
              <a:buNone/>
              <a:defRPr sz="2175" b="0">
                <a:solidFill>
                  <a:srgbClr val="123C65"/>
                </a:solidFill>
                <a:latin typeface="DejaVu Sans"/>
                <a:ea typeface="DejaVu Sans"/>
                <a:cs typeface="DejaVu Sans"/>
              </a:defRPr>
            </a:pPr>
            <a:r>
              <a:rPr sz="2175" b="0">
                <a:solidFill>
                  <a:srgbClr val="123C65"/>
                </a:solidFill>
                <a:latin typeface="Arial" panose="020B0604020202020204" pitchFamily="34" charset="0"/>
                <a:cs typeface="Arial" panose="020B0604020202020204" pitchFamily="34" charset="0"/>
              </a:rPr>
              <a:t>Permite estimar rapidez y dirección en píxeles por segundo.</a:t>
            </a:r>
          </a:p>
        </p:txBody>
      </p:sp>
      <p:sp>
        <p:nvSpPr>
          <p:cNvPr id="5" name="Cambio de tamaño">
            <a:extLst>
              <a:ext uri="{FF2B5EF4-FFF2-40B4-BE49-F238E27FC236}">
                <a16:creationId xmlns:a16="http://schemas.microsoft.com/office/drawing/2014/main" id="{16C0988C-7C87-4795-B2CF-F9EB60872FB2}"/>
              </a:ext>
            </a:extLst>
          </p:cNvPr>
          <p:cNvSpPr>
            <a:spLocks noGrp="1"/>
          </p:cNvSpPr>
          <p:nvPr/>
        </p:nvSpPr>
        <p:spPr>
          <a:xfrm>
            <a:off x="571500" y="3781425"/>
            <a:ext cx="5143500" cy="523875"/>
          </a:xfrm>
          <a:prstGeom prst="rect">
            <a:avLst/>
          </a:prstGeom>
          <a:noFill/>
          <a:ln w="0">
            <a:noFill/>
            <a:prstDash val="solid"/>
          </a:ln>
        </p:spPr>
        <p:txBody>
          <a:bodyPr lIns="0" tIns="0" rIns="0" bIns="0">
            <a:noAutofit/>
          </a:bodyPr>
          <a:lstStyle>
            <a:defPPr>
              <a:defRPr sz="2475" b="1">
                <a:solidFill>
                  <a:srgbClr val="176AC0"/>
                </a:solidFill>
                <a:latin typeface="DejaVu Sans"/>
                <a:ea typeface="DejaVu Sans"/>
                <a:cs typeface="DejaVu Sans"/>
              </a:defRPr>
            </a:defPPr>
            <a:lvl1pPr>
              <a:buNone/>
              <a:defRPr sz="2475" b="1">
                <a:solidFill>
                  <a:srgbClr val="176AC0"/>
                </a:solidFill>
                <a:latin typeface="DejaVu Sans"/>
                <a:ea typeface="DejaVu Sans"/>
                <a:cs typeface="DejaVu Sans"/>
              </a:defRPr>
            </a:lvl1pPr>
            <a:lvl2pPr>
              <a:buNone/>
              <a:defRPr sz="2475" b="1">
                <a:solidFill>
                  <a:srgbClr val="176AC0"/>
                </a:solidFill>
                <a:latin typeface="DejaVu Sans"/>
                <a:ea typeface="DejaVu Sans"/>
                <a:cs typeface="DejaVu Sans"/>
              </a:defRPr>
            </a:lvl2pPr>
            <a:lvl3pPr>
              <a:buNone/>
              <a:defRPr sz="2475" b="1">
                <a:solidFill>
                  <a:srgbClr val="176AC0"/>
                </a:solidFill>
                <a:latin typeface="DejaVu Sans"/>
                <a:ea typeface="DejaVu Sans"/>
                <a:cs typeface="DejaVu Sans"/>
              </a:defRPr>
            </a:lvl3pPr>
            <a:lvl4pPr>
              <a:buNone/>
              <a:defRPr sz="2475" b="1">
                <a:solidFill>
                  <a:srgbClr val="176AC0"/>
                </a:solidFill>
                <a:latin typeface="DejaVu Sans"/>
                <a:ea typeface="DejaVu Sans"/>
                <a:cs typeface="DejaVu Sans"/>
              </a:defRPr>
            </a:lvl4pPr>
            <a:lvl5pPr>
              <a:buNone/>
              <a:defRPr sz="2475" b="1">
                <a:solidFill>
                  <a:srgbClr val="176AC0"/>
                </a:solidFill>
                <a:latin typeface="DejaVu Sans"/>
                <a:ea typeface="DejaVu Sans"/>
                <a:cs typeface="DejaVu Sans"/>
              </a:defRPr>
            </a:lvl5pPr>
            <a:lvl6pPr>
              <a:buNone/>
              <a:defRPr sz="2475" b="1">
                <a:solidFill>
                  <a:srgbClr val="176AC0"/>
                </a:solidFill>
                <a:latin typeface="DejaVu Sans"/>
                <a:ea typeface="DejaVu Sans"/>
                <a:cs typeface="DejaVu Sans"/>
              </a:defRPr>
            </a:lvl6pPr>
            <a:lvl7pPr>
              <a:buNone/>
              <a:defRPr sz="2475" b="1">
                <a:solidFill>
                  <a:srgbClr val="176AC0"/>
                </a:solidFill>
                <a:latin typeface="DejaVu Sans"/>
                <a:ea typeface="DejaVu Sans"/>
                <a:cs typeface="DejaVu Sans"/>
              </a:defRPr>
            </a:lvl7pPr>
            <a:lvl8pPr>
              <a:buNone/>
              <a:defRPr sz="2475" b="1">
                <a:solidFill>
                  <a:srgbClr val="176AC0"/>
                </a:solidFill>
                <a:latin typeface="DejaVu Sans"/>
                <a:ea typeface="DejaVu Sans"/>
                <a:cs typeface="DejaVu Sans"/>
              </a:defRPr>
            </a:lvl8pPr>
            <a:lvl9pPr>
              <a:buNone/>
              <a:defRPr sz="2475" b="1">
                <a:solidFill>
                  <a:srgbClr val="176AC0"/>
                </a:solidFill>
                <a:latin typeface="DejaVu Sans"/>
                <a:ea typeface="DejaVu Sans"/>
                <a:cs typeface="DejaVu Sans"/>
              </a:defRPr>
            </a:lvl9pPr>
          </a:lstStyle>
          <a:p>
            <a:pPr>
              <a:buNone/>
              <a:defRPr sz="2475" b="1">
                <a:solidFill>
                  <a:srgbClr val="176AC0"/>
                </a:solidFill>
                <a:latin typeface="DejaVu Sans"/>
                <a:ea typeface="DejaVu Sans"/>
                <a:cs typeface="DejaVu Sans"/>
              </a:defRPr>
            </a:pPr>
            <a:r>
              <a:rPr sz="2475" b="1">
                <a:solidFill>
                  <a:srgbClr val="176AC0"/>
                </a:solidFill>
                <a:latin typeface="Arial" panose="020B0604020202020204" pitchFamily="34" charset="0"/>
                <a:cs typeface="Arial" panose="020B0604020202020204" pitchFamily="34" charset="0"/>
              </a:rPr>
              <a:t>Cambio de tamaño</a:t>
            </a:r>
          </a:p>
        </p:txBody>
      </p:sp>
      <p:sp>
        <p:nvSpPr>
          <p:cNvPr id="6" name="La expansión coherente permite">
            <a:extLst>
              <a:ext uri="{FF2B5EF4-FFF2-40B4-BE49-F238E27FC236}">
                <a16:creationId xmlns:a16="http://schemas.microsoft.com/office/drawing/2014/main" id="{CCD9CEA6-2172-4D88-B909-113CB3807F88}"/>
              </a:ext>
            </a:extLst>
          </p:cNvPr>
          <p:cNvSpPr>
            <a:spLocks noGrp="1"/>
          </p:cNvSpPr>
          <p:nvPr/>
        </p:nvSpPr>
        <p:spPr>
          <a:xfrm>
            <a:off x="571500" y="4410075"/>
            <a:ext cx="5143500" cy="1143000"/>
          </a:xfrm>
          <a:prstGeom prst="rect">
            <a:avLst/>
          </a:prstGeom>
          <a:noFill/>
          <a:ln w="0">
            <a:noFill/>
            <a:prstDash val="solid"/>
          </a:ln>
        </p:spPr>
        <p:txBody>
          <a:bodyPr lIns="0" tIns="0" rIns="0" bIns="0">
            <a:noAutofit/>
          </a:bodyPr>
          <a:lstStyle>
            <a:defPPr>
              <a:defRPr sz="2175" b="0">
                <a:solidFill>
                  <a:srgbClr val="123C65"/>
                </a:solidFill>
                <a:latin typeface="DejaVu Sans"/>
                <a:ea typeface="DejaVu Sans"/>
                <a:cs typeface="DejaVu Sans"/>
              </a:defRPr>
            </a:defPPr>
            <a:lvl1pPr>
              <a:buNone/>
              <a:defRPr sz="2175" b="0">
                <a:solidFill>
                  <a:srgbClr val="123C65"/>
                </a:solidFill>
                <a:latin typeface="DejaVu Sans"/>
                <a:ea typeface="DejaVu Sans"/>
                <a:cs typeface="DejaVu Sans"/>
              </a:defRPr>
            </a:lvl1pPr>
            <a:lvl2pPr>
              <a:buNone/>
              <a:defRPr sz="2175" b="0">
                <a:solidFill>
                  <a:srgbClr val="123C65"/>
                </a:solidFill>
                <a:latin typeface="DejaVu Sans"/>
                <a:ea typeface="DejaVu Sans"/>
                <a:cs typeface="DejaVu Sans"/>
              </a:defRPr>
            </a:lvl2pPr>
            <a:lvl3pPr>
              <a:buNone/>
              <a:defRPr sz="2175" b="0">
                <a:solidFill>
                  <a:srgbClr val="123C65"/>
                </a:solidFill>
                <a:latin typeface="DejaVu Sans"/>
                <a:ea typeface="DejaVu Sans"/>
                <a:cs typeface="DejaVu Sans"/>
              </a:defRPr>
            </a:lvl3pPr>
            <a:lvl4pPr>
              <a:buNone/>
              <a:defRPr sz="2175" b="0">
                <a:solidFill>
                  <a:srgbClr val="123C65"/>
                </a:solidFill>
                <a:latin typeface="DejaVu Sans"/>
                <a:ea typeface="DejaVu Sans"/>
                <a:cs typeface="DejaVu Sans"/>
              </a:defRPr>
            </a:lvl4pPr>
            <a:lvl5pPr>
              <a:buNone/>
              <a:defRPr sz="2175" b="0">
                <a:solidFill>
                  <a:srgbClr val="123C65"/>
                </a:solidFill>
                <a:latin typeface="DejaVu Sans"/>
                <a:ea typeface="DejaVu Sans"/>
                <a:cs typeface="DejaVu Sans"/>
              </a:defRPr>
            </a:lvl5pPr>
            <a:lvl6pPr>
              <a:buNone/>
              <a:defRPr sz="2175" b="0">
                <a:solidFill>
                  <a:srgbClr val="123C65"/>
                </a:solidFill>
                <a:latin typeface="DejaVu Sans"/>
                <a:ea typeface="DejaVu Sans"/>
                <a:cs typeface="DejaVu Sans"/>
              </a:defRPr>
            </a:lvl6pPr>
            <a:lvl7pPr>
              <a:buNone/>
              <a:defRPr sz="2175" b="0">
                <a:solidFill>
                  <a:srgbClr val="123C65"/>
                </a:solidFill>
                <a:latin typeface="DejaVu Sans"/>
                <a:ea typeface="DejaVu Sans"/>
                <a:cs typeface="DejaVu Sans"/>
              </a:defRPr>
            </a:lvl7pPr>
            <a:lvl8pPr>
              <a:buNone/>
              <a:defRPr sz="2175" b="0">
                <a:solidFill>
                  <a:srgbClr val="123C65"/>
                </a:solidFill>
                <a:latin typeface="DejaVu Sans"/>
                <a:ea typeface="DejaVu Sans"/>
                <a:cs typeface="DejaVu Sans"/>
              </a:defRPr>
            </a:lvl8pPr>
            <a:lvl9pPr>
              <a:buNone/>
              <a:defRPr sz="2175" b="0">
                <a:solidFill>
                  <a:srgbClr val="123C65"/>
                </a:solidFill>
                <a:latin typeface="DejaVu Sans"/>
                <a:ea typeface="DejaVu Sans"/>
                <a:cs typeface="DejaVu Sans"/>
              </a:defRPr>
            </a:lvl9pPr>
          </a:lstStyle>
          <a:p>
            <a:pPr>
              <a:buNone/>
              <a:defRPr sz="2175" b="0">
                <a:solidFill>
                  <a:srgbClr val="123C65"/>
                </a:solidFill>
                <a:latin typeface="DejaVu Sans"/>
                <a:ea typeface="DejaVu Sans"/>
                <a:cs typeface="DejaVu Sans"/>
              </a:defRPr>
            </a:pPr>
            <a:r>
              <a:rPr sz="2175" b="0">
                <a:solidFill>
                  <a:srgbClr val="123C65"/>
                </a:solidFill>
                <a:latin typeface="Arial" panose="020B0604020202020204" pitchFamily="34" charset="0"/>
                <a:cs typeface="Arial" panose="020B0604020202020204" pitchFamily="34" charset="0"/>
              </a:rPr>
              <a:t>La expansión coherente permite aproximar el tiempo hasta el contacto.</a:t>
            </a:r>
          </a:p>
        </p:txBody>
      </p:sp>
      <p:sp>
        <p:nvSpPr>
          <p:cNvPr id="7" name="TTC ≈ 1/r − retraso">
            <a:extLst>
              <a:ext uri="{FF2B5EF4-FFF2-40B4-BE49-F238E27FC236}">
                <a16:creationId xmlns:a16="http://schemas.microsoft.com/office/drawing/2014/main" id="{65E84F1E-97D8-46BE-BAC8-9FD27B18CB26}"/>
              </a:ext>
            </a:extLst>
          </p:cNvPr>
          <p:cNvSpPr>
            <a:spLocks noGrp="1"/>
          </p:cNvSpPr>
          <p:nvPr/>
        </p:nvSpPr>
        <p:spPr>
          <a:xfrm>
            <a:off x="6553200" y="1581150"/>
            <a:ext cx="5000625" cy="552450"/>
          </a:xfrm>
          <a:prstGeom prst="rect">
            <a:avLst/>
          </a:prstGeom>
          <a:noFill/>
          <a:ln w="0">
            <a:noFill/>
            <a:prstDash val="solid"/>
          </a:ln>
        </p:spPr>
        <p:txBody>
          <a:bodyPr lIns="0" tIns="0" rIns="0" bIns="0">
            <a:noAutofit/>
          </a:bodyPr>
          <a:lstStyle>
            <a:defPPr>
              <a:defRPr sz="2775" b="1">
                <a:solidFill>
                  <a:srgbClr val="176AC0"/>
                </a:solidFill>
                <a:latin typeface="DejaVu Sans"/>
                <a:ea typeface="DejaVu Sans"/>
                <a:cs typeface="DejaVu Sans"/>
              </a:defRPr>
            </a:defPPr>
            <a:lvl1pPr>
              <a:buNone/>
              <a:defRPr sz="2775" b="1">
                <a:solidFill>
                  <a:srgbClr val="176AC0"/>
                </a:solidFill>
                <a:latin typeface="DejaVu Sans"/>
                <a:ea typeface="DejaVu Sans"/>
                <a:cs typeface="DejaVu Sans"/>
              </a:defRPr>
            </a:lvl1pPr>
            <a:lvl2pPr>
              <a:buNone/>
              <a:defRPr sz="2775" b="1">
                <a:solidFill>
                  <a:srgbClr val="176AC0"/>
                </a:solidFill>
                <a:latin typeface="DejaVu Sans"/>
                <a:ea typeface="DejaVu Sans"/>
                <a:cs typeface="DejaVu Sans"/>
              </a:defRPr>
            </a:lvl2pPr>
            <a:lvl3pPr>
              <a:buNone/>
              <a:defRPr sz="2775" b="1">
                <a:solidFill>
                  <a:srgbClr val="176AC0"/>
                </a:solidFill>
                <a:latin typeface="DejaVu Sans"/>
                <a:ea typeface="DejaVu Sans"/>
                <a:cs typeface="DejaVu Sans"/>
              </a:defRPr>
            </a:lvl3pPr>
            <a:lvl4pPr>
              <a:buNone/>
              <a:defRPr sz="2775" b="1">
                <a:solidFill>
                  <a:srgbClr val="176AC0"/>
                </a:solidFill>
                <a:latin typeface="DejaVu Sans"/>
                <a:ea typeface="DejaVu Sans"/>
                <a:cs typeface="DejaVu Sans"/>
              </a:defRPr>
            </a:lvl4pPr>
            <a:lvl5pPr>
              <a:buNone/>
              <a:defRPr sz="2775" b="1">
                <a:solidFill>
                  <a:srgbClr val="176AC0"/>
                </a:solidFill>
                <a:latin typeface="DejaVu Sans"/>
                <a:ea typeface="DejaVu Sans"/>
                <a:cs typeface="DejaVu Sans"/>
              </a:defRPr>
            </a:lvl5pPr>
            <a:lvl6pPr>
              <a:buNone/>
              <a:defRPr sz="2775" b="1">
                <a:solidFill>
                  <a:srgbClr val="176AC0"/>
                </a:solidFill>
                <a:latin typeface="DejaVu Sans"/>
                <a:ea typeface="DejaVu Sans"/>
                <a:cs typeface="DejaVu Sans"/>
              </a:defRPr>
            </a:lvl6pPr>
            <a:lvl7pPr>
              <a:buNone/>
              <a:defRPr sz="2775" b="1">
                <a:solidFill>
                  <a:srgbClr val="176AC0"/>
                </a:solidFill>
                <a:latin typeface="DejaVu Sans"/>
                <a:ea typeface="DejaVu Sans"/>
                <a:cs typeface="DejaVu Sans"/>
              </a:defRPr>
            </a:lvl7pPr>
            <a:lvl8pPr>
              <a:buNone/>
              <a:defRPr sz="2775" b="1">
                <a:solidFill>
                  <a:srgbClr val="176AC0"/>
                </a:solidFill>
                <a:latin typeface="DejaVu Sans"/>
                <a:ea typeface="DejaVu Sans"/>
                <a:cs typeface="DejaVu Sans"/>
              </a:defRPr>
            </a:lvl8pPr>
            <a:lvl9pPr>
              <a:buNone/>
              <a:defRPr sz="2775" b="1">
                <a:solidFill>
                  <a:srgbClr val="176AC0"/>
                </a:solidFill>
                <a:latin typeface="DejaVu Sans"/>
                <a:ea typeface="DejaVu Sans"/>
                <a:cs typeface="DejaVu Sans"/>
              </a:defRPr>
            </a:lvl9pPr>
          </a:lstStyle>
          <a:p>
            <a:pPr>
              <a:buNone/>
              <a:defRPr sz="2775" b="1">
                <a:solidFill>
                  <a:srgbClr val="176AC0"/>
                </a:solidFill>
                <a:latin typeface="DejaVu Sans"/>
                <a:ea typeface="DejaVu Sans"/>
                <a:cs typeface="DejaVu Sans"/>
              </a:defRPr>
            </a:pPr>
            <a:r>
              <a:rPr sz="2775" b="1">
                <a:solidFill>
                  <a:srgbClr val="176AC0"/>
                </a:solidFill>
                <a:latin typeface="Arial" panose="020B0604020202020204" pitchFamily="34" charset="0"/>
                <a:cs typeface="Arial" panose="020B0604020202020204" pitchFamily="34" charset="0"/>
              </a:rPr>
              <a:t>TTC ≈ 1/r − retraso</a:t>
            </a:r>
          </a:p>
        </p:txBody>
      </p:sp>
      <p:sp>
        <p:nvSpPr>
          <p:cNvPr id="8" name="Condición de alerta del progra">
            <a:extLst>
              <a:ext uri="{FF2B5EF4-FFF2-40B4-BE49-F238E27FC236}">
                <a16:creationId xmlns:a16="http://schemas.microsoft.com/office/drawing/2014/main" id="{0575FA5C-D8F4-46E6-9677-4A7836AA066E}"/>
              </a:ext>
            </a:extLst>
          </p:cNvPr>
          <p:cNvSpPr>
            <a:spLocks noGrp="1"/>
          </p:cNvSpPr>
          <p:nvPr/>
        </p:nvSpPr>
        <p:spPr>
          <a:xfrm>
            <a:off x="6553200" y="2809875"/>
            <a:ext cx="5000625" cy="428625"/>
          </a:xfrm>
          <a:prstGeom prst="rect">
            <a:avLst/>
          </a:prstGeom>
          <a:noFill/>
          <a:ln w="0">
            <a:noFill/>
            <a:prstDash val="solid"/>
          </a:ln>
        </p:spPr>
        <p:txBody>
          <a:bodyPr lIns="0" tIns="0" rIns="0" bIns="0">
            <a:noAutofit/>
          </a:bodyPr>
          <a:lstStyle>
            <a:defPPr>
              <a:defRPr sz="1950" b="1">
                <a:solidFill>
                  <a:srgbClr val="123C65"/>
                </a:solidFill>
                <a:latin typeface="DejaVu Sans"/>
                <a:ea typeface="DejaVu Sans"/>
                <a:cs typeface="DejaVu Sans"/>
              </a:defRPr>
            </a:defPPr>
            <a:lvl1pPr>
              <a:buNone/>
              <a:defRPr sz="1950" b="1">
                <a:solidFill>
                  <a:srgbClr val="123C65"/>
                </a:solidFill>
                <a:latin typeface="DejaVu Sans"/>
                <a:ea typeface="DejaVu Sans"/>
                <a:cs typeface="DejaVu Sans"/>
              </a:defRPr>
            </a:lvl1pPr>
            <a:lvl2pPr>
              <a:buNone/>
              <a:defRPr sz="1950" b="1">
                <a:solidFill>
                  <a:srgbClr val="123C65"/>
                </a:solidFill>
                <a:latin typeface="DejaVu Sans"/>
                <a:ea typeface="DejaVu Sans"/>
                <a:cs typeface="DejaVu Sans"/>
              </a:defRPr>
            </a:lvl2pPr>
            <a:lvl3pPr>
              <a:buNone/>
              <a:defRPr sz="1950" b="1">
                <a:solidFill>
                  <a:srgbClr val="123C65"/>
                </a:solidFill>
                <a:latin typeface="DejaVu Sans"/>
                <a:ea typeface="DejaVu Sans"/>
                <a:cs typeface="DejaVu Sans"/>
              </a:defRPr>
            </a:lvl3pPr>
            <a:lvl4pPr>
              <a:buNone/>
              <a:defRPr sz="1950" b="1">
                <a:solidFill>
                  <a:srgbClr val="123C65"/>
                </a:solidFill>
                <a:latin typeface="DejaVu Sans"/>
                <a:ea typeface="DejaVu Sans"/>
                <a:cs typeface="DejaVu Sans"/>
              </a:defRPr>
            </a:lvl4pPr>
            <a:lvl5pPr>
              <a:buNone/>
              <a:defRPr sz="1950" b="1">
                <a:solidFill>
                  <a:srgbClr val="123C65"/>
                </a:solidFill>
                <a:latin typeface="DejaVu Sans"/>
                <a:ea typeface="DejaVu Sans"/>
                <a:cs typeface="DejaVu Sans"/>
              </a:defRPr>
            </a:lvl5pPr>
            <a:lvl6pPr>
              <a:buNone/>
              <a:defRPr sz="1950" b="1">
                <a:solidFill>
                  <a:srgbClr val="123C65"/>
                </a:solidFill>
                <a:latin typeface="DejaVu Sans"/>
                <a:ea typeface="DejaVu Sans"/>
                <a:cs typeface="DejaVu Sans"/>
              </a:defRPr>
            </a:lvl6pPr>
            <a:lvl7pPr>
              <a:buNone/>
              <a:defRPr sz="1950" b="1">
                <a:solidFill>
                  <a:srgbClr val="123C65"/>
                </a:solidFill>
                <a:latin typeface="DejaVu Sans"/>
                <a:ea typeface="DejaVu Sans"/>
                <a:cs typeface="DejaVu Sans"/>
              </a:defRPr>
            </a:lvl7pPr>
            <a:lvl8pPr>
              <a:buNone/>
              <a:defRPr sz="1950" b="1">
                <a:solidFill>
                  <a:srgbClr val="123C65"/>
                </a:solidFill>
                <a:latin typeface="DejaVu Sans"/>
                <a:ea typeface="DejaVu Sans"/>
                <a:cs typeface="DejaVu Sans"/>
              </a:defRPr>
            </a:lvl8pPr>
            <a:lvl9pPr>
              <a:buNone/>
              <a:defRPr sz="1950" b="1">
                <a:solidFill>
                  <a:srgbClr val="123C65"/>
                </a:solidFill>
                <a:latin typeface="DejaVu Sans"/>
                <a:ea typeface="DejaVu Sans"/>
                <a:cs typeface="DejaVu Sans"/>
              </a:defRPr>
            </a:lvl9pPr>
          </a:lstStyle>
          <a:p>
            <a:pPr>
              <a:buNone/>
              <a:defRPr sz="1950" b="1">
                <a:solidFill>
                  <a:srgbClr val="123C65"/>
                </a:solidFill>
                <a:latin typeface="DejaVu Sans"/>
                <a:ea typeface="DejaVu Sans"/>
                <a:cs typeface="DejaVu Sans"/>
              </a:defRPr>
            </a:pPr>
            <a:r>
              <a:rPr sz="1950" b="1">
                <a:solidFill>
                  <a:srgbClr val="123C65"/>
                </a:solidFill>
                <a:latin typeface="DejaVu Sans"/>
                <a:ea typeface="DejaVu Sans"/>
                <a:cs typeface="DejaVu Sans"/>
              </a:rPr>
              <a:t>Condición de alerta del programa</a:t>
            </a:r>
          </a:p>
        </p:txBody>
      </p:sp>
      <p:sp>
        <p:nvSpPr>
          <p:cNvPr id="9" name="ttc = max(1.0 / r - retraso, 0">
            <a:extLst>
              <a:ext uri="{FF2B5EF4-FFF2-40B4-BE49-F238E27FC236}">
                <a16:creationId xmlns:a16="http://schemas.microsoft.com/office/drawing/2014/main" id="{A8FC7354-A975-4B6E-B25D-3CD79081AB49}"/>
              </a:ext>
            </a:extLst>
          </p:cNvPr>
          <p:cNvSpPr>
            <a:spLocks noGrp="1"/>
          </p:cNvSpPr>
          <p:nvPr/>
        </p:nvSpPr>
        <p:spPr>
          <a:xfrm>
            <a:off x="6553200" y="3448050"/>
            <a:ext cx="5000625" cy="1524000"/>
          </a:xfrm>
          <a:prstGeom prst="rect">
            <a:avLst/>
          </a:prstGeom>
          <a:noFill/>
          <a:ln w="0">
            <a:noFill/>
            <a:prstDash val="solid"/>
          </a:ln>
        </p:spPr>
        <p:txBody>
          <a:bodyPr lIns="0" tIns="0" rIns="0" bIns="0">
            <a:noAutofit/>
          </a:bodyPr>
          <a:lstStyle>
            <a:defPPr>
              <a:defRPr sz="1650" b="0">
                <a:solidFill>
                  <a:srgbClr val="123C65"/>
                </a:solidFill>
                <a:latin typeface="DejaVu Sans Mono"/>
                <a:ea typeface="DejaVu Sans Mono"/>
                <a:cs typeface="DejaVu Sans Mono"/>
              </a:defRPr>
            </a:defPPr>
            <a:lvl1pPr>
              <a:buNone/>
              <a:defRPr sz="1650" b="0">
                <a:solidFill>
                  <a:srgbClr val="123C65"/>
                </a:solidFill>
                <a:latin typeface="DejaVu Sans Mono"/>
                <a:ea typeface="DejaVu Sans Mono"/>
                <a:cs typeface="DejaVu Sans Mono"/>
              </a:defRPr>
            </a:lvl1pPr>
            <a:lvl2pPr>
              <a:buNone/>
              <a:defRPr sz="1650" b="0">
                <a:solidFill>
                  <a:srgbClr val="123C65"/>
                </a:solidFill>
                <a:latin typeface="DejaVu Sans Mono"/>
                <a:ea typeface="DejaVu Sans Mono"/>
                <a:cs typeface="DejaVu Sans Mono"/>
              </a:defRPr>
            </a:lvl2pPr>
            <a:lvl3pPr>
              <a:buNone/>
              <a:defRPr sz="1650" b="0">
                <a:solidFill>
                  <a:srgbClr val="123C65"/>
                </a:solidFill>
                <a:latin typeface="DejaVu Sans Mono"/>
                <a:ea typeface="DejaVu Sans Mono"/>
                <a:cs typeface="DejaVu Sans Mono"/>
              </a:defRPr>
            </a:lvl3pPr>
            <a:lvl4pPr>
              <a:buNone/>
              <a:defRPr sz="1650" b="0">
                <a:solidFill>
                  <a:srgbClr val="123C65"/>
                </a:solidFill>
                <a:latin typeface="DejaVu Sans Mono"/>
                <a:ea typeface="DejaVu Sans Mono"/>
                <a:cs typeface="DejaVu Sans Mono"/>
              </a:defRPr>
            </a:lvl4pPr>
            <a:lvl5pPr>
              <a:buNone/>
              <a:defRPr sz="1650" b="0">
                <a:solidFill>
                  <a:srgbClr val="123C65"/>
                </a:solidFill>
                <a:latin typeface="DejaVu Sans Mono"/>
                <a:ea typeface="DejaVu Sans Mono"/>
                <a:cs typeface="DejaVu Sans Mono"/>
              </a:defRPr>
            </a:lvl5pPr>
            <a:lvl6pPr>
              <a:buNone/>
              <a:defRPr sz="1650" b="0">
                <a:solidFill>
                  <a:srgbClr val="123C65"/>
                </a:solidFill>
                <a:latin typeface="DejaVu Sans Mono"/>
                <a:ea typeface="DejaVu Sans Mono"/>
                <a:cs typeface="DejaVu Sans Mono"/>
              </a:defRPr>
            </a:lvl6pPr>
            <a:lvl7pPr>
              <a:buNone/>
              <a:defRPr sz="1650" b="0">
                <a:solidFill>
                  <a:srgbClr val="123C65"/>
                </a:solidFill>
                <a:latin typeface="DejaVu Sans Mono"/>
                <a:ea typeface="DejaVu Sans Mono"/>
                <a:cs typeface="DejaVu Sans Mono"/>
              </a:defRPr>
            </a:lvl7pPr>
            <a:lvl8pPr>
              <a:buNone/>
              <a:defRPr sz="1650" b="0">
                <a:solidFill>
                  <a:srgbClr val="123C65"/>
                </a:solidFill>
                <a:latin typeface="DejaVu Sans Mono"/>
                <a:ea typeface="DejaVu Sans Mono"/>
                <a:cs typeface="DejaVu Sans Mono"/>
              </a:defRPr>
            </a:lvl8pPr>
            <a:lvl9pPr>
              <a:buNone/>
              <a:defRPr sz="1650" b="0">
                <a:solidFill>
                  <a:srgbClr val="123C65"/>
                </a:solidFill>
                <a:latin typeface="DejaVu Sans Mono"/>
                <a:ea typeface="DejaVu Sans Mono"/>
                <a:cs typeface="DejaVu Sans Mono"/>
              </a:defRPr>
            </a:lvl9pPr>
          </a:lstStyle>
          <a:p>
            <a:pPr>
              <a:buNone/>
              <a:defRPr sz="1650" b="0">
                <a:solidFill>
                  <a:srgbClr val="123C65"/>
                </a:solidFill>
                <a:latin typeface="DejaVu Sans Mono"/>
                <a:ea typeface="DejaVu Sans Mono"/>
                <a:cs typeface="DejaVu Sans Mono"/>
              </a:defRPr>
            </a:pPr>
            <a:r>
              <a:rPr sz="1650" b="0">
                <a:solidFill>
                  <a:srgbClr val="123C65"/>
                </a:solidFill>
                <a:latin typeface="DejaVu Sans Mono"/>
                <a:ea typeface="DejaVu Sans Mono"/>
                <a:cs typeface="DejaVu Sans Mono"/>
              </a:rPr>
              <a:t>ttc = max(1.0 / r - retraso, 0.0)</a:t>
            </a:r>
          </a:p>
          <a:p>
            <a:endParaRPr sz="1650" b="0">
              <a:solidFill>
                <a:srgbClr val="123C65"/>
              </a:solidFill>
              <a:latin typeface="DejaVu Sans Mono"/>
              <a:ea typeface="DejaVu Sans Mono"/>
              <a:cs typeface="DejaVu Sans Mono"/>
            </a:endParaRPr>
          </a:p>
          <a:p>
            <a:pPr>
              <a:buNone/>
              <a:defRPr sz="1650" b="0">
                <a:solidFill>
                  <a:srgbClr val="123C65"/>
                </a:solidFill>
                <a:latin typeface="DejaVu Sans Mono"/>
                <a:ea typeface="DejaVu Sans Mono"/>
                <a:cs typeface="DejaVu Sans Mono"/>
              </a:defRPr>
            </a:pPr>
            <a:r>
              <a:rPr sz="1650" b="0">
                <a:solidFill>
                  <a:srgbClr val="123C65"/>
                </a:solidFill>
                <a:latin typeface="DejaVu Sans Mono"/>
                <a:ea typeface="DejaVu Sans Mono"/>
                <a:cs typeface="DejaVu Sans Mono"/>
              </a:rPr>
              <a:t>alerta = (ttc is not None</a:t>
            </a:r>
          </a:p>
          <a:p>
            <a:pPr>
              <a:buNone/>
              <a:defRPr sz="1650" b="0">
                <a:solidFill>
                  <a:srgbClr val="123C65"/>
                </a:solidFill>
                <a:latin typeface="DejaVu Sans Mono"/>
                <a:ea typeface="DejaVu Sans Mono"/>
                <a:cs typeface="DejaVu Sans Mono"/>
              </a:defRPr>
            </a:pPr>
            <a:r>
              <a:rPr sz="1650" b="0">
                <a:solidFill>
                  <a:srgbClr val="123C65"/>
                </a:solidFill>
                <a:latin typeface="DejaVu Sans Mono"/>
                <a:ea typeface="DejaVu Sans Mono"/>
                <a:cs typeface="DejaVu Sans Mono"/>
              </a:rPr>
              <a:t>    and ttc &lt; TTC_ALERTA_S)</a:t>
            </a:r>
          </a:p>
        </p:txBody>
      </p:sp>
      <p:sp>
        <p:nvSpPr>
          <p:cNvPr id="10" name="np.log(): cambio proporcional&#10;">
            <a:extLst>
              <a:ext uri="{FF2B5EF4-FFF2-40B4-BE49-F238E27FC236}">
                <a16:creationId xmlns:a16="http://schemas.microsoft.com/office/drawing/2014/main" id="{4679F9CA-E495-4A54-8941-14BCCE01A39B}"/>
              </a:ext>
            </a:extLst>
          </p:cNvPr>
          <p:cNvSpPr>
            <a:spLocks noGrp="1"/>
          </p:cNvSpPr>
          <p:nvPr/>
        </p:nvSpPr>
        <p:spPr>
          <a:xfrm>
            <a:off x="571500" y="5810250"/>
            <a:ext cx="5143500" cy="571500"/>
          </a:xfrm>
          <a:prstGeom prst="rect">
            <a:avLst/>
          </a:prstGeom>
          <a:noFill/>
          <a:ln w="0">
            <a:noFill/>
            <a:prstDash val="solid"/>
          </a:ln>
        </p:spPr>
        <p:txBody>
          <a:bodyPr lIns="0" tIns="0" rIns="0" bIns="0">
            <a:noAutofit/>
          </a:bodyPr>
          <a:lstStyle>
            <a:defPPr>
              <a:defRPr sz="1575" b="0">
                <a:solidFill>
                  <a:srgbClr val="476880"/>
                </a:solidFill>
                <a:latin typeface="DejaVu Sans"/>
                <a:ea typeface="DejaVu Sans"/>
                <a:cs typeface="DejaVu Sans"/>
              </a:defRPr>
            </a:defPPr>
            <a:lvl1pPr>
              <a:buNone/>
              <a:defRPr sz="1575" b="0">
                <a:solidFill>
                  <a:srgbClr val="476880"/>
                </a:solidFill>
                <a:latin typeface="DejaVu Sans"/>
                <a:ea typeface="DejaVu Sans"/>
                <a:cs typeface="DejaVu Sans"/>
              </a:defRPr>
            </a:lvl1pPr>
            <a:lvl2pPr>
              <a:buNone/>
              <a:defRPr sz="1575" b="0">
                <a:solidFill>
                  <a:srgbClr val="476880"/>
                </a:solidFill>
                <a:latin typeface="DejaVu Sans"/>
                <a:ea typeface="DejaVu Sans"/>
                <a:cs typeface="DejaVu Sans"/>
              </a:defRPr>
            </a:lvl2pPr>
            <a:lvl3pPr>
              <a:buNone/>
              <a:defRPr sz="1575" b="0">
                <a:solidFill>
                  <a:srgbClr val="476880"/>
                </a:solidFill>
                <a:latin typeface="DejaVu Sans"/>
                <a:ea typeface="DejaVu Sans"/>
                <a:cs typeface="DejaVu Sans"/>
              </a:defRPr>
            </a:lvl3pPr>
            <a:lvl4pPr>
              <a:buNone/>
              <a:defRPr sz="1575" b="0">
                <a:solidFill>
                  <a:srgbClr val="476880"/>
                </a:solidFill>
                <a:latin typeface="DejaVu Sans"/>
                <a:ea typeface="DejaVu Sans"/>
                <a:cs typeface="DejaVu Sans"/>
              </a:defRPr>
            </a:lvl4pPr>
            <a:lvl5pPr>
              <a:buNone/>
              <a:defRPr sz="1575" b="0">
                <a:solidFill>
                  <a:srgbClr val="476880"/>
                </a:solidFill>
                <a:latin typeface="DejaVu Sans"/>
                <a:ea typeface="DejaVu Sans"/>
                <a:cs typeface="DejaVu Sans"/>
              </a:defRPr>
            </a:lvl5pPr>
            <a:lvl6pPr>
              <a:buNone/>
              <a:defRPr sz="1575" b="0">
                <a:solidFill>
                  <a:srgbClr val="476880"/>
                </a:solidFill>
                <a:latin typeface="DejaVu Sans"/>
                <a:ea typeface="DejaVu Sans"/>
                <a:cs typeface="DejaVu Sans"/>
              </a:defRPr>
            </a:lvl6pPr>
            <a:lvl7pPr>
              <a:buNone/>
              <a:defRPr sz="1575" b="0">
                <a:solidFill>
                  <a:srgbClr val="476880"/>
                </a:solidFill>
                <a:latin typeface="DejaVu Sans"/>
                <a:ea typeface="DejaVu Sans"/>
                <a:cs typeface="DejaVu Sans"/>
              </a:defRPr>
            </a:lvl7pPr>
            <a:lvl8pPr>
              <a:buNone/>
              <a:defRPr sz="1575" b="0">
                <a:solidFill>
                  <a:srgbClr val="476880"/>
                </a:solidFill>
                <a:latin typeface="DejaVu Sans"/>
                <a:ea typeface="DejaVu Sans"/>
                <a:cs typeface="DejaVu Sans"/>
              </a:defRPr>
            </a:lvl8pPr>
            <a:lvl9pPr>
              <a:buNone/>
              <a:defRPr sz="1575" b="0">
                <a:solidFill>
                  <a:srgbClr val="476880"/>
                </a:solidFill>
                <a:latin typeface="DejaVu Sans"/>
                <a:ea typeface="DejaVu Sans"/>
                <a:cs typeface="DejaVu Sans"/>
              </a:defRPr>
            </a:lvl9pPr>
          </a:lstStyle>
          <a:p>
            <a:pPr>
              <a:buNone/>
              <a:defRPr sz="1575" b="0">
                <a:solidFill>
                  <a:srgbClr val="476880"/>
                </a:solidFill>
                <a:latin typeface="DejaVu Sans"/>
                <a:ea typeface="DejaVu Sans"/>
                <a:cs typeface="DejaVu Sans"/>
              </a:defRPr>
            </a:pPr>
            <a:r>
              <a:rPr sz="1575" b="0">
                <a:solidFill>
                  <a:srgbClr val="476880"/>
                </a:solidFill>
                <a:latin typeface="DejaVu Sans"/>
                <a:ea typeface="DejaVu Sans"/>
                <a:cs typeface="DejaVu Sans"/>
              </a:rPr>
              <a:t>np.log(): cambio proporcional</a:t>
            </a:r>
          </a:p>
          <a:p>
            <a:pPr>
              <a:buNone/>
              <a:defRPr sz="1575" b="0">
                <a:solidFill>
                  <a:srgbClr val="476880"/>
                </a:solidFill>
                <a:latin typeface="DejaVu Sans"/>
                <a:ea typeface="DejaVu Sans"/>
                <a:cs typeface="DejaVu Sans"/>
              </a:defRPr>
            </a:pPr>
            <a:r>
              <a:rPr sz="1575" b="0">
                <a:solidFill>
                  <a:srgbClr val="476880"/>
                </a:solidFill>
                <a:latin typeface="DejaVu Sans"/>
                <a:ea typeface="DejaVu Sans"/>
                <a:cs typeface="DejaVu Sans"/>
              </a:rPr>
              <a:t>np.mean(): tiempo medio</a:t>
            </a:r>
          </a:p>
        </p:txBody>
      </p:sp>
      <p:sp>
        <p:nvSpPr>
          <p:cNvPr id="11" name="estimar_movimiento() interpret">
            <a:extLst>
              <a:ext uri="{FF2B5EF4-FFF2-40B4-BE49-F238E27FC236}">
                <a16:creationId xmlns:a16="http://schemas.microsoft.com/office/drawing/2014/main" id="{A08ACA97-44F3-419B-B53E-EC2B4A3ABE19}"/>
              </a:ext>
            </a:extLst>
          </p:cNvPr>
          <p:cNvSpPr>
            <a:spLocks noGrp="1"/>
          </p:cNvSpPr>
          <p:nvPr/>
        </p:nvSpPr>
        <p:spPr>
          <a:xfrm>
            <a:off x="6553200" y="5353050"/>
            <a:ext cx="5000625" cy="857250"/>
          </a:xfrm>
          <a:prstGeom prst="rect">
            <a:avLst/>
          </a:prstGeom>
          <a:noFill/>
          <a:ln w="0">
            <a:noFill/>
            <a:prstDash val="solid"/>
          </a:ln>
        </p:spPr>
        <p:txBody>
          <a:bodyPr lIns="0" tIns="0" rIns="0" bIns="0">
            <a:noAutofit/>
          </a:bodyPr>
          <a:lstStyle>
            <a:defPPr>
              <a:defRPr sz="1800" b="0">
                <a:solidFill>
                  <a:srgbClr val="476880"/>
                </a:solidFill>
                <a:latin typeface="DejaVu Sans"/>
                <a:ea typeface="DejaVu Sans"/>
                <a:cs typeface="DejaVu Sans"/>
              </a:defRPr>
            </a:defPPr>
            <a:lvl1pPr>
              <a:buNone/>
              <a:defRPr sz="1800" b="0">
                <a:solidFill>
                  <a:srgbClr val="476880"/>
                </a:solidFill>
                <a:latin typeface="DejaVu Sans"/>
                <a:ea typeface="DejaVu Sans"/>
                <a:cs typeface="DejaVu Sans"/>
              </a:defRPr>
            </a:lvl1pPr>
            <a:lvl2pPr>
              <a:buNone/>
              <a:defRPr sz="1800" b="0">
                <a:solidFill>
                  <a:srgbClr val="476880"/>
                </a:solidFill>
                <a:latin typeface="DejaVu Sans"/>
                <a:ea typeface="DejaVu Sans"/>
                <a:cs typeface="DejaVu Sans"/>
              </a:defRPr>
            </a:lvl2pPr>
            <a:lvl3pPr>
              <a:buNone/>
              <a:defRPr sz="1800" b="0">
                <a:solidFill>
                  <a:srgbClr val="476880"/>
                </a:solidFill>
                <a:latin typeface="DejaVu Sans"/>
                <a:ea typeface="DejaVu Sans"/>
                <a:cs typeface="DejaVu Sans"/>
              </a:defRPr>
            </a:lvl3pPr>
            <a:lvl4pPr>
              <a:buNone/>
              <a:defRPr sz="1800" b="0">
                <a:solidFill>
                  <a:srgbClr val="476880"/>
                </a:solidFill>
                <a:latin typeface="DejaVu Sans"/>
                <a:ea typeface="DejaVu Sans"/>
                <a:cs typeface="DejaVu Sans"/>
              </a:defRPr>
            </a:lvl4pPr>
            <a:lvl5pPr>
              <a:buNone/>
              <a:defRPr sz="1800" b="0">
                <a:solidFill>
                  <a:srgbClr val="476880"/>
                </a:solidFill>
                <a:latin typeface="DejaVu Sans"/>
                <a:ea typeface="DejaVu Sans"/>
                <a:cs typeface="DejaVu Sans"/>
              </a:defRPr>
            </a:lvl5pPr>
            <a:lvl6pPr>
              <a:buNone/>
              <a:defRPr sz="1800" b="0">
                <a:solidFill>
                  <a:srgbClr val="476880"/>
                </a:solidFill>
                <a:latin typeface="DejaVu Sans"/>
                <a:ea typeface="DejaVu Sans"/>
                <a:cs typeface="DejaVu Sans"/>
              </a:defRPr>
            </a:lvl6pPr>
            <a:lvl7pPr>
              <a:buNone/>
              <a:defRPr sz="1800" b="0">
                <a:solidFill>
                  <a:srgbClr val="476880"/>
                </a:solidFill>
                <a:latin typeface="DejaVu Sans"/>
                <a:ea typeface="DejaVu Sans"/>
                <a:cs typeface="DejaVu Sans"/>
              </a:defRPr>
            </a:lvl7pPr>
            <a:lvl8pPr>
              <a:buNone/>
              <a:defRPr sz="1800" b="0">
                <a:solidFill>
                  <a:srgbClr val="476880"/>
                </a:solidFill>
                <a:latin typeface="DejaVu Sans"/>
                <a:ea typeface="DejaVu Sans"/>
                <a:cs typeface="DejaVu Sans"/>
              </a:defRPr>
            </a:lvl8pPr>
            <a:lvl9pPr>
              <a:buNone/>
              <a:defRPr sz="1800" b="0">
                <a:solidFill>
                  <a:srgbClr val="476880"/>
                </a:solidFill>
                <a:latin typeface="DejaVu Sans"/>
                <a:ea typeface="DejaVu Sans"/>
                <a:cs typeface="DejaVu Sans"/>
              </a:defRPr>
            </a:lvl9pPr>
          </a:lstStyle>
          <a:p>
            <a:pPr>
              <a:buNone/>
              <a:defRPr sz="1800" b="0">
                <a:solidFill>
                  <a:srgbClr val="476880"/>
                </a:solidFill>
                <a:latin typeface="DejaVu Sans"/>
                <a:ea typeface="DejaVu Sans"/>
                <a:cs typeface="DejaVu Sans"/>
              </a:defRPr>
            </a:pPr>
            <a:r>
              <a:rPr sz="1800" b="0" dirty="0" err="1">
                <a:solidFill>
                  <a:srgbClr val="476880"/>
                </a:solidFill>
                <a:latin typeface="Arial" panose="020B0604020202020204" pitchFamily="34" charset="0"/>
                <a:cs typeface="Arial" panose="020B0604020202020204" pitchFamily="34" charset="0"/>
              </a:rPr>
              <a:t>estimar_movimiento</a:t>
            </a:r>
            <a:r>
              <a:rPr sz="1800" b="0" dirty="0">
                <a:solidFill>
                  <a:srgbClr val="476880"/>
                </a:solidFill>
                <a:latin typeface="Arial" panose="020B0604020202020204" pitchFamily="34" charset="0"/>
                <a:cs typeface="Arial" panose="020B0604020202020204" pitchFamily="34" charset="0"/>
              </a:rPr>
              <a:t>() </a:t>
            </a:r>
            <a:r>
              <a:rPr sz="1800" b="0" dirty="0" err="1">
                <a:solidFill>
                  <a:srgbClr val="476880"/>
                </a:solidFill>
                <a:latin typeface="Arial" panose="020B0604020202020204" pitchFamily="34" charset="0"/>
                <a:cs typeface="Arial" panose="020B0604020202020204" pitchFamily="34" charset="0"/>
              </a:rPr>
              <a:t>interpreta</a:t>
            </a:r>
            <a:r>
              <a:rPr sz="1800" b="0" dirty="0">
                <a:solidFill>
                  <a:srgbClr val="476880"/>
                </a:solidFill>
                <a:latin typeface="Arial" panose="020B0604020202020204" pitchFamily="34" charset="0"/>
                <a:cs typeface="Arial" panose="020B0604020202020204" pitchFamily="34" charset="0"/>
              </a:rPr>
              <a:t> el </a:t>
            </a:r>
            <a:r>
              <a:rPr sz="1800" b="0" dirty="0" err="1">
                <a:solidFill>
                  <a:srgbClr val="476880"/>
                </a:solidFill>
                <a:latin typeface="Arial" panose="020B0604020202020204" pitchFamily="34" charset="0"/>
                <a:cs typeface="Arial" panose="020B0604020202020204" pitchFamily="34" charset="0"/>
              </a:rPr>
              <a:t>historial</a:t>
            </a:r>
            <a:r>
              <a:rPr sz="1800" b="0" dirty="0">
                <a:solidFill>
                  <a:srgbClr val="476880"/>
                </a:solidFill>
                <a:latin typeface="Arial" panose="020B0604020202020204" pitchFamily="34" charset="0"/>
                <a:cs typeface="Arial" panose="020B0604020202020204" pitchFamily="34" charset="0"/>
              </a:rPr>
              <a:t>; </a:t>
            </a:r>
            <a:r>
              <a:rPr sz="1800" b="0" dirty="0" err="1">
                <a:solidFill>
                  <a:srgbClr val="476880"/>
                </a:solidFill>
                <a:latin typeface="Arial" panose="020B0604020202020204" pitchFamily="34" charset="0"/>
                <a:cs typeface="Arial" panose="020B0604020202020204" pitchFamily="34" charset="0"/>
              </a:rPr>
              <a:t>pendiente</a:t>
            </a:r>
            <a:r>
              <a:rPr sz="1800" b="0" dirty="0">
                <a:solidFill>
                  <a:srgbClr val="476880"/>
                </a:solidFill>
                <a:latin typeface="Arial" panose="020B0604020202020204" pitchFamily="34" charset="0"/>
                <a:cs typeface="Arial" panose="020B0604020202020204" pitchFamily="34" charset="0"/>
              </a:rPr>
              <a:t>() </a:t>
            </a:r>
            <a:r>
              <a:rPr sz="1800" b="0" dirty="0" err="1">
                <a:solidFill>
                  <a:srgbClr val="476880"/>
                </a:solidFill>
                <a:latin typeface="Arial" panose="020B0604020202020204" pitchFamily="34" charset="0"/>
                <a:cs typeface="Arial" panose="020B0604020202020204" pitchFamily="34" charset="0"/>
              </a:rPr>
              <a:t>calcula</a:t>
            </a:r>
            <a:r>
              <a:rPr sz="1800" b="0" dirty="0">
                <a:solidFill>
                  <a:srgbClr val="476880"/>
                </a:solidFill>
                <a:latin typeface="Arial" panose="020B0604020202020204" pitchFamily="34" charset="0"/>
                <a:cs typeface="Arial" panose="020B0604020202020204" pitchFamily="34" charset="0"/>
              </a:rPr>
              <a:t> </a:t>
            </a:r>
            <a:r>
              <a:rPr sz="1800" b="0" dirty="0" err="1">
                <a:solidFill>
                  <a:srgbClr val="476880"/>
                </a:solidFill>
                <a:latin typeface="Arial" panose="020B0604020202020204" pitchFamily="34" charset="0"/>
                <a:cs typeface="Arial" panose="020B0604020202020204" pitchFamily="34" charset="0"/>
              </a:rPr>
              <a:t>tendencias</a:t>
            </a:r>
            <a:r>
              <a:rPr sz="1800" b="0" dirty="0">
                <a:solidFill>
                  <a:srgbClr val="476880"/>
                </a:solidFill>
                <a:latin typeface="Arial" panose="020B0604020202020204" pitchFamily="34" charset="0"/>
                <a:cs typeface="Arial" panose="020B0604020202020204" pitchFamily="34" charset="0"/>
              </a:rPr>
              <a:t>.</a:t>
            </a:r>
          </a:p>
        </p:txBody>
      </p:sp>
      <p:pic>
        <p:nvPicPr>
          <p:cNvPr id="14" name="Imagen 13">
            <a:extLst>
              <a:ext uri="{FF2B5EF4-FFF2-40B4-BE49-F238E27FC236}">
                <a16:creationId xmlns:a16="http://schemas.microsoft.com/office/drawing/2014/main" id="{D97B5D39-5996-4E7B-8068-A022F56ADDD0}"/>
              </a:ext>
            </a:extLst>
          </p:cNvPr>
          <p:cNvPicPr>
            <a:picLocks noChangeAspect="1"/>
          </p:cNvPicPr>
          <p:nvPr/>
        </p:nvPicPr>
        <p:blipFill rotWithShape="1">
          <a:blip r:embed="rId3"/>
          <a:srcRect t="19758" b="26210"/>
          <a:stretch>
            <a:fillRect/>
          </a:stretch>
        </p:blipFill>
        <p:spPr>
          <a:xfrm>
            <a:off x="10398919" y="0"/>
            <a:ext cx="1795462" cy="485533"/>
          </a:xfrm>
          <a:prstGeom prst="rect">
            <a:avLst/>
          </a:prstGeom>
          <a:ln>
            <a:noFill/>
          </a:ln>
        </p:spPr>
      </p:pic>
      <p:sp>
        <p:nvSpPr>
          <p:cNvPr id="15" name="Definicion de r y retraso">
            <a:extLst>
              <a:ext uri="{FF2B5EF4-FFF2-40B4-BE49-F238E27FC236}">
                <a16:creationId xmlns:a16="http://schemas.microsoft.com/office/drawing/2014/main" id="{44DA0272-12E0-4A82-A5D9-F4CC4CC770DE}"/>
              </a:ext>
            </a:extLst>
          </p:cNvPr>
          <p:cNvSpPr>
            <a:spLocks noGrp="1"/>
          </p:cNvSpPr>
          <p:nvPr/>
        </p:nvSpPr>
        <p:spPr>
          <a:xfrm>
            <a:off x="6553200" y="2190750"/>
            <a:ext cx="5000625" cy="523875"/>
          </a:xfrm>
          <a:prstGeom prst="rect">
            <a:avLst/>
          </a:prstGeom>
          <a:noFill/>
          <a:ln w="0">
            <a:noFill/>
            <a:prstDash val="solid"/>
          </a:ln>
        </p:spPr>
        <p:txBody>
          <a:bodyPr lIns="0" tIns="0" rIns="0" bIns="0">
            <a:noAutofit/>
          </a:bodyPr>
          <a:lstStyle>
            <a:defPPr>
              <a:defRPr sz="1500">
                <a:solidFill>
                  <a:srgbClr val="476880"/>
                </a:solidFill>
                <a:latin typeface="DejaVu Sans"/>
                <a:ea typeface="DejaVu Sans"/>
                <a:cs typeface="DejaVu Sans"/>
              </a:defRPr>
            </a:defPPr>
            <a:lvl1pPr>
              <a:defRPr sz="1500">
                <a:solidFill>
                  <a:srgbClr val="476880"/>
                </a:solidFill>
                <a:latin typeface="DejaVu Sans"/>
                <a:ea typeface="DejaVu Sans"/>
                <a:cs typeface="DejaVu Sans"/>
              </a:defRPr>
            </a:lvl1pPr>
            <a:lvl2pPr>
              <a:defRPr sz="1500">
                <a:solidFill>
                  <a:srgbClr val="476880"/>
                </a:solidFill>
                <a:latin typeface="DejaVu Sans"/>
                <a:ea typeface="DejaVu Sans"/>
                <a:cs typeface="DejaVu Sans"/>
              </a:defRPr>
            </a:lvl2pPr>
            <a:lvl3pPr>
              <a:defRPr sz="1500">
                <a:solidFill>
                  <a:srgbClr val="476880"/>
                </a:solidFill>
                <a:latin typeface="DejaVu Sans"/>
                <a:ea typeface="DejaVu Sans"/>
                <a:cs typeface="DejaVu Sans"/>
              </a:defRPr>
            </a:lvl3pPr>
            <a:lvl4pPr>
              <a:defRPr sz="1500">
                <a:solidFill>
                  <a:srgbClr val="476880"/>
                </a:solidFill>
                <a:latin typeface="DejaVu Sans"/>
                <a:ea typeface="DejaVu Sans"/>
                <a:cs typeface="DejaVu Sans"/>
              </a:defRPr>
            </a:lvl4pPr>
            <a:lvl5pPr>
              <a:defRPr sz="1500">
                <a:solidFill>
                  <a:srgbClr val="476880"/>
                </a:solidFill>
                <a:latin typeface="DejaVu Sans"/>
                <a:ea typeface="DejaVu Sans"/>
                <a:cs typeface="DejaVu Sans"/>
              </a:defRPr>
            </a:lvl5pPr>
            <a:lvl6pPr>
              <a:defRPr sz="1500">
                <a:solidFill>
                  <a:srgbClr val="476880"/>
                </a:solidFill>
                <a:latin typeface="DejaVu Sans"/>
                <a:ea typeface="DejaVu Sans"/>
                <a:cs typeface="DejaVu Sans"/>
              </a:defRPr>
            </a:lvl6pPr>
            <a:lvl7pPr>
              <a:defRPr sz="1500">
                <a:solidFill>
                  <a:srgbClr val="476880"/>
                </a:solidFill>
                <a:latin typeface="DejaVu Sans"/>
                <a:ea typeface="DejaVu Sans"/>
                <a:cs typeface="DejaVu Sans"/>
              </a:defRPr>
            </a:lvl7pPr>
            <a:lvl8pPr>
              <a:defRPr sz="1500">
                <a:solidFill>
                  <a:srgbClr val="476880"/>
                </a:solidFill>
                <a:latin typeface="DejaVu Sans"/>
                <a:ea typeface="DejaVu Sans"/>
                <a:cs typeface="DejaVu Sans"/>
              </a:defRPr>
            </a:lvl8pPr>
            <a:lvl9pPr>
              <a:defRPr sz="1500">
                <a:solidFill>
                  <a:srgbClr val="476880"/>
                </a:solidFill>
                <a:latin typeface="DejaVu Sans"/>
                <a:ea typeface="DejaVu Sans"/>
                <a:cs typeface="DejaVu Sans"/>
              </a:defRPr>
            </a:lvl9pPr>
          </a:lstStyle>
          <a:p>
            <a:pPr>
              <a:defRPr sz="1500">
                <a:solidFill>
                  <a:srgbClr val="476880"/>
                </a:solidFill>
                <a:latin typeface="DejaVu Sans"/>
                <a:ea typeface="DejaVu Sans"/>
                <a:cs typeface="DejaVu Sans"/>
              </a:defRPr>
            </a:pPr>
            <a:r>
              <a:rPr sz="1500">
                <a:solidFill>
                  <a:srgbClr val="476880"/>
                </a:solidFill>
                <a:latin typeface="DejaVu Sans"/>
                <a:ea typeface="DejaVu Sans"/>
                <a:cs typeface="DejaVu Sans"/>
              </a:rPr>
              <a:t>r: ritmo relativo de crecimiento (s⁻¹)</a:t>
            </a:r>
          </a:p>
          <a:p>
            <a:pPr>
              <a:defRPr sz="1500">
                <a:solidFill>
                  <a:srgbClr val="476880"/>
                </a:solidFill>
                <a:latin typeface="DejaVu Sans"/>
                <a:ea typeface="DejaVu Sans"/>
                <a:cs typeface="DejaVu Sans"/>
              </a:defRPr>
            </a:pPr>
            <a:r>
              <a:rPr sz="1500">
                <a:solidFill>
                  <a:srgbClr val="476880"/>
                </a:solidFill>
                <a:latin typeface="DejaVu Sans"/>
                <a:ea typeface="DejaVu Sans"/>
                <a:cs typeface="DejaVu Sans"/>
              </a:rPr>
              <a:t>retraso: desfase temporal de la medida (s)</a:t>
            </a:r>
          </a:p>
        </p:txBody>
      </p:sp>
    </p:spTree>
    <p:extLst>
      <p:ext uri="{BB962C8B-B14F-4D97-AF65-F5344CB8AC3E}">
        <p14:creationId xmlns:p14="http://schemas.microsoft.com/office/powerpoint/2010/main" val="527040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sultado real  Dos personas">
            <a:extLst>
              <a:ext uri="{FF2B5EF4-FFF2-40B4-BE49-F238E27FC236}">
                <a16:creationId xmlns:a16="http://schemas.microsoft.com/office/drawing/2014/main" id="{0D4370EA-9D02-4082-8520-30B257637ED0}"/>
              </a:ext>
            </a:extLst>
          </p:cNvPr>
          <p:cNvSpPr>
            <a:spLocks noGrp="1"/>
          </p:cNvSpPr>
          <p:nvPr/>
        </p:nvSpPr>
        <p:spPr>
          <a:xfrm>
            <a:off x="523875" y="381000"/>
            <a:ext cx="11144250" cy="952500"/>
          </a:xfrm>
          <a:prstGeom prst="rect">
            <a:avLst/>
          </a:prstGeom>
          <a:noFill/>
          <a:ln w="0">
            <a:noFill/>
            <a:prstDash val="solid"/>
          </a:ln>
        </p:spPr>
        <p:txBody>
          <a:bodyPr lIns="0" tIns="0" rIns="0" bIns="0" anchor="t">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a:ln>
                  <a:noFill/>
                </a:ln>
                <a:solidFill>
                  <a:srgbClr val="102A43"/>
                </a:solidFill>
                <a:latin typeface="Arial" panose="020B0604020202020204" pitchFamily="34" charset="0"/>
                <a:cs typeface="Arial" panose="020B0604020202020204" pitchFamily="34" charset="0"/>
              </a:rPr>
              <a:t>Video procesado  Seguimiento de una persona</a:t>
            </a:r>
          </a:p>
        </p:txBody>
      </p:sp>
      <p:sp>
        <p:nvSpPr>
          <p:cNvPr id="2" name="22">
            <a:extLst>
              <a:ext uri="{FF2B5EF4-FFF2-40B4-BE49-F238E27FC236}">
                <a16:creationId xmlns:a16="http://schemas.microsoft.com/office/drawing/2014/main" id="{A5A21BB2-7A90-4F20-8F0C-B055EDE7C4BC}"/>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DejaVu Sans"/>
                <a:ea typeface="DejaVu Sans"/>
                <a:cs typeface="DejaVu Sans"/>
              </a:rPr>
              <a:t>10</a:t>
            </a:r>
          </a:p>
        </p:txBody>
      </p:sp>
      <p:sp>
        <p:nvSpPr>
          <p:cNvPr id="3" name="YOLO reconoce dos personas y">
            <a:extLst>
              <a:ext uri="{FF2B5EF4-FFF2-40B4-BE49-F238E27FC236}">
                <a16:creationId xmlns:a16="http://schemas.microsoft.com/office/drawing/2014/main" id="{F9227362-ED57-4B56-8B7E-7CA7470EF896}"/>
              </a:ext>
            </a:extLst>
          </p:cNvPr>
          <p:cNvSpPr>
            <a:spLocks noGrp="1"/>
          </p:cNvSpPr>
          <p:nvPr/>
        </p:nvSpPr>
        <p:spPr>
          <a:xfrm>
            <a:off x="619125" y="1714500"/>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El ID 1 identifica a la persona detectada en este fotograma.</a:t>
            </a:r>
          </a:p>
        </p:txBody>
      </p:sp>
      <p:sp>
        <p:nvSpPr>
          <p:cNvPr id="4" name="Las flechas y las estelas de">
            <a:extLst>
              <a:ext uri="{FF2B5EF4-FFF2-40B4-BE49-F238E27FC236}">
                <a16:creationId xmlns:a16="http://schemas.microsoft.com/office/drawing/2014/main" id="{17429A5B-0927-4FEB-AF28-3B7A1E586739}"/>
              </a:ext>
            </a:extLst>
          </p:cNvPr>
          <p:cNvSpPr>
            <a:spLocks noGrp="1"/>
          </p:cNvSpPr>
          <p:nvPr/>
        </p:nvSpPr>
        <p:spPr>
          <a:xfrm>
            <a:off x="619125" y="3190875"/>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La estela muestra las posiciones recientes del centro de su caja.</a:t>
            </a:r>
          </a:p>
        </p:txBody>
      </p:sp>
      <p:sp>
        <p:nvSpPr>
          <p:cNvPr id="5" name="La persona más cercana apare">
            <a:extLst>
              <a:ext uri="{FF2B5EF4-FFF2-40B4-BE49-F238E27FC236}">
                <a16:creationId xmlns:a16="http://schemas.microsoft.com/office/drawing/2014/main" id="{ADF456D4-15D3-4AEB-879A-8071038F52FC}"/>
              </a:ext>
            </a:extLst>
          </p:cNvPr>
          <p:cNvSpPr>
            <a:spLocks noGrp="1"/>
          </p:cNvSpPr>
          <p:nvPr/>
        </p:nvSpPr>
        <p:spPr>
          <a:xfrm>
            <a:off x="619125" y="4667250"/>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La pantalla indica 146 px/s y dirección de 356 grados.</a:t>
            </a:r>
          </a:p>
        </p:txBody>
      </p:sp>
      <p:pic>
        <p:nvPicPr>
          <p:cNvPr id="6" name="Imagen 5">
            <a:extLst>
              <a:ext uri="{FF2B5EF4-FFF2-40B4-BE49-F238E27FC236}">
                <a16:creationId xmlns:a16="http://schemas.microsoft.com/office/drawing/2014/main" id="{BE89405C-281A-4BC2-AA9B-3A670F04599D}"/>
              </a:ext>
            </a:extLst>
          </p:cNvPr>
          <p:cNvPicPr>
            <a:picLocks noChangeAspect="1"/>
          </p:cNvPicPr>
          <p:nvPr/>
        </p:nvPicPr>
        <p:blipFill>
          <a:blip r:embed="rId3"/>
          <a:srcRect/>
          <a:stretch/>
        </p:blipFill>
        <p:spPr>
          <a:xfrm>
            <a:off x="8138160" y="1428750"/>
            <a:ext cx="2678430" cy="4762500"/>
          </a:xfrm>
          <a:prstGeom prst="rect">
            <a:avLst/>
          </a:prstGeom>
        </p:spPr>
      </p:pic>
      <p:pic>
        <p:nvPicPr>
          <p:cNvPr id="9" name="Imagen 8">
            <a:extLst>
              <a:ext uri="{FF2B5EF4-FFF2-40B4-BE49-F238E27FC236}">
                <a16:creationId xmlns:a16="http://schemas.microsoft.com/office/drawing/2014/main" id="{CA309879-933E-4DBC-B77F-FF782184578E}"/>
              </a:ext>
            </a:extLst>
          </p:cNvPr>
          <p:cNvPicPr>
            <a:picLocks noChangeAspect="1"/>
          </p:cNvPicPr>
          <p:nvPr/>
        </p:nvPicPr>
        <p:blipFill rotWithShape="1">
          <a:blip r:embed="rId4"/>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49961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aso de error  Un rack clasi">
            <a:extLst>
              <a:ext uri="{FF2B5EF4-FFF2-40B4-BE49-F238E27FC236}">
                <a16:creationId xmlns:a16="http://schemas.microsoft.com/office/drawing/2014/main" id="{71C35FB2-3A68-4088-AFF2-728DDFDE4F29}"/>
              </a:ext>
            </a:extLst>
          </p:cNvPr>
          <p:cNvSpPr>
            <a:spLocks noGrp="1"/>
          </p:cNvSpPr>
          <p:nvPr/>
        </p:nvSpPr>
        <p:spPr>
          <a:xfrm>
            <a:off x="523875" y="381000"/>
            <a:ext cx="11144250" cy="952500"/>
          </a:xfrm>
          <a:prstGeom prst="rect">
            <a:avLst/>
          </a:prstGeom>
          <a:noFill/>
          <a:ln w="0">
            <a:noFill/>
            <a:prstDash val="solid"/>
          </a:ln>
        </p:spPr>
        <p:txBody>
          <a:bodyPr lIns="0" tIns="0" rIns="0" bIns="0" anchor="t">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a:ln>
                  <a:noFill/>
                </a:ln>
                <a:solidFill>
                  <a:srgbClr val="102A43"/>
                </a:solidFill>
                <a:latin typeface="Arial" panose="020B0604020202020204" pitchFamily="34" charset="0"/>
                <a:cs typeface="Arial" panose="020B0604020202020204" pitchFamily="34" charset="0"/>
              </a:rPr>
              <a:t>Video procesado  Estimación de alejamiento</a:t>
            </a:r>
          </a:p>
        </p:txBody>
      </p:sp>
      <p:sp>
        <p:nvSpPr>
          <p:cNvPr id="2" name="23">
            <a:extLst>
              <a:ext uri="{FF2B5EF4-FFF2-40B4-BE49-F238E27FC236}">
                <a16:creationId xmlns:a16="http://schemas.microsoft.com/office/drawing/2014/main" id="{D522FBBD-D191-4A44-AD55-C700414375EB}"/>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DejaVu Sans"/>
                <a:ea typeface="DejaVu Sans"/>
                <a:cs typeface="DejaVu Sans"/>
              </a:rPr>
              <a:t>11</a:t>
            </a:r>
          </a:p>
        </p:txBody>
      </p:sp>
      <p:sp>
        <p:nvSpPr>
          <p:cNvPr id="3" name="La clase bus no corresponde ">
            <a:extLst>
              <a:ext uri="{FF2B5EF4-FFF2-40B4-BE49-F238E27FC236}">
                <a16:creationId xmlns:a16="http://schemas.microsoft.com/office/drawing/2014/main" id="{F19AA0BE-65F5-48AF-A2EF-E4AEA44AE912}"/>
              </a:ext>
            </a:extLst>
          </p:cNvPr>
          <p:cNvSpPr>
            <a:spLocks noGrp="1"/>
          </p:cNvSpPr>
          <p:nvPr/>
        </p:nvSpPr>
        <p:spPr>
          <a:xfrm>
            <a:off x="619125" y="1714500"/>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El objeto conserva el ID 1 en esta parte de la secuencia.</a:t>
            </a:r>
          </a:p>
        </p:txBody>
      </p:sp>
      <p:sp>
        <p:nvSpPr>
          <p:cNvPr id="4" name="La caja muestra expansión y ">
            <a:extLst>
              <a:ext uri="{FF2B5EF4-FFF2-40B4-BE49-F238E27FC236}">
                <a16:creationId xmlns:a16="http://schemas.microsoft.com/office/drawing/2014/main" id="{BF76C7D0-F450-4FF9-9F91-1ED99CC12FB9}"/>
              </a:ext>
            </a:extLst>
          </p:cNvPr>
          <p:cNvSpPr>
            <a:spLocks noGrp="1"/>
          </p:cNvSpPr>
          <p:nvPr/>
        </p:nvSpPr>
        <p:spPr>
          <a:xfrm>
            <a:off x="619125" y="3190875"/>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La anotación muestra una contracción</a:t>
            </a:r>
          </a:p>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aparente de 31 %/s.</a:t>
            </a:r>
          </a:p>
        </p:txBody>
      </p:sp>
      <p:sp>
        <p:nvSpPr>
          <p:cNvPr id="5" name="El caso evidencia una clasif">
            <a:extLst>
              <a:ext uri="{FF2B5EF4-FFF2-40B4-BE49-F238E27FC236}">
                <a16:creationId xmlns:a16="http://schemas.microsoft.com/office/drawing/2014/main" id="{491DB6C8-F4C6-49CE-BFCF-567DEF0E17AB}"/>
              </a:ext>
            </a:extLst>
          </p:cNvPr>
          <p:cNvSpPr>
            <a:spLocks noGrp="1"/>
          </p:cNvSpPr>
          <p:nvPr/>
        </p:nvSpPr>
        <p:spPr>
          <a:xfrm>
            <a:off x="619125" y="4667250"/>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Las flechas de las esquinas apuntan hacia el interior de la caja.</a:t>
            </a:r>
          </a:p>
        </p:txBody>
      </p:sp>
      <p:pic>
        <p:nvPicPr>
          <p:cNvPr id="6" name="Imagen 5">
            <a:extLst>
              <a:ext uri="{FF2B5EF4-FFF2-40B4-BE49-F238E27FC236}">
                <a16:creationId xmlns:a16="http://schemas.microsoft.com/office/drawing/2014/main" id="{95359C48-2AD1-4A8B-A777-1CDFFD436B02}"/>
              </a:ext>
            </a:extLst>
          </p:cNvPr>
          <p:cNvPicPr>
            <a:picLocks noChangeAspect="1"/>
          </p:cNvPicPr>
          <p:nvPr/>
        </p:nvPicPr>
        <p:blipFill>
          <a:blip r:embed="rId3"/>
          <a:srcRect/>
          <a:stretch/>
        </p:blipFill>
        <p:spPr>
          <a:xfrm>
            <a:off x="8138160" y="1428750"/>
            <a:ext cx="2678430" cy="4762500"/>
          </a:xfrm>
          <a:prstGeom prst="rect">
            <a:avLst/>
          </a:prstGeom>
        </p:spPr>
      </p:pic>
      <p:pic>
        <p:nvPicPr>
          <p:cNvPr id="9" name="Imagen 8">
            <a:extLst>
              <a:ext uri="{FF2B5EF4-FFF2-40B4-BE49-F238E27FC236}">
                <a16:creationId xmlns:a16="http://schemas.microsoft.com/office/drawing/2014/main" id="{CE8B59D8-FBC6-4AE3-8120-4D9527E8EEC2}"/>
              </a:ext>
            </a:extLst>
          </p:cNvPr>
          <p:cNvPicPr>
            <a:picLocks noChangeAspect="1"/>
          </p:cNvPicPr>
          <p:nvPr/>
        </p:nvPicPr>
        <p:blipFill rotWithShape="1">
          <a:blip r:embed="rId4"/>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279426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sultado real  Aproximación">
            <a:extLst>
              <a:ext uri="{FF2B5EF4-FFF2-40B4-BE49-F238E27FC236}">
                <a16:creationId xmlns:a16="http://schemas.microsoft.com/office/drawing/2014/main" id="{9E43C569-CD6B-4CDF-9CF7-D52992BB0B0D}"/>
              </a:ext>
            </a:extLst>
          </p:cNvPr>
          <p:cNvSpPr>
            <a:spLocks noGrp="1"/>
          </p:cNvSpPr>
          <p:nvPr/>
        </p:nvSpPr>
        <p:spPr>
          <a:xfrm>
            <a:off x="523875" y="381000"/>
            <a:ext cx="11144250" cy="952500"/>
          </a:xfrm>
          <a:prstGeom prst="rect">
            <a:avLst/>
          </a:prstGeom>
          <a:noFill/>
          <a:ln w="0">
            <a:noFill/>
            <a:prstDash val="solid"/>
          </a:ln>
        </p:spPr>
        <p:txBody>
          <a:bodyPr lIns="0" tIns="0" rIns="0" bIns="0" anchor="t">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a:ln>
                  <a:noFill/>
                </a:ln>
                <a:solidFill>
                  <a:srgbClr val="102A43"/>
                </a:solidFill>
                <a:latin typeface="Arial" panose="020B0604020202020204" pitchFamily="34" charset="0"/>
                <a:cs typeface="Arial" panose="020B0604020202020204" pitchFamily="34" charset="0"/>
              </a:rPr>
              <a:t>Video procesado  Activación de la alerta roja</a:t>
            </a:r>
          </a:p>
        </p:txBody>
      </p:sp>
      <p:sp>
        <p:nvSpPr>
          <p:cNvPr id="2" name="24">
            <a:extLst>
              <a:ext uri="{FF2B5EF4-FFF2-40B4-BE49-F238E27FC236}">
                <a16:creationId xmlns:a16="http://schemas.microsoft.com/office/drawing/2014/main" id="{6C4394C2-94ED-4510-A34D-62CEDF7F7ED6}"/>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DejaVu Sans"/>
                <a:ea typeface="DejaVu Sans"/>
                <a:cs typeface="DejaVu Sans"/>
              </a:rPr>
              <a:t>12</a:t>
            </a:r>
          </a:p>
        </p:txBody>
      </p:sp>
      <p:sp>
        <p:nvSpPr>
          <p:cNvPr id="3" name="El detector reconoce la clas">
            <a:extLst>
              <a:ext uri="{FF2B5EF4-FFF2-40B4-BE49-F238E27FC236}">
                <a16:creationId xmlns:a16="http://schemas.microsoft.com/office/drawing/2014/main" id="{31C9A8E7-0D8A-42E2-9F6A-57B326111164}"/>
              </a:ext>
            </a:extLst>
          </p:cNvPr>
          <p:cNvSpPr>
            <a:spLocks noGrp="1"/>
          </p:cNvSpPr>
          <p:nvPr/>
        </p:nvSpPr>
        <p:spPr>
          <a:xfrm>
            <a:off x="619125" y="1714500"/>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La caja de la persona aparece roja y con un aspa.</a:t>
            </a:r>
          </a:p>
        </p:txBody>
      </p:sp>
      <p:sp>
        <p:nvSpPr>
          <p:cNvPr id="4" name="La caja aumenta al acercarse">
            <a:extLst>
              <a:ext uri="{FF2B5EF4-FFF2-40B4-BE49-F238E27FC236}">
                <a16:creationId xmlns:a16="http://schemas.microsoft.com/office/drawing/2014/main" id="{A1975189-A31B-4A70-854B-D974594F7546}"/>
              </a:ext>
            </a:extLst>
          </p:cNvPr>
          <p:cNvSpPr>
            <a:spLocks noGrp="1"/>
          </p:cNvSpPr>
          <p:nvPr/>
        </p:nvSpPr>
        <p:spPr>
          <a:xfrm>
            <a:off x="619125" y="3190875"/>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El sistema muestra un TTC estimado de 1,7 segundos.</a:t>
            </a:r>
          </a:p>
        </p:txBody>
      </p:sp>
      <p:sp>
        <p:nvSpPr>
          <p:cNvPr id="5" name="La captura muestra TTC de 1,">
            <a:extLst>
              <a:ext uri="{FF2B5EF4-FFF2-40B4-BE49-F238E27FC236}">
                <a16:creationId xmlns:a16="http://schemas.microsoft.com/office/drawing/2014/main" id="{ACD4C4F7-F0E2-48DC-A8A5-5721438FB914}"/>
              </a:ext>
            </a:extLst>
          </p:cNvPr>
          <p:cNvSpPr>
            <a:spLocks noGrp="1"/>
          </p:cNvSpPr>
          <p:nvPr/>
        </p:nvSpPr>
        <p:spPr>
          <a:xfrm>
            <a:off x="619125" y="4667250"/>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Ese valor cumple la condición de alerta menor que 2 segundos.</a:t>
            </a:r>
          </a:p>
        </p:txBody>
      </p:sp>
      <p:pic>
        <p:nvPicPr>
          <p:cNvPr id="6" name="Imagen 5">
            <a:extLst>
              <a:ext uri="{FF2B5EF4-FFF2-40B4-BE49-F238E27FC236}">
                <a16:creationId xmlns:a16="http://schemas.microsoft.com/office/drawing/2014/main" id="{DDD93ED8-BFCB-4E4C-99FB-05519633632F}"/>
              </a:ext>
            </a:extLst>
          </p:cNvPr>
          <p:cNvPicPr>
            <a:picLocks noChangeAspect="1"/>
          </p:cNvPicPr>
          <p:nvPr/>
        </p:nvPicPr>
        <p:blipFill>
          <a:blip r:embed="rId3"/>
          <a:srcRect/>
          <a:stretch/>
        </p:blipFill>
        <p:spPr>
          <a:xfrm>
            <a:off x="8138160" y="1428750"/>
            <a:ext cx="2678430" cy="4762500"/>
          </a:xfrm>
          <a:prstGeom prst="rect">
            <a:avLst/>
          </a:prstGeom>
        </p:spPr>
      </p:pic>
      <p:pic>
        <p:nvPicPr>
          <p:cNvPr id="9" name="Imagen 8">
            <a:extLst>
              <a:ext uri="{FF2B5EF4-FFF2-40B4-BE49-F238E27FC236}">
                <a16:creationId xmlns:a16="http://schemas.microsoft.com/office/drawing/2014/main" id="{DA875BBA-DF43-4FB1-8F12-7F447CA943E7}"/>
              </a:ext>
            </a:extLst>
          </p:cNvPr>
          <p:cNvPicPr>
            <a:picLocks noChangeAspect="1"/>
          </p:cNvPicPr>
          <p:nvPr/>
        </p:nvPicPr>
        <p:blipFill rotWithShape="1">
          <a:blip r:embed="rId4"/>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181069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sultado real  Aproximación">
            <a:extLst>
              <a:ext uri="{FF2B5EF4-FFF2-40B4-BE49-F238E27FC236}">
                <a16:creationId xmlns:a16="http://schemas.microsoft.com/office/drawing/2014/main" id="{5ACD107E-DC33-416E-9FCD-05C6CC1212FA}"/>
              </a:ext>
            </a:extLst>
          </p:cNvPr>
          <p:cNvSpPr>
            <a:spLocks noGrp="1"/>
          </p:cNvSpPr>
          <p:nvPr/>
        </p:nvSpPr>
        <p:spPr>
          <a:xfrm>
            <a:off x="523875" y="381000"/>
            <a:ext cx="11144250" cy="952500"/>
          </a:xfrm>
          <a:prstGeom prst="rect">
            <a:avLst/>
          </a:prstGeom>
          <a:noFill/>
          <a:ln w="0">
            <a:noFill/>
            <a:prstDash val="solid"/>
          </a:ln>
        </p:spPr>
        <p:txBody>
          <a:bodyPr lIns="0" tIns="0" rIns="0" bIns="0" anchor="t">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dirty="0">
                <a:ln>
                  <a:noFill/>
                </a:ln>
                <a:solidFill>
                  <a:srgbClr val="102A43"/>
                </a:solidFill>
                <a:latin typeface="Arial" panose="020B0604020202020204" pitchFamily="34" charset="0"/>
                <a:cs typeface="Arial" panose="020B0604020202020204" pitchFamily="34" charset="0"/>
              </a:rPr>
              <a:t>Video </a:t>
            </a:r>
            <a:r>
              <a:rPr sz="3225" b="1" i="0" u="none" strike="noStrike" cap="none" spc="0" baseline="0" dirty="0" err="1">
                <a:ln>
                  <a:noFill/>
                </a:ln>
                <a:solidFill>
                  <a:srgbClr val="102A43"/>
                </a:solidFill>
                <a:latin typeface="Arial" panose="020B0604020202020204" pitchFamily="34" charset="0"/>
                <a:cs typeface="Arial" panose="020B0604020202020204" pitchFamily="34" charset="0"/>
              </a:rPr>
              <a:t>procesado</a:t>
            </a:r>
            <a:r>
              <a:rPr sz="3225" b="1" i="0" u="none" strike="noStrike" cap="none" spc="0" baseline="0" dirty="0">
                <a:ln>
                  <a:noFill/>
                </a:ln>
                <a:solidFill>
                  <a:srgbClr val="102A43"/>
                </a:solidFill>
                <a:latin typeface="Arial" panose="020B0604020202020204" pitchFamily="34" charset="0"/>
                <a:cs typeface="Arial" panose="020B0604020202020204" pitchFamily="34" charset="0"/>
              </a:rPr>
              <a:t>  </a:t>
            </a:r>
            <a:r>
              <a:rPr lang="es-CO" sz="3225" b="1" i="0" u="none" strike="noStrike" cap="none" spc="0" baseline="0" dirty="0">
                <a:ln>
                  <a:noFill/>
                </a:ln>
                <a:solidFill>
                  <a:srgbClr val="102A43"/>
                </a:solidFill>
                <a:latin typeface="Arial" panose="020B0604020202020204" pitchFamily="34" charset="0"/>
                <a:cs typeface="Arial" panose="020B0604020202020204" pitchFamily="34" charset="0"/>
              </a:rPr>
              <a:t>- </a:t>
            </a:r>
            <a:r>
              <a:rPr sz="3225" b="1" i="0" u="none" strike="noStrike" cap="none" spc="0" baseline="0" dirty="0">
                <a:ln>
                  <a:noFill/>
                </a:ln>
                <a:solidFill>
                  <a:srgbClr val="102A43"/>
                </a:solidFill>
                <a:latin typeface="Arial" panose="020B0604020202020204" pitchFamily="34" charset="0"/>
                <a:cs typeface="Arial" panose="020B0604020202020204" pitchFamily="34" charset="0"/>
              </a:rPr>
              <a:t> </a:t>
            </a:r>
            <a:r>
              <a:rPr lang="es-CO" sz="3225" b="1" i="0" u="none" strike="noStrike" cap="none" spc="0" baseline="0" dirty="0">
                <a:ln>
                  <a:noFill/>
                </a:ln>
                <a:solidFill>
                  <a:srgbClr val="102A43"/>
                </a:solidFill>
                <a:latin typeface="Arial" panose="020B0604020202020204" pitchFamily="34" charset="0"/>
                <a:cs typeface="Arial" panose="020B0604020202020204" pitchFamily="34" charset="0"/>
              </a:rPr>
              <a:t>E</a:t>
            </a:r>
            <a:r>
              <a:rPr sz="3225" b="1" i="0" u="none" strike="noStrike" cap="none" spc="0" baseline="0" dirty="0">
                <a:ln>
                  <a:noFill/>
                </a:ln>
                <a:solidFill>
                  <a:srgbClr val="102A43"/>
                </a:solidFill>
                <a:latin typeface="Arial" panose="020B0604020202020204" pitchFamily="34" charset="0"/>
                <a:cs typeface="Arial" panose="020B0604020202020204" pitchFamily="34" charset="0"/>
              </a:rPr>
              <a:t>scena sin </a:t>
            </a:r>
            <a:r>
              <a:rPr sz="3225" b="1" i="0" u="none" strike="noStrike" cap="none" spc="0" baseline="0" dirty="0" err="1">
                <a:ln>
                  <a:noFill/>
                </a:ln>
                <a:solidFill>
                  <a:srgbClr val="102A43"/>
                </a:solidFill>
                <a:latin typeface="Arial" panose="020B0604020202020204" pitchFamily="34" charset="0"/>
                <a:cs typeface="Arial" panose="020B0604020202020204" pitchFamily="34" charset="0"/>
              </a:rPr>
              <a:t>detecciones</a:t>
            </a:r>
            <a:endParaRPr sz="3225" b="1" i="0" u="none" strike="noStrike" cap="none" spc="0" baseline="0" dirty="0">
              <a:ln>
                <a:noFill/>
              </a:ln>
              <a:solidFill>
                <a:srgbClr val="102A43"/>
              </a:solidFill>
              <a:latin typeface="Arial" panose="020B0604020202020204" pitchFamily="34" charset="0"/>
              <a:cs typeface="Arial" panose="020B0604020202020204" pitchFamily="34" charset="0"/>
            </a:endParaRPr>
          </a:p>
        </p:txBody>
      </p:sp>
      <p:sp>
        <p:nvSpPr>
          <p:cNvPr id="2" name="25">
            <a:extLst>
              <a:ext uri="{FF2B5EF4-FFF2-40B4-BE49-F238E27FC236}">
                <a16:creationId xmlns:a16="http://schemas.microsoft.com/office/drawing/2014/main" id="{12F22C6D-FBDD-4336-8170-013393A601B2}"/>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DejaVu Sans"/>
                <a:ea typeface="DejaVu Sans"/>
                <a:cs typeface="DejaVu Sans"/>
              </a:rPr>
              <a:t>13</a:t>
            </a:r>
          </a:p>
        </p:txBody>
      </p:sp>
      <p:sp>
        <p:nvSpPr>
          <p:cNvPr id="3" name="La clase remote identifica e">
            <a:extLst>
              <a:ext uri="{FF2B5EF4-FFF2-40B4-BE49-F238E27FC236}">
                <a16:creationId xmlns:a16="http://schemas.microsoft.com/office/drawing/2014/main" id="{F47D79DC-5015-40B8-B6FF-1460CBA7CC84}"/>
              </a:ext>
            </a:extLst>
          </p:cNvPr>
          <p:cNvSpPr>
            <a:spLocks noGrp="1"/>
          </p:cNvSpPr>
          <p:nvPr/>
        </p:nvSpPr>
        <p:spPr>
          <a:xfrm>
            <a:off x="619125" y="1714500"/>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El fotograma contiene estanterías y cajas, pero no muestra cajas de detección.</a:t>
            </a:r>
          </a:p>
        </p:txBody>
      </p:sp>
      <p:sp>
        <p:nvSpPr>
          <p:cNvPr id="4" name="El aumento de tamaño activa ">
            <a:extLst>
              <a:ext uri="{FF2B5EF4-FFF2-40B4-BE49-F238E27FC236}">
                <a16:creationId xmlns:a16="http://schemas.microsoft.com/office/drawing/2014/main" id="{11EA537E-1820-4337-A5B9-7309314AE96A}"/>
              </a:ext>
            </a:extLst>
          </p:cNvPr>
          <p:cNvSpPr>
            <a:spLocks noGrp="1"/>
          </p:cNvSpPr>
          <p:nvPr/>
        </p:nvSpPr>
        <p:spPr>
          <a:xfrm>
            <a:off x="619125" y="3190875"/>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La barra superior indica cero objetos en movimiento.</a:t>
            </a:r>
          </a:p>
        </p:txBody>
      </p:sp>
      <p:sp>
        <p:nvSpPr>
          <p:cNvPr id="5" name="La captura muestra TTC de 0,">
            <a:extLst>
              <a:ext uri="{FF2B5EF4-FFF2-40B4-BE49-F238E27FC236}">
                <a16:creationId xmlns:a16="http://schemas.microsoft.com/office/drawing/2014/main" id="{42F4A93D-9192-4159-B212-9887E47C801A}"/>
              </a:ext>
            </a:extLst>
          </p:cNvPr>
          <p:cNvSpPr>
            <a:spLocks noGrp="1"/>
          </p:cNvSpPr>
          <p:nvPr/>
        </p:nvSpPr>
        <p:spPr>
          <a:xfrm>
            <a:off x="619125" y="4667250"/>
            <a:ext cx="6572250" cy="1285875"/>
          </a:xfrm>
          <a:prstGeom prst="rect">
            <a:avLst/>
          </a:prstGeom>
          <a:noFill/>
          <a:ln w="0">
            <a:noFill/>
            <a:prstDash val="solid"/>
          </a:ln>
        </p:spPr>
        <p:txBody>
          <a:bodyPr lIns="0" tIns="0" rIns="0" bIns="0" anchor="t">
            <a:noAutofit/>
          </a:bodyPr>
          <a:lstStyle>
            <a:defPPr>
              <a:defRPr sz="2025" b="0">
                <a:solidFill>
                  <a:srgbClr val="102A43"/>
                </a:solidFill>
                <a:latin typeface="DejaVu Sans"/>
                <a:ea typeface="DejaVu Sans"/>
                <a:cs typeface="DejaVu Sans"/>
              </a:defRPr>
            </a:defPPr>
            <a:lvl1pPr>
              <a:buNone/>
              <a:defRPr sz="2025" b="0">
                <a:solidFill>
                  <a:srgbClr val="102A43"/>
                </a:solidFill>
                <a:latin typeface="DejaVu Sans"/>
                <a:ea typeface="DejaVu Sans"/>
                <a:cs typeface="DejaVu Sans"/>
              </a:defRPr>
            </a:lvl1pPr>
            <a:lvl2pPr>
              <a:buNone/>
              <a:defRPr sz="2025" b="0">
                <a:solidFill>
                  <a:srgbClr val="102A43"/>
                </a:solidFill>
                <a:latin typeface="DejaVu Sans"/>
                <a:ea typeface="DejaVu Sans"/>
                <a:cs typeface="DejaVu Sans"/>
              </a:defRPr>
            </a:lvl2pPr>
            <a:lvl3pPr>
              <a:buNone/>
              <a:defRPr sz="2025" b="0">
                <a:solidFill>
                  <a:srgbClr val="102A43"/>
                </a:solidFill>
                <a:latin typeface="DejaVu Sans"/>
                <a:ea typeface="DejaVu Sans"/>
                <a:cs typeface="DejaVu Sans"/>
              </a:defRPr>
            </a:lvl3pPr>
            <a:lvl4pPr>
              <a:buNone/>
              <a:defRPr sz="2025" b="0">
                <a:solidFill>
                  <a:srgbClr val="102A43"/>
                </a:solidFill>
                <a:latin typeface="DejaVu Sans"/>
                <a:ea typeface="DejaVu Sans"/>
                <a:cs typeface="DejaVu Sans"/>
              </a:defRPr>
            </a:lvl4pPr>
            <a:lvl5pPr>
              <a:buNone/>
              <a:defRPr sz="2025" b="0">
                <a:solidFill>
                  <a:srgbClr val="102A43"/>
                </a:solidFill>
                <a:latin typeface="DejaVu Sans"/>
                <a:ea typeface="DejaVu Sans"/>
                <a:cs typeface="DejaVu Sans"/>
              </a:defRPr>
            </a:lvl5pPr>
            <a:lvl6pPr>
              <a:buNone/>
              <a:defRPr sz="2025" b="0">
                <a:solidFill>
                  <a:srgbClr val="102A43"/>
                </a:solidFill>
                <a:latin typeface="DejaVu Sans"/>
                <a:ea typeface="DejaVu Sans"/>
                <a:cs typeface="DejaVu Sans"/>
              </a:defRPr>
            </a:lvl6pPr>
            <a:lvl7pPr>
              <a:buNone/>
              <a:defRPr sz="2025" b="0">
                <a:solidFill>
                  <a:srgbClr val="102A43"/>
                </a:solidFill>
                <a:latin typeface="DejaVu Sans"/>
                <a:ea typeface="DejaVu Sans"/>
                <a:cs typeface="DejaVu Sans"/>
              </a:defRPr>
            </a:lvl7pPr>
            <a:lvl8pPr>
              <a:buNone/>
              <a:defRPr sz="2025" b="0">
                <a:solidFill>
                  <a:srgbClr val="102A43"/>
                </a:solidFill>
                <a:latin typeface="DejaVu Sans"/>
                <a:ea typeface="DejaVu Sans"/>
                <a:cs typeface="DejaVu Sans"/>
              </a:defRPr>
            </a:lvl8pPr>
            <a:lvl9pPr>
              <a:buNone/>
              <a:defRPr sz="202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025" b="0">
                <a:solidFill>
                  <a:srgbClr val="102A43"/>
                </a:solidFill>
                <a:latin typeface="DejaVu Sans"/>
                <a:ea typeface="DejaVu Sans"/>
                <a:cs typeface="DejaVu Sans"/>
              </a:defRPr>
            </a:pPr>
            <a:r>
              <a:rPr sz="2025" b="0" i="0" u="none" strike="noStrike" cap="none" spc="0" baseline="0">
                <a:ln>
                  <a:noFill/>
                </a:ln>
                <a:solidFill>
                  <a:srgbClr val="102A43"/>
                </a:solidFill>
                <a:latin typeface="Arial" panose="020B0604020202020204" pitchFamily="34" charset="0"/>
                <a:cs typeface="Arial" panose="020B0604020202020204" pitchFamily="34" charset="0"/>
              </a:rPr>
              <a:t>La ausencia de detecciones no demuestra que el recorrido esté libre.</a:t>
            </a:r>
          </a:p>
        </p:txBody>
      </p:sp>
      <p:pic>
        <p:nvPicPr>
          <p:cNvPr id="6" name="Imagen 5">
            <a:extLst>
              <a:ext uri="{FF2B5EF4-FFF2-40B4-BE49-F238E27FC236}">
                <a16:creationId xmlns:a16="http://schemas.microsoft.com/office/drawing/2014/main" id="{3937984F-C819-4CFF-A15E-CF071A38F7FF}"/>
              </a:ext>
            </a:extLst>
          </p:cNvPr>
          <p:cNvPicPr>
            <a:picLocks noChangeAspect="1"/>
          </p:cNvPicPr>
          <p:nvPr/>
        </p:nvPicPr>
        <p:blipFill>
          <a:blip r:embed="rId3"/>
          <a:srcRect/>
          <a:stretch/>
        </p:blipFill>
        <p:spPr>
          <a:xfrm>
            <a:off x="8138160" y="1428750"/>
            <a:ext cx="2678430" cy="4762500"/>
          </a:xfrm>
          <a:prstGeom prst="rect">
            <a:avLst/>
          </a:prstGeom>
        </p:spPr>
      </p:pic>
      <p:pic>
        <p:nvPicPr>
          <p:cNvPr id="9" name="Imagen 8">
            <a:extLst>
              <a:ext uri="{FF2B5EF4-FFF2-40B4-BE49-F238E27FC236}">
                <a16:creationId xmlns:a16="http://schemas.microsoft.com/office/drawing/2014/main" id="{9CD8DD41-9C4D-4AEB-9208-DD6DEC62BD43}"/>
              </a:ext>
            </a:extLst>
          </p:cNvPr>
          <p:cNvPicPr>
            <a:picLocks noChangeAspect="1"/>
          </p:cNvPicPr>
          <p:nvPr/>
        </p:nvPicPr>
        <p:blipFill rotWithShape="1">
          <a:blip r:embed="rId4"/>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590129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lación con la acción robót">
            <a:extLst>
              <a:ext uri="{FF2B5EF4-FFF2-40B4-BE49-F238E27FC236}">
                <a16:creationId xmlns:a16="http://schemas.microsoft.com/office/drawing/2014/main" id="{8736D6B8-5745-4F63-8330-683D23CDC18A}"/>
              </a:ext>
            </a:extLst>
          </p:cNvPr>
          <p:cNvSpPr>
            <a:spLocks noGrp="1"/>
          </p:cNvSpPr>
          <p:nvPr/>
        </p:nvSpPr>
        <p:spPr>
          <a:xfrm>
            <a:off x="523875" y="381000"/>
            <a:ext cx="11144250" cy="952500"/>
          </a:xfrm>
          <a:prstGeom prst="rect">
            <a:avLst/>
          </a:prstGeom>
          <a:noFill/>
          <a:ln w="0">
            <a:noFill/>
            <a:prstDash val="solid"/>
          </a:ln>
        </p:spPr>
        <p:txBody>
          <a:bodyPr lIns="0" tIns="0" rIns="0" bIns="0" anchor="t">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a:ln>
                  <a:noFill/>
                </a:ln>
                <a:solidFill>
                  <a:srgbClr val="102A43"/>
                </a:solidFill>
                <a:latin typeface="Arial" panose="020B0604020202020204" pitchFamily="34" charset="0"/>
                <a:cs typeface="Arial" panose="020B0604020202020204" pitchFamily="34" charset="0"/>
              </a:rPr>
              <a:t>Conexión con la acción robótica</a:t>
            </a:r>
          </a:p>
        </p:txBody>
      </p:sp>
      <p:sp>
        <p:nvSpPr>
          <p:cNvPr id="2" name="29">
            <a:extLst>
              <a:ext uri="{FF2B5EF4-FFF2-40B4-BE49-F238E27FC236}">
                <a16:creationId xmlns:a16="http://schemas.microsoft.com/office/drawing/2014/main" id="{1E4852D9-1BE8-4F2A-8081-763414F10F53}"/>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DejaVu Sans"/>
                <a:ea typeface="DejaVu Sans"/>
                <a:cs typeface="DejaVu Sans"/>
              </a:rPr>
              <a:t>14</a:t>
            </a:r>
          </a:p>
        </p:txBody>
      </p:sp>
      <p:sp>
        <p:nvSpPr>
          <p:cNvPr id="3" name="El código ya detecta una con">
            <a:extLst>
              <a:ext uri="{FF2B5EF4-FFF2-40B4-BE49-F238E27FC236}">
                <a16:creationId xmlns:a16="http://schemas.microsoft.com/office/drawing/2014/main" id="{DC47EC43-CB02-4A4A-BA9D-90C82060EF22}"/>
              </a:ext>
            </a:extLst>
          </p:cNvPr>
          <p:cNvSpPr>
            <a:spLocks noGrp="1"/>
          </p:cNvSpPr>
          <p:nvPr/>
        </p:nvSpPr>
        <p:spPr>
          <a:xfrm>
            <a:off x="523875" y="1204670"/>
            <a:ext cx="11144249"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El código genera una alerta visual cuando el TTC estimado es menor de 2 s.</a:t>
            </a:r>
          </a:p>
        </p:txBody>
      </p:sp>
      <p:sp>
        <p:nvSpPr>
          <p:cNvPr id="4" name="Un robot puede usar esa info">
            <a:extLst>
              <a:ext uri="{FF2B5EF4-FFF2-40B4-BE49-F238E27FC236}">
                <a16:creationId xmlns:a16="http://schemas.microsoft.com/office/drawing/2014/main" id="{EA12FB34-C5EC-46FA-B5F9-45D57588422F}"/>
              </a:ext>
            </a:extLst>
          </p:cNvPr>
          <p:cNvSpPr>
            <a:spLocks noGrp="1"/>
          </p:cNvSpPr>
          <p:nvPr/>
        </p:nvSpPr>
        <p:spPr>
          <a:xfrm>
            <a:off x="523874" y="1890712"/>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La integración con el control del robot permitiría ordenar frenado o ceder el paso.</a:t>
            </a:r>
          </a:p>
        </p:txBody>
      </p:sp>
      <p:sp>
        <p:nvSpPr>
          <p:cNvPr id="5" name="La práctica no ejecutó la ac">
            <a:extLst>
              <a:ext uri="{FF2B5EF4-FFF2-40B4-BE49-F238E27FC236}">
                <a16:creationId xmlns:a16="http://schemas.microsoft.com/office/drawing/2014/main" id="{9B43BA02-B8C2-48E0-8545-378CE025D393}"/>
              </a:ext>
            </a:extLst>
          </p:cNvPr>
          <p:cNvSpPr>
            <a:spLocks noGrp="1"/>
          </p:cNvSpPr>
          <p:nvPr/>
        </p:nvSpPr>
        <p:spPr>
          <a:xfrm>
            <a:off x="523874" y="2712244"/>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dirty="0">
                <a:ln>
                  <a:noFill/>
                </a:ln>
                <a:solidFill>
                  <a:srgbClr val="102A43"/>
                </a:solidFill>
                <a:latin typeface="Arial" panose="020B0604020202020204" pitchFamily="34" charset="0"/>
                <a:cs typeface="Arial" panose="020B0604020202020204" pitchFamily="34" charset="0"/>
              </a:rPr>
              <a:t>Los </a:t>
            </a:r>
            <a:r>
              <a:rPr sz="2175" b="0" i="0" u="none" strike="noStrike" cap="none" spc="0" baseline="0" dirty="0" err="1">
                <a:ln>
                  <a:noFill/>
                </a:ln>
                <a:solidFill>
                  <a:srgbClr val="102A43"/>
                </a:solidFill>
                <a:latin typeface="Arial" panose="020B0604020202020204" pitchFamily="34" charset="0"/>
                <a:cs typeface="Arial" panose="020B0604020202020204" pitchFamily="34" charset="0"/>
              </a:rPr>
              <a:t>avisos</a:t>
            </a:r>
            <a:r>
              <a:rPr sz="2175" b="0" i="0" u="none" strike="noStrike" cap="none" spc="0" baseline="0" dirty="0">
                <a:ln>
                  <a:noFill/>
                </a:ln>
                <a:solidFill>
                  <a:srgbClr val="102A43"/>
                </a:solidFill>
                <a:latin typeface="Arial" panose="020B0604020202020204" pitchFamily="34" charset="0"/>
                <a:cs typeface="Arial" panose="020B0604020202020204" pitchFamily="34" charset="0"/>
              </a:rPr>
              <a:t> </a:t>
            </a:r>
            <a:r>
              <a:rPr sz="2175" b="0" i="0" u="none" strike="noStrike" cap="none" spc="0" baseline="0" dirty="0" err="1">
                <a:ln>
                  <a:noFill/>
                </a:ln>
                <a:solidFill>
                  <a:srgbClr val="102A43"/>
                </a:solidFill>
                <a:latin typeface="Arial" panose="020B0604020202020204" pitchFamily="34" charset="0"/>
                <a:cs typeface="Arial" panose="020B0604020202020204" pitchFamily="34" charset="0"/>
              </a:rPr>
              <a:t>audiovisuales</a:t>
            </a:r>
            <a:r>
              <a:rPr sz="2175" b="0" i="0" u="none" strike="noStrike" cap="none" spc="0" baseline="0" dirty="0">
                <a:ln>
                  <a:noFill/>
                </a:ln>
                <a:solidFill>
                  <a:srgbClr val="102A43"/>
                </a:solidFill>
                <a:latin typeface="Arial" panose="020B0604020202020204" pitchFamily="34" charset="0"/>
                <a:cs typeface="Arial" panose="020B0604020202020204" pitchFamily="34" charset="0"/>
              </a:rPr>
              <a:t> y la </a:t>
            </a:r>
            <a:r>
              <a:rPr sz="2175" b="0" i="0" u="none" strike="noStrike" cap="none" spc="0" baseline="0" dirty="0" err="1">
                <a:ln>
                  <a:noFill/>
                </a:ln>
                <a:solidFill>
                  <a:srgbClr val="102A43"/>
                </a:solidFill>
                <a:latin typeface="Arial" panose="020B0604020202020204" pitchFamily="34" charset="0"/>
                <a:cs typeface="Arial" panose="020B0604020202020204" pitchFamily="34" charset="0"/>
              </a:rPr>
              <a:t>evasión</a:t>
            </a:r>
            <a:r>
              <a:rPr sz="2175" b="0" i="0" u="none" strike="noStrike" cap="none" spc="0" baseline="0" dirty="0">
                <a:ln>
                  <a:noFill/>
                </a:ln>
                <a:solidFill>
                  <a:srgbClr val="102A43"/>
                </a:solidFill>
                <a:latin typeface="Arial" panose="020B0604020202020204" pitchFamily="34" charset="0"/>
                <a:cs typeface="Arial" panose="020B0604020202020204" pitchFamily="34" charset="0"/>
              </a:rPr>
              <a:t> </a:t>
            </a:r>
            <a:r>
              <a:rPr sz="2175" b="0" i="0" u="none" strike="noStrike" cap="none" spc="0" baseline="0" dirty="0" err="1">
                <a:ln>
                  <a:noFill/>
                </a:ln>
                <a:solidFill>
                  <a:srgbClr val="102A43"/>
                </a:solidFill>
                <a:latin typeface="Arial" panose="020B0604020202020204" pitchFamily="34" charset="0"/>
                <a:cs typeface="Arial" panose="020B0604020202020204" pitchFamily="34" charset="0"/>
              </a:rPr>
              <a:t>requieren</a:t>
            </a:r>
            <a:r>
              <a:rPr sz="2175" b="0" i="0" u="none" strike="noStrike" cap="none" spc="0" baseline="0" dirty="0">
                <a:ln>
                  <a:noFill/>
                </a:ln>
                <a:solidFill>
                  <a:srgbClr val="102A43"/>
                </a:solidFill>
                <a:latin typeface="Arial" panose="020B0604020202020204" pitchFamily="34" charset="0"/>
                <a:cs typeface="Arial" panose="020B0604020202020204" pitchFamily="34" charset="0"/>
              </a:rPr>
              <a:t> </a:t>
            </a:r>
            <a:r>
              <a:rPr sz="2175" b="0" i="0" u="none" strike="noStrike" cap="none" spc="0" baseline="0" dirty="0" err="1">
                <a:ln>
                  <a:noFill/>
                </a:ln>
                <a:solidFill>
                  <a:srgbClr val="102A43"/>
                </a:solidFill>
                <a:latin typeface="Arial" panose="020B0604020202020204" pitchFamily="34" charset="0"/>
                <a:cs typeface="Arial" panose="020B0604020202020204" pitchFamily="34" charset="0"/>
              </a:rPr>
              <a:t>una</a:t>
            </a:r>
            <a:r>
              <a:rPr sz="2175" b="0" i="0" u="none" strike="noStrike" cap="none" spc="0" baseline="0" dirty="0">
                <a:ln>
                  <a:noFill/>
                </a:ln>
                <a:solidFill>
                  <a:srgbClr val="102A43"/>
                </a:solidFill>
                <a:latin typeface="Arial" panose="020B0604020202020204" pitchFamily="34" charset="0"/>
                <a:cs typeface="Arial" panose="020B0604020202020204" pitchFamily="34" charset="0"/>
              </a:rPr>
              <a:t> </a:t>
            </a:r>
            <a:r>
              <a:rPr sz="2175" b="0" i="0" u="none" strike="noStrike" cap="none" spc="0" baseline="0" dirty="0" err="1">
                <a:ln>
                  <a:noFill/>
                </a:ln>
                <a:solidFill>
                  <a:srgbClr val="102A43"/>
                </a:solidFill>
                <a:latin typeface="Arial" panose="020B0604020202020204" pitchFamily="34" charset="0"/>
                <a:cs typeface="Arial" panose="020B0604020202020204" pitchFamily="34" charset="0"/>
              </a:rPr>
              <a:t>integración</a:t>
            </a:r>
            <a:r>
              <a:rPr sz="2175" b="0" i="0" u="none" strike="noStrike" cap="none" spc="0" baseline="0" dirty="0">
                <a:ln>
                  <a:noFill/>
                </a:ln>
                <a:solidFill>
                  <a:srgbClr val="102A43"/>
                </a:solidFill>
                <a:latin typeface="Arial" panose="020B0604020202020204" pitchFamily="34" charset="0"/>
                <a:cs typeface="Arial" panose="020B0604020202020204" pitchFamily="34" charset="0"/>
              </a:rPr>
              <a:t> </a:t>
            </a:r>
            <a:r>
              <a:rPr sz="2175" b="0" i="0" u="none" strike="noStrike" cap="none" spc="0" baseline="0" dirty="0" err="1">
                <a:ln>
                  <a:noFill/>
                </a:ln>
                <a:solidFill>
                  <a:srgbClr val="102A43"/>
                </a:solidFill>
                <a:latin typeface="Arial" panose="020B0604020202020204" pitchFamily="34" charset="0"/>
                <a:cs typeface="Arial" panose="020B0604020202020204" pitchFamily="34" charset="0"/>
              </a:rPr>
              <a:t>adicional</a:t>
            </a:r>
            <a:r>
              <a:rPr sz="2175" b="0" i="0" u="none" strike="noStrike" cap="none" spc="0" baseline="0" dirty="0">
                <a:ln>
                  <a:noFill/>
                </a:ln>
                <a:solidFill>
                  <a:srgbClr val="102A43"/>
                </a:solidFill>
                <a:latin typeface="Arial" panose="020B0604020202020204" pitchFamily="34" charset="0"/>
                <a:cs typeface="Arial" panose="020B0604020202020204" pitchFamily="34" charset="0"/>
              </a:rPr>
              <a:t>.</a:t>
            </a:r>
          </a:p>
        </p:txBody>
      </p:sp>
      <p:pic>
        <p:nvPicPr>
          <p:cNvPr id="9" name="Imagen 8">
            <a:extLst>
              <a:ext uri="{FF2B5EF4-FFF2-40B4-BE49-F238E27FC236}">
                <a16:creationId xmlns:a16="http://schemas.microsoft.com/office/drawing/2014/main" id="{F773AA6B-2A35-4BEE-9B59-80A9F020DE44}"/>
              </a:ext>
            </a:extLst>
          </p:cNvPr>
          <p:cNvPicPr>
            <a:picLocks noChangeAspect="1"/>
          </p:cNvPicPr>
          <p:nvPr/>
        </p:nvPicPr>
        <p:blipFill rotWithShape="1">
          <a:blip r:embed="rId3"/>
          <a:srcRect t="19758" b="26210"/>
          <a:stretch>
            <a:fillRect/>
          </a:stretch>
        </p:blipFill>
        <p:spPr>
          <a:xfrm>
            <a:off x="10398919" y="0"/>
            <a:ext cx="1795462" cy="485533"/>
          </a:xfrm>
          <a:prstGeom prst="rect">
            <a:avLst/>
          </a:prstGeom>
          <a:ln>
            <a:noFill/>
          </a:ln>
        </p:spPr>
      </p:pic>
      <p:pic>
        <p:nvPicPr>
          <p:cNvPr id="8" name="Imagen 7">
            <a:extLst>
              <a:ext uri="{FF2B5EF4-FFF2-40B4-BE49-F238E27FC236}">
                <a16:creationId xmlns:a16="http://schemas.microsoft.com/office/drawing/2014/main" id="{EA1E3CFC-2E7E-250E-EB27-38190E7411F6}"/>
              </a:ext>
            </a:extLst>
          </p:cNvPr>
          <p:cNvPicPr>
            <a:picLocks noChangeAspect="1"/>
          </p:cNvPicPr>
          <p:nvPr/>
        </p:nvPicPr>
        <p:blipFill>
          <a:blip r:embed="rId4"/>
          <a:srcRect t="4890" b="13516"/>
          <a:stretch>
            <a:fillRect/>
          </a:stretch>
        </p:blipFill>
        <p:spPr>
          <a:xfrm>
            <a:off x="2178081" y="3159919"/>
            <a:ext cx="7550086" cy="3467101"/>
          </a:xfrm>
          <a:prstGeom prst="rect">
            <a:avLst/>
          </a:prstGeom>
        </p:spPr>
      </p:pic>
    </p:spTree>
    <p:extLst>
      <p:ext uri="{BB962C8B-B14F-4D97-AF65-F5344CB8AC3E}">
        <p14:creationId xmlns:p14="http://schemas.microsoft.com/office/powerpoint/2010/main" val="1097169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Limitaciones que ayudan a in">
            <a:extLst>
              <a:ext uri="{FF2B5EF4-FFF2-40B4-BE49-F238E27FC236}">
                <a16:creationId xmlns:a16="http://schemas.microsoft.com/office/drawing/2014/main" id="{B9A20025-AAC3-450F-AE8D-ACB5E05ABF16}"/>
              </a:ext>
            </a:extLst>
          </p:cNvPr>
          <p:cNvSpPr>
            <a:spLocks noGrp="1"/>
          </p:cNvSpPr>
          <p:nvPr/>
        </p:nvSpPr>
        <p:spPr>
          <a:xfrm>
            <a:off x="523875" y="381000"/>
            <a:ext cx="11144250" cy="952500"/>
          </a:xfrm>
          <a:prstGeom prst="rect">
            <a:avLst/>
          </a:prstGeom>
          <a:noFill/>
          <a:ln w="0">
            <a:noFill/>
            <a:prstDash val="solid"/>
          </a:ln>
        </p:spPr>
        <p:txBody>
          <a:bodyPr lIns="0" tIns="0" rIns="0" bIns="0" anchor="t">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a:ln>
                  <a:noFill/>
                </a:ln>
                <a:solidFill>
                  <a:srgbClr val="102A43"/>
                </a:solidFill>
                <a:latin typeface="Arial" panose="020B0604020202020204" pitchFamily="34" charset="0"/>
                <a:cs typeface="Arial" panose="020B0604020202020204" pitchFamily="34" charset="0"/>
              </a:rPr>
              <a:t>Limitaciones del sistema</a:t>
            </a:r>
          </a:p>
        </p:txBody>
      </p:sp>
      <p:sp>
        <p:nvSpPr>
          <p:cNvPr id="2" name="30">
            <a:extLst>
              <a:ext uri="{FF2B5EF4-FFF2-40B4-BE49-F238E27FC236}">
                <a16:creationId xmlns:a16="http://schemas.microsoft.com/office/drawing/2014/main" id="{6CB0EDA3-E460-45DD-9F18-504B6E7AFB71}"/>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DejaVu Sans"/>
                <a:ea typeface="DejaVu Sans"/>
                <a:cs typeface="DejaVu Sans"/>
              </a:rPr>
              <a:t>15</a:t>
            </a:r>
          </a:p>
        </p:txBody>
      </p:sp>
      <p:sp>
        <p:nvSpPr>
          <p:cNvPr id="3" name="Los FPS dependen del hardwar">
            <a:extLst>
              <a:ext uri="{FF2B5EF4-FFF2-40B4-BE49-F238E27FC236}">
                <a16:creationId xmlns:a16="http://schemas.microsoft.com/office/drawing/2014/main" id="{F7F80F9D-EFB2-485D-AB1D-C5D31866BD99}"/>
              </a:ext>
            </a:extLst>
          </p:cNvPr>
          <p:cNvSpPr>
            <a:spLocks noGrp="1"/>
          </p:cNvSpPr>
          <p:nvPr/>
        </p:nvSpPr>
        <p:spPr>
          <a:xfrm>
            <a:off x="619125" y="15716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Los FPS dependen del hardware y de las condiciones de captura.</a:t>
            </a:r>
          </a:p>
        </p:txBody>
      </p:sp>
      <p:sp>
        <p:nvSpPr>
          <p:cNvPr id="4" name="La velocidad métrica necesit">
            <a:extLst>
              <a:ext uri="{FF2B5EF4-FFF2-40B4-BE49-F238E27FC236}">
                <a16:creationId xmlns:a16="http://schemas.microsoft.com/office/drawing/2014/main" id="{5C11DB4F-F9F9-4097-8E93-D9919BC30659}"/>
              </a:ext>
            </a:extLst>
          </p:cNvPr>
          <p:cNvSpPr>
            <a:spLocks noGrp="1"/>
          </p:cNvSpPr>
          <p:nvPr/>
        </p:nvSpPr>
        <p:spPr>
          <a:xfrm>
            <a:off x="619125" y="26003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La velocidad métrica necesita una escala adecuada a la distancia del objeto.</a:t>
            </a:r>
          </a:p>
        </p:txBody>
      </p:sp>
      <p:sp>
        <p:nvSpPr>
          <p:cNvPr id="5" name="Cruces y oclusiones pueden a">
            <a:extLst>
              <a:ext uri="{FF2B5EF4-FFF2-40B4-BE49-F238E27FC236}">
                <a16:creationId xmlns:a16="http://schemas.microsoft.com/office/drawing/2014/main" id="{55687EBD-E622-4F80-9DAF-8A4D53C9D544}"/>
              </a:ext>
            </a:extLst>
          </p:cNvPr>
          <p:cNvSpPr>
            <a:spLocks noGrp="1"/>
          </p:cNvSpPr>
          <p:nvPr/>
        </p:nvSpPr>
        <p:spPr>
          <a:xfrm>
            <a:off x="619125" y="36290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Cruces y oclusiones pueden afectar los IDs y las cajas.</a:t>
            </a:r>
          </a:p>
        </p:txBody>
      </p:sp>
      <p:sp>
        <p:nvSpPr>
          <p:cNvPr id="6" name="Cambios de postura o giros p">
            <a:extLst>
              <a:ext uri="{FF2B5EF4-FFF2-40B4-BE49-F238E27FC236}">
                <a16:creationId xmlns:a16="http://schemas.microsoft.com/office/drawing/2014/main" id="{699C35CD-D644-46A4-96F5-D87F276B129F}"/>
              </a:ext>
            </a:extLst>
          </p:cNvPr>
          <p:cNvSpPr>
            <a:spLocks noGrp="1"/>
          </p:cNvSpPr>
          <p:nvPr/>
        </p:nvSpPr>
        <p:spPr>
          <a:xfrm>
            <a:off x="619125" y="46577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Cambios de postura o giros pueden distorsionar el TTC.</a:t>
            </a:r>
          </a:p>
        </p:txBody>
      </p:sp>
      <p:pic>
        <p:nvPicPr>
          <p:cNvPr id="9" name="Imagen 8">
            <a:extLst>
              <a:ext uri="{FF2B5EF4-FFF2-40B4-BE49-F238E27FC236}">
                <a16:creationId xmlns:a16="http://schemas.microsoft.com/office/drawing/2014/main" id="{8C134FB4-B5D7-4120-9A54-ABE595808429}"/>
              </a:ext>
            </a:extLst>
          </p:cNvPr>
          <p:cNvPicPr>
            <a:picLocks noChangeAspect="1"/>
          </p:cNvPicPr>
          <p:nvPr/>
        </p:nvPicPr>
        <p:blipFill rotWithShape="1">
          <a:blip r:embed="rId3"/>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619373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Líneas futuras del traba">
            <a:extLst>
              <a:ext uri="{FF2B5EF4-FFF2-40B4-BE49-F238E27FC236}">
                <a16:creationId xmlns:a16="http://schemas.microsoft.com/office/drawing/2014/main" id="{41216779-B8A5-4816-8E3F-02B214313849}"/>
              </a:ext>
            </a:extLst>
          </p:cNvPr>
          <p:cNvSpPr>
            <a:spLocks noGrp="1"/>
          </p:cNvSpPr>
          <p:nvPr/>
        </p:nvSpPr>
        <p:spPr>
          <a:xfrm>
            <a:off x="523875" y="381000"/>
            <a:ext cx="11144250" cy="952500"/>
          </a:xfrm>
          <a:prstGeom prst="rect">
            <a:avLst/>
          </a:prstGeom>
          <a:noFill/>
          <a:ln w="0">
            <a:noFill/>
            <a:prstDash val="solid"/>
          </a:ln>
        </p:spPr>
        <p:txBody>
          <a:bodyPr lIns="0" tIns="0" rIns="0" bIns="0">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dirty="0" err="1">
                <a:ln>
                  <a:noFill/>
                </a:ln>
                <a:solidFill>
                  <a:srgbClr val="102A43"/>
                </a:solidFill>
                <a:latin typeface="Arial" panose="020B0604020202020204" pitchFamily="34" charset="0"/>
                <a:cs typeface="Arial" panose="020B0604020202020204" pitchFamily="34" charset="0"/>
              </a:rPr>
              <a:t>Líneas</a:t>
            </a:r>
            <a:r>
              <a:rPr sz="3225" b="1" i="0" u="none" strike="noStrike" cap="none" spc="0" baseline="0" dirty="0">
                <a:ln>
                  <a:noFill/>
                </a:ln>
                <a:solidFill>
                  <a:srgbClr val="102A43"/>
                </a:solidFill>
                <a:latin typeface="Arial" panose="020B0604020202020204" pitchFamily="34" charset="0"/>
                <a:cs typeface="Arial" panose="020B0604020202020204" pitchFamily="34" charset="0"/>
              </a:rPr>
              <a:t> </a:t>
            </a:r>
            <a:r>
              <a:rPr sz="3225" b="1" i="0" u="none" strike="noStrike" cap="none" spc="0" baseline="0" dirty="0" err="1">
                <a:ln>
                  <a:noFill/>
                </a:ln>
                <a:solidFill>
                  <a:srgbClr val="102A43"/>
                </a:solidFill>
                <a:latin typeface="Arial" panose="020B0604020202020204" pitchFamily="34" charset="0"/>
                <a:cs typeface="Arial" panose="020B0604020202020204" pitchFamily="34" charset="0"/>
              </a:rPr>
              <a:t>futuras</a:t>
            </a:r>
            <a:endParaRPr sz="3225" b="1" i="0" u="none" strike="noStrike" cap="none" spc="0" baseline="0" dirty="0">
              <a:ln>
                <a:noFill/>
              </a:ln>
              <a:solidFill>
                <a:srgbClr val="102A43"/>
              </a:solidFill>
              <a:latin typeface="Arial" panose="020B0604020202020204" pitchFamily="34" charset="0"/>
              <a:cs typeface="Arial" panose="020B0604020202020204" pitchFamily="34" charset="0"/>
            </a:endParaRPr>
          </a:p>
        </p:txBody>
      </p:sp>
      <p:sp>
        <p:nvSpPr>
          <p:cNvPr id="2" name="00">
            <a:extLst>
              <a:ext uri="{FF2B5EF4-FFF2-40B4-BE49-F238E27FC236}">
                <a16:creationId xmlns:a16="http://schemas.microsoft.com/office/drawing/2014/main" id="{9F37EDA8-B5A4-4DF9-B127-621C212BC837}"/>
              </a:ext>
            </a:extLst>
          </p:cNvPr>
          <p:cNvSpPr>
            <a:spLocks noGrp="1"/>
          </p:cNvSpPr>
          <p:nvPr/>
        </p:nvSpPr>
        <p:spPr>
          <a:xfrm>
            <a:off x="11144250" y="6438900"/>
            <a:ext cx="523875" cy="228600"/>
          </a:xfrm>
          <a:prstGeom prst="rect">
            <a:avLst/>
          </a:prstGeom>
          <a:noFill/>
          <a:ln w="0">
            <a:noFill/>
            <a:prstDash val="solid"/>
          </a:ln>
        </p:spPr>
        <p:txBody>
          <a:bodyPr lIns="0" tIns="0" rIns="0" bIns="0">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Arial" panose="020B0604020202020204" pitchFamily="34" charset="0"/>
                <a:cs typeface="Arial" panose="020B0604020202020204" pitchFamily="34" charset="0"/>
              </a:rPr>
              <a:t>16</a:t>
            </a:r>
          </a:p>
        </p:txBody>
      </p:sp>
      <p:sp>
        <p:nvSpPr>
          <p:cNvPr id="3" name="Sustituir la escala manu">
            <a:extLst>
              <a:ext uri="{FF2B5EF4-FFF2-40B4-BE49-F238E27FC236}">
                <a16:creationId xmlns:a16="http://schemas.microsoft.com/office/drawing/2014/main" id="{7BC0BEE6-D9C0-4F49-9E52-AC7259B43464}"/>
              </a:ext>
            </a:extLst>
          </p:cNvPr>
          <p:cNvSpPr>
            <a:spLocks noGrp="1"/>
          </p:cNvSpPr>
          <p:nvPr/>
        </p:nvSpPr>
        <p:spPr>
          <a:xfrm>
            <a:off x="619125" y="1571625"/>
            <a:ext cx="10858500" cy="857250"/>
          </a:xfrm>
          <a:prstGeom prst="rect">
            <a:avLst/>
          </a:prstGeom>
          <a:noFill/>
          <a:ln w="0">
            <a:noFill/>
            <a:prstDash val="solid"/>
          </a:ln>
        </p:spPr>
        <p:txBody>
          <a:bodyPr lIns="0" tIns="0" rIns="0" bIns="0">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Sustituir la escala manual por un procedimiento de calibración.</a:t>
            </a:r>
          </a:p>
        </p:txBody>
      </p:sp>
      <p:sp>
        <p:nvSpPr>
          <p:cNvPr id="4" name="Afianzar los umbrales me">
            <a:extLst>
              <a:ext uri="{FF2B5EF4-FFF2-40B4-BE49-F238E27FC236}">
                <a16:creationId xmlns:a16="http://schemas.microsoft.com/office/drawing/2014/main" id="{F8EFDC9C-8F05-4AE7-A9AC-67E13483D833}"/>
              </a:ext>
            </a:extLst>
          </p:cNvPr>
          <p:cNvSpPr>
            <a:spLocks noGrp="1"/>
          </p:cNvSpPr>
          <p:nvPr/>
        </p:nvSpPr>
        <p:spPr>
          <a:xfrm>
            <a:off x="619125" y="2600325"/>
            <a:ext cx="10858500" cy="857250"/>
          </a:xfrm>
          <a:prstGeom prst="rect">
            <a:avLst/>
          </a:prstGeom>
          <a:noFill/>
          <a:ln w="0">
            <a:noFill/>
            <a:prstDash val="solid"/>
          </a:ln>
        </p:spPr>
        <p:txBody>
          <a:bodyPr lIns="0" tIns="0" rIns="0" bIns="0">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Afianzar los umbrales mediante ensayos en condiciones reales.</a:t>
            </a:r>
          </a:p>
        </p:txBody>
      </p:sp>
      <p:sp>
        <p:nvSpPr>
          <p:cNvPr id="5" name="Explorar varias cámaras ">
            <a:extLst>
              <a:ext uri="{FF2B5EF4-FFF2-40B4-BE49-F238E27FC236}">
                <a16:creationId xmlns:a16="http://schemas.microsoft.com/office/drawing/2014/main" id="{FBBF531F-16AC-4099-AC2D-236DB902787F}"/>
              </a:ext>
            </a:extLst>
          </p:cNvPr>
          <p:cNvSpPr>
            <a:spLocks noGrp="1"/>
          </p:cNvSpPr>
          <p:nvPr/>
        </p:nvSpPr>
        <p:spPr>
          <a:xfrm>
            <a:off x="619125" y="3629025"/>
            <a:ext cx="10858500" cy="857250"/>
          </a:xfrm>
          <a:prstGeom prst="rect">
            <a:avLst/>
          </a:prstGeom>
          <a:noFill/>
          <a:ln w="0">
            <a:noFill/>
            <a:prstDash val="solid"/>
          </a:ln>
        </p:spPr>
        <p:txBody>
          <a:bodyPr lIns="0" tIns="0" rIns="0" bIns="0">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Explorar varias cámaras para estimar distancia.</a:t>
            </a:r>
          </a:p>
        </p:txBody>
      </p:sp>
      <p:sp>
        <p:nvSpPr>
          <p:cNvPr id="6" name="Seguir puntos visuales d">
            <a:extLst>
              <a:ext uri="{FF2B5EF4-FFF2-40B4-BE49-F238E27FC236}">
                <a16:creationId xmlns:a16="http://schemas.microsoft.com/office/drawing/2014/main" id="{6E5BC73D-650D-4D9B-84B9-326DA557E937}"/>
              </a:ext>
            </a:extLst>
          </p:cNvPr>
          <p:cNvSpPr>
            <a:spLocks noGrp="1"/>
          </p:cNvSpPr>
          <p:nvPr/>
        </p:nvSpPr>
        <p:spPr>
          <a:xfrm>
            <a:off x="619125" y="4657725"/>
            <a:ext cx="10858500" cy="857250"/>
          </a:xfrm>
          <a:prstGeom prst="rect">
            <a:avLst/>
          </a:prstGeom>
          <a:noFill/>
          <a:ln w="0">
            <a:noFill/>
            <a:prstDash val="solid"/>
          </a:ln>
        </p:spPr>
        <p:txBody>
          <a:bodyPr lIns="0" tIns="0" rIns="0" bIns="0">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Seguir puntos visuales dentro de la caja para estudiar escala y rotación.</a:t>
            </a:r>
          </a:p>
        </p:txBody>
      </p:sp>
      <p:pic>
        <p:nvPicPr>
          <p:cNvPr id="9" name="Imagen 8">
            <a:extLst>
              <a:ext uri="{FF2B5EF4-FFF2-40B4-BE49-F238E27FC236}">
                <a16:creationId xmlns:a16="http://schemas.microsoft.com/office/drawing/2014/main" id="{94010997-71C7-4748-A40F-35B02798139A}"/>
              </a:ext>
            </a:extLst>
          </p:cNvPr>
          <p:cNvPicPr>
            <a:picLocks noChangeAspect="1"/>
          </p:cNvPicPr>
          <p:nvPr/>
        </p:nvPicPr>
        <p:blipFill rotWithShape="1">
          <a:blip r:embed="rId3"/>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732434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Ideas clave para comprender ">
            <a:extLst>
              <a:ext uri="{FF2B5EF4-FFF2-40B4-BE49-F238E27FC236}">
                <a16:creationId xmlns:a16="http://schemas.microsoft.com/office/drawing/2014/main" id="{707F4EFB-666D-4C48-B81E-46675C39714F}"/>
              </a:ext>
            </a:extLst>
          </p:cNvPr>
          <p:cNvSpPr>
            <a:spLocks noGrp="1"/>
          </p:cNvSpPr>
          <p:nvPr/>
        </p:nvSpPr>
        <p:spPr>
          <a:xfrm>
            <a:off x="523875" y="381000"/>
            <a:ext cx="11144250" cy="952500"/>
          </a:xfrm>
          <a:prstGeom prst="rect">
            <a:avLst/>
          </a:prstGeom>
          <a:noFill/>
          <a:ln w="0">
            <a:noFill/>
            <a:prstDash val="solid"/>
          </a:ln>
        </p:spPr>
        <p:txBody>
          <a:bodyPr lIns="0" tIns="0" rIns="0" bIns="0" anchor="t">
            <a:noAutofit/>
          </a:bodyPr>
          <a:lstStyle>
            <a:defPPr>
              <a:defRPr sz="3225" b="1">
                <a:solidFill>
                  <a:srgbClr val="102A43"/>
                </a:solidFill>
                <a:latin typeface="DejaVu Sans"/>
                <a:ea typeface="DejaVu Sans"/>
                <a:cs typeface="DejaVu Sans"/>
              </a:defRPr>
            </a:defPPr>
            <a:lvl1pPr>
              <a:buNone/>
              <a:defRPr sz="3225" b="1">
                <a:solidFill>
                  <a:srgbClr val="102A43"/>
                </a:solidFill>
                <a:latin typeface="DejaVu Sans"/>
                <a:ea typeface="DejaVu Sans"/>
                <a:cs typeface="DejaVu Sans"/>
              </a:defRPr>
            </a:lvl1pPr>
            <a:lvl2pPr>
              <a:buNone/>
              <a:defRPr sz="3225" b="1">
                <a:solidFill>
                  <a:srgbClr val="102A43"/>
                </a:solidFill>
                <a:latin typeface="DejaVu Sans"/>
                <a:ea typeface="DejaVu Sans"/>
                <a:cs typeface="DejaVu Sans"/>
              </a:defRPr>
            </a:lvl2pPr>
            <a:lvl3pPr>
              <a:buNone/>
              <a:defRPr sz="3225" b="1">
                <a:solidFill>
                  <a:srgbClr val="102A43"/>
                </a:solidFill>
                <a:latin typeface="DejaVu Sans"/>
                <a:ea typeface="DejaVu Sans"/>
                <a:cs typeface="DejaVu Sans"/>
              </a:defRPr>
            </a:lvl3pPr>
            <a:lvl4pPr>
              <a:buNone/>
              <a:defRPr sz="3225" b="1">
                <a:solidFill>
                  <a:srgbClr val="102A43"/>
                </a:solidFill>
                <a:latin typeface="DejaVu Sans"/>
                <a:ea typeface="DejaVu Sans"/>
                <a:cs typeface="DejaVu Sans"/>
              </a:defRPr>
            </a:lvl4pPr>
            <a:lvl5pPr>
              <a:buNone/>
              <a:defRPr sz="3225" b="1">
                <a:solidFill>
                  <a:srgbClr val="102A43"/>
                </a:solidFill>
                <a:latin typeface="DejaVu Sans"/>
                <a:ea typeface="DejaVu Sans"/>
                <a:cs typeface="DejaVu Sans"/>
              </a:defRPr>
            </a:lvl5pPr>
            <a:lvl6pPr>
              <a:buNone/>
              <a:defRPr sz="3225" b="1">
                <a:solidFill>
                  <a:srgbClr val="102A43"/>
                </a:solidFill>
                <a:latin typeface="DejaVu Sans"/>
                <a:ea typeface="DejaVu Sans"/>
                <a:cs typeface="DejaVu Sans"/>
              </a:defRPr>
            </a:lvl6pPr>
            <a:lvl7pPr>
              <a:buNone/>
              <a:defRPr sz="3225" b="1">
                <a:solidFill>
                  <a:srgbClr val="102A43"/>
                </a:solidFill>
                <a:latin typeface="DejaVu Sans"/>
                <a:ea typeface="DejaVu Sans"/>
                <a:cs typeface="DejaVu Sans"/>
              </a:defRPr>
            </a:lvl7pPr>
            <a:lvl8pPr>
              <a:buNone/>
              <a:defRPr sz="3225" b="1">
                <a:solidFill>
                  <a:srgbClr val="102A43"/>
                </a:solidFill>
                <a:latin typeface="DejaVu Sans"/>
                <a:ea typeface="DejaVu Sans"/>
                <a:cs typeface="DejaVu Sans"/>
              </a:defRPr>
            </a:lvl8pPr>
            <a:lvl9pPr>
              <a:buNone/>
              <a:defRPr sz="3225" b="1">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3225" b="1">
                <a:solidFill>
                  <a:srgbClr val="102A43"/>
                </a:solidFill>
                <a:latin typeface="DejaVu Sans"/>
                <a:ea typeface="DejaVu Sans"/>
                <a:cs typeface="DejaVu Sans"/>
              </a:defRPr>
            </a:pPr>
            <a:r>
              <a:rPr sz="3225" b="1" i="0" u="none" strike="noStrike" cap="none" spc="0" baseline="0">
                <a:ln>
                  <a:noFill/>
                </a:ln>
                <a:solidFill>
                  <a:srgbClr val="102A43"/>
                </a:solidFill>
                <a:latin typeface="Arial" panose="020B0604020202020204" pitchFamily="34" charset="0"/>
                <a:cs typeface="Arial" panose="020B0604020202020204" pitchFamily="34" charset="0"/>
              </a:rPr>
              <a:t>Conclusiones</a:t>
            </a:r>
          </a:p>
        </p:txBody>
      </p:sp>
      <p:sp>
        <p:nvSpPr>
          <p:cNvPr id="2" name="31">
            <a:extLst>
              <a:ext uri="{FF2B5EF4-FFF2-40B4-BE49-F238E27FC236}">
                <a16:creationId xmlns:a16="http://schemas.microsoft.com/office/drawing/2014/main" id="{F4A3194F-FBCB-4D4B-A536-ADB8BC314A87}"/>
              </a:ext>
            </a:extLst>
          </p:cNvPr>
          <p:cNvSpPr>
            <a:spLocks noGrp="1"/>
          </p:cNvSpPr>
          <p:nvPr/>
        </p:nvSpPr>
        <p:spPr>
          <a:xfrm>
            <a:off x="11144250" y="6438900"/>
            <a:ext cx="523875" cy="228600"/>
          </a:xfrm>
          <a:prstGeom prst="rect">
            <a:avLst/>
          </a:prstGeom>
          <a:noFill/>
          <a:ln w="0">
            <a:noFill/>
            <a:prstDash val="solid"/>
          </a:ln>
        </p:spPr>
        <p:txBody>
          <a:bodyPr lIns="0" tIns="0" rIns="0" bIns="0" anchor="t">
            <a:noAutofit/>
          </a:bodyPr>
          <a:lstStyle>
            <a:defPPr>
              <a:defRPr sz="1200" b="0">
                <a:solidFill>
                  <a:srgbClr val="52616B"/>
                </a:solidFill>
                <a:latin typeface="DejaVu Sans"/>
                <a:ea typeface="DejaVu Sans"/>
                <a:cs typeface="DejaVu Sans"/>
              </a:defRPr>
            </a:defPPr>
            <a:lvl1pPr>
              <a:buNone/>
              <a:defRPr sz="1200" b="0">
                <a:solidFill>
                  <a:srgbClr val="52616B"/>
                </a:solidFill>
                <a:latin typeface="DejaVu Sans"/>
                <a:ea typeface="DejaVu Sans"/>
                <a:cs typeface="DejaVu Sans"/>
              </a:defRPr>
            </a:lvl1pPr>
            <a:lvl2pPr>
              <a:buNone/>
              <a:defRPr sz="1200" b="0">
                <a:solidFill>
                  <a:srgbClr val="52616B"/>
                </a:solidFill>
                <a:latin typeface="DejaVu Sans"/>
                <a:ea typeface="DejaVu Sans"/>
                <a:cs typeface="DejaVu Sans"/>
              </a:defRPr>
            </a:lvl2pPr>
            <a:lvl3pPr>
              <a:buNone/>
              <a:defRPr sz="1200" b="0">
                <a:solidFill>
                  <a:srgbClr val="52616B"/>
                </a:solidFill>
                <a:latin typeface="DejaVu Sans"/>
                <a:ea typeface="DejaVu Sans"/>
                <a:cs typeface="DejaVu Sans"/>
              </a:defRPr>
            </a:lvl3pPr>
            <a:lvl4pPr>
              <a:buNone/>
              <a:defRPr sz="1200" b="0">
                <a:solidFill>
                  <a:srgbClr val="52616B"/>
                </a:solidFill>
                <a:latin typeface="DejaVu Sans"/>
                <a:ea typeface="DejaVu Sans"/>
                <a:cs typeface="DejaVu Sans"/>
              </a:defRPr>
            </a:lvl4pPr>
            <a:lvl5pPr>
              <a:buNone/>
              <a:defRPr sz="1200" b="0">
                <a:solidFill>
                  <a:srgbClr val="52616B"/>
                </a:solidFill>
                <a:latin typeface="DejaVu Sans"/>
                <a:ea typeface="DejaVu Sans"/>
                <a:cs typeface="DejaVu Sans"/>
              </a:defRPr>
            </a:lvl5pPr>
            <a:lvl6pPr>
              <a:buNone/>
              <a:defRPr sz="1200" b="0">
                <a:solidFill>
                  <a:srgbClr val="52616B"/>
                </a:solidFill>
                <a:latin typeface="DejaVu Sans"/>
                <a:ea typeface="DejaVu Sans"/>
                <a:cs typeface="DejaVu Sans"/>
              </a:defRPr>
            </a:lvl6pPr>
            <a:lvl7pPr>
              <a:buNone/>
              <a:defRPr sz="1200" b="0">
                <a:solidFill>
                  <a:srgbClr val="52616B"/>
                </a:solidFill>
                <a:latin typeface="DejaVu Sans"/>
                <a:ea typeface="DejaVu Sans"/>
                <a:cs typeface="DejaVu Sans"/>
              </a:defRPr>
            </a:lvl7pPr>
            <a:lvl8pPr>
              <a:buNone/>
              <a:defRPr sz="1200" b="0">
                <a:solidFill>
                  <a:srgbClr val="52616B"/>
                </a:solidFill>
                <a:latin typeface="DejaVu Sans"/>
                <a:ea typeface="DejaVu Sans"/>
                <a:cs typeface="DejaVu Sans"/>
              </a:defRPr>
            </a:lvl8pPr>
            <a:lvl9pPr>
              <a:buNone/>
              <a:defRPr sz="1200" b="0">
                <a:solidFill>
                  <a:srgbClr val="52616B"/>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1200" b="0">
                <a:solidFill>
                  <a:srgbClr val="52616B"/>
                </a:solidFill>
                <a:latin typeface="DejaVu Sans"/>
                <a:ea typeface="DejaVu Sans"/>
                <a:cs typeface="DejaVu Sans"/>
              </a:defRPr>
            </a:pPr>
            <a:r>
              <a:rPr sz="1200" b="0" i="0" u="none" strike="noStrike" cap="none" spc="0" baseline="0">
                <a:ln>
                  <a:noFill/>
                </a:ln>
                <a:solidFill>
                  <a:srgbClr val="52616B"/>
                </a:solidFill>
                <a:latin typeface="Arial" panose="020B0604020202020204" pitchFamily="34" charset="0"/>
                <a:cs typeface="Arial" panose="020B0604020202020204" pitchFamily="34" charset="0"/>
              </a:rPr>
              <a:t>17</a:t>
            </a:r>
          </a:p>
        </p:txBody>
      </p:sp>
      <p:sp>
        <p:nvSpPr>
          <p:cNvPr id="3" name="YOLO encuentra objetos y Byt">
            <a:extLst>
              <a:ext uri="{FF2B5EF4-FFF2-40B4-BE49-F238E27FC236}">
                <a16:creationId xmlns:a16="http://schemas.microsoft.com/office/drawing/2014/main" id="{9B41E148-E361-44C4-9557-C280B068B991}"/>
              </a:ext>
            </a:extLst>
          </p:cNvPr>
          <p:cNvSpPr>
            <a:spLocks noGrp="1"/>
          </p:cNvSpPr>
          <p:nvPr/>
        </p:nvSpPr>
        <p:spPr>
          <a:xfrm>
            <a:off x="619125" y="15716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El proyecto combina un detector preentrenado con seguimiento y geometría clásica.</a:t>
            </a:r>
          </a:p>
        </p:txBody>
      </p:sp>
      <p:sp>
        <p:nvSpPr>
          <p:cNvPr id="4" name="El historial convierte imáge">
            <a:extLst>
              <a:ext uri="{FF2B5EF4-FFF2-40B4-BE49-F238E27FC236}">
                <a16:creationId xmlns:a16="http://schemas.microsoft.com/office/drawing/2014/main" id="{CE60D898-C5DA-4E16-8B7C-61DFE46B7B14}"/>
              </a:ext>
            </a:extLst>
          </p:cNvPr>
          <p:cNvSpPr>
            <a:spLocks noGrp="1"/>
          </p:cNvSpPr>
          <p:nvPr/>
        </p:nvSpPr>
        <p:spPr>
          <a:xfrm>
            <a:off x="619125" y="26003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El historial permite estimar movimiento lateral y cambio de tamaño aparente.</a:t>
            </a:r>
          </a:p>
        </p:txBody>
      </p:sp>
      <p:sp>
        <p:nvSpPr>
          <p:cNvPr id="5" name="La expansión aparente permit">
            <a:extLst>
              <a:ext uri="{FF2B5EF4-FFF2-40B4-BE49-F238E27FC236}">
                <a16:creationId xmlns:a16="http://schemas.microsoft.com/office/drawing/2014/main" id="{ADCFC516-DF52-44E5-8B4D-DF7A9F3CE394}"/>
              </a:ext>
            </a:extLst>
          </p:cNvPr>
          <p:cNvSpPr>
            <a:spLocks noGrp="1"/>
          </p:cNvSpPr>
          <p:nvPr/>
        </p:nvSpPr>
        <p:spPr>
          <a:xfrm>
            <a:off x="619125" y="36290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La alerta visual conecta la percepción con una posible decisión robótica.</a:t>
            </a:r>
          </a:p>
        </p:txBody>
      </p:sp>
      <p:sp>
        <p:nvSpPr>
          <p:cNvPr id="6" name="El resultado final es una de">
            <a:extLst>
              <a:ext uri="{FF2B5EF4-FFF2-40B4-BE49-F238E27FC236}">
                <a16:creationId xmlns:a16="http://schemas.microsoft.com/office/drawing/2014/main" id="{E939223A-07FB-4988-8A75-BDB5960FCC18}"/>
              </a:ext>
            </a:extLst>
          </p:cNvPr>
          <p:cNvSpPr>
            <a:spLocks noGrp="1"/>
          </p:cNvSpPr>
          <p:nvPr/>
        </p:nvSpPr>
        <p:spPr>
          <a:xfrm>
            <a:off x="619125" y="4657725"/>
            <a:ext cx="10858500" cy="895350"/>
          </a:xfrm>
          <a:prstGeom prst="rect">
            <a:avLst/>
          </a:prstGeom>
          <a:noFill/>
          <a:ln w="0">
            <a:noFill/>
            <a:prstDash val="solid"/>
          </a:ln>
        </p:spPr>
        <p:txBody>
          <a:bodyPr lIns="0" tIns="0" rIns="0" bIns="0" anchor="t">
            <a:noAutofit/>
          </a:bodyPr>
          <a:lstStyle>
            <a:defPPr>
              <a:defRPr sz="2175" b="0">
                <a:solidFill>
                  <a:srgbClr val="102A43"/>
                </a:solidFill>
                <a:latin typeface="DejaVu Sans"/>
                <a:ea typeface="DejaVu Sans"/>
                <a:cs typeface="DejaVu Sans"/>
              </a:defRPr>
            </a:defPPr>
            <a:lvl1pPr>
              <a:buNone/>
              <a:defRPr sz="2175" b="0">
                <a:solidFill>
                  <a:srgbClr val="102A43"/>
                </a:solidFill>
                <a:latin typeface="DejaVu Sans"/>
                <a:ea typeface="DejaVu Sans"/>
                <a:cs typeface="DejaVu Sans"/>
              </a:defRPr>
            </a:lvl1pPr>
            <a:lvl2pPr>
              <a:buNone/>
              <a:defRPr sz="2175" b="0">
                <a:solidFill>
                  <a:srgbClr val="102A43"/>
                </a:solidFill>
                <a:latin typeface="DejaVu Sans"/>
                <a:ea typeface="DejaVu Sans"/>
                <a:cs typeface="DejaVu Sans"/>
              </a:defRPr>
            </a:lvl2pPr>
            <a:lvl3pPr>
              <a:buNone/>
              <a:defRPr sz="2175" b="0">
                <a:solidFill>
                  <a:srgbClr val="102A43"/>
                </a:solidFill>
                <a:latin typeface="DejaVu Sans"/>
                <a:ea typeface="DejaVu Sans"/>
                <a:cs typeface="DejaVu Sans"/>
              </a:defRPr>
            </a:lvl3pPr>
            <a:lvl4pPr>
              <a:buNone/>
              <a:defRPr sz="2175" b="0">
                <a:solidFill>
                  <a:srgbClr val="102A43"/>
                </a:solidFill>
                <a:latin typeface="DejaVu Sans"/>
                <a:ea typeface="DejaVu Sans"/>
                <a:cs typeface="DejaVu Sans"/>
              </a:defRPr>
            </a:lvl4pPr>
            <a:lvl5pPr>
              <a:buNone/>
              <a:defRPr sz="2175" b="0">
                <a:solidFill>
                  <a:srgbClr val="102A43"/>
                </a:solidFill>
                <a:latin typeface="DejaVu Sans"/>
                <a:ea typeface="DejaVu Sans"/>
                <a:cs typeface="DejaVu Sans"/>
              </a:defRPr>
            </a:lvl5pPr>
            <a:lvl6pPr>
              <a:buNone/>
              <a:defRPr sz="2175" b="0">
                <a:solidFill>
                  <a:srgbClr val="102A43"/>
                </a:solidFill>
                <a:latin typeface="DejaVu Sans"/>
                <a:ea typeface="DejaVu Sans"/>
                <a:cs typeface="DejaVu Sans"/>
              </a:defRPr>
            </a:lvl6pPr>
            <a:lvl7pPr>
              <a:buNone/>
              <a:defRPr sz="2175" b="0">
                <a:solidFill>
                  <a:srgbClr val="102A43"/>
                </a:solidFill>
                <a:latin typeface="DejaVu Sans"/>
                <a:ea typeface="DejaVu Sans"/>
                <a:cs typeface="DejaVu Sans"/>
              </a:defRPr>
            </a:lvl7pPr>
            <a:lvl8pPr>
              <a:buNone/>
              <a:defRPr sz="2175" b="0">
                <a:solidFill>
                  <a:srgbClr val="102A43"/>
                </a:solidFill>
                <a:latin typeface="DejaVu Sans"/>
                <a:ea typeface="DejaVu Sans"/>
                <a:cs typeface="DejaVu Sans"/>
              </a:defRPr>
            </a:lvl8pPr>
            <a:lvl9pPr>
              <a:buNone/>
              <a:defRPr sz="2175" b="0">
                <a:solidFill>
                  <a:srgbClr val="102A43"/>
                </a:solidFill>
                <a:latin typeface="DejaVu Sans"/>
                <a:ea typeface="DejaVu Sans"/>
                <a:cs typeface="DejaVu Sans"/>
              </a:defRPr>
            </a:lvl9pPr>
          </a:lstStyle>
          <a:p>
            <a:pPr marL="0" marR="0" lvl="0" indent="0" algn="l" defTabSz="914400">
              <a:lnSpc>
                <a:spcPct val="100000"/>
              </a:lnSpc>
              <a:spcBef>
                <a:spcPts val="0"/>
              </a:spcBef>
              <a:spcAft>
                <a:spcPts val="0"/>
              </a:spcAft>
              <a:buClrTx/>
              <a:buSzTx/>
              <a:buFontTx/>
              <a:buNone/>
              <a:defRPr sz="2175" b="0">
                <a:solidFill>
                  <a:srgbClr val="102A43"/>
                </a:solidFill>
                <a:latin typeface="DejaVu Sans"/>
                <a:ea typeface="DejaVu Sans"/>
                <a:cs typeface="DejaVu Sans"/>
              </a:defRPr>
            </a:pPr>
            <a:r>
              <a:rPr sz="2175" b="0" i="0" u="none" strike="noStrike" cap="none" spc="0" baseline="0">
                <a:ln>
                  <a:noFill/>
                </a:ln>
                <a:solidFill>
                  <a:srgbClr val="102A43"/>
                </a:solidFill>
                <a:latin typeface="Arial" panose="020B0604020202020204" pitchFamily="34" charset="0"/>
                <a:cs typeface="Arial" panose="020B0604020202020204" pitchFamily="34" charset="0"/>
              </a:rPr>
              <a:t>El resultado es una prueba de concepto con límites de rendimiento y robustez.</a:t>
            </a:r>
          </a:p>
        </p:txBody>
      </p:sp>
      <p:pic>
        <p:nvPicPr>
          <p:cNvPr id="9" name="Imagen 8">
            <a:extLst>
              <a:ext uri="{FF2B5EF4-FFF2-40B4-BE49-F238E27FC236}">
                <a16:creationId xmlns:a16="http://schemas.microsoft.com/office/drawing/2014/main" id="{76B7003C-6259-44DB-BCDF-ABC335924932}"/>
              </a:ext>
            </a:extLst>
          </p:cNvPr>
          <p:cNvPicPr>
            <a:picLocks noChangeAspect="1"/>
          </p:cNvPicPr>
          <p:nvPr/>
        </p:nvPicPr>
        <p:blipFill rotWithShape="1">
          <a:blip r:embed="rId3"/>
          <a:srcRect t="19758" b="26210"/>
          <a:stretch>
            <a:fillRect/>
          </a:stretch>
        </p:blipFill>
        <p:spPr>
          <a:xfrm>
            <a:off x="10398919" y="0"/>
            <a:ext cx="1795462" cy="485533"/>
          </a:xfrm>
          <a:prstGeom prst="rect">
            <a:avLst/>
          </a:prstGeom>
          <a:ln>
            <a:noFill/>
          </a:ln>
        </p:spPr>
      </p:pic>
    </p:spTree>
    <p:extLst>
      <p:ext uri="{BB962C8B-B14F-4D97-AF65-F5344CB8AC3E}">
        <p14:creationId xmlns:p14="http://schemas.microsoft.com/office/powerpoint/2010/main" val="19754031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4173</Words>
  <Application>Microsoft Office PowerPoint</Application>
  <DocSecurity>0</DocSecurity>
  <PresentationFormat>Panorámica</PresentationFormat>
  <Paragraphs>296</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Aptos</vt:lpstr>
      <vt:lpstr>Arial</vt:lpstr>
      <vt:lpstr>DejaVu Sans</vt:lpstr>
      <vt:lpstr>DejaVu Sans Mono</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juan david velasquez bran</cp:lastModifiedBy>
  <cp:revision>1</cp:revision>
  <dcterms:created xsi:type="dcterms:W3CDTF">2026-10-18T19:08:55Z</dcterms:created>
  <dcterms:modified xsi:type="dcterms:W3CDTF">2026-10-18T19:22:44Z</dcterms:modified>
</cp:coreProperties>
</file>